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Default Extension="fntdata" ContentType="application/x-fontdata"/>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embeddedFontLst>
    <p:embeddedFont>
      <p:font typeface="Golos Text" panose="020B0503020202020204" pitchFamily="34" charset="0"/>
      <p:regular r:id="rId24"/>
      <p:bold r:id="rId25"/>
    </p:embeddedFont>
    <p:embeddedFont>
      <p:font typeface="JetBrains Mono" panose="02000009000000000000" pitchFamily="49" charset="0"/>
      <p:regular r:id="rId26"/>
      <p:bold r:id="rId27"/>
    </p:embeddedFont>
    <p:embeddedFont>
      <p:font typeface="Inter Tight" pitchFamily="34" charset="0"/>
      <p:regular r:id="rId28"/>
      <p:bold r:id="rId29"/>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font" Target="fonts/font1.fntdata"/><Relationship Id="rId25" Type="http://schemas.openxmlformats.org/officeDocument/2006/relationships/font" Target="fonts/font2.fntdata"/><Relationship Id="rId26" Type="http://schemas.openxmlformats.org/officeDocument/2006/relationships/font" Target="fonts/font3.fntdata"/><Relationship Id="rId27" Type="http://schemas.openxmlformats.org/officeDocument/2006/relationships/font" Target="fonts/font4.fntdata"/><Relationship Id="rId28" Type="http://schemas.openxmlformats.org/officeDocument/2006/relationships/font" Target="fonts/font5.fntdata"/><Relationship Id="rId29" Type="http://schemas.openxmlformats.org/officeDocument/2006/relationships/font" Target="fonts/font6.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секунд. Здравствуйте, мы команда «ветмо»: Алексей Юзьков и Антон Буданов. Наш проект — Lectio, веб-сервис для смыслового поиска по видеолекциям.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секунд. Лекций в видео всё больше: записи пар, онлайн-курсы, YouTube — это уже обычный способ учиться, особенно перед экзаменами. Но инструменты работы с видео остались на уровне перемотки. Нет оглавления — непонятно, где нужная тема. Нет поиска — Ctrl+F по видео не работает, а даже если есть субтитры, лектор мог сказать то же самое совсем другими словами, чем ищет студент. В итоге студент тратит время на пересмотр вместо учёбы.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секунд. Сценарий для пользователя — три шага. Загрузил лекцию файлом или ссылкой — на сайте или просто отправил ссылку нашему Telegram-боту.Дальше всё происходит само: расшифровка, субтитры, конспект с оглавлением. И потом по лекции можно искать своими словами: Lectio находит фрагмент по смыслу, показывает таймкод, и клик открывает видео ровно на этой секунде.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Техническая реализация, всего минута на этот и следующий слайд. Архитектура: браузер на React общается с API на FastAPI. Второй вход — Telegram-бот на aiogram: он ставит лекции в ту же очередь и ищет по тому же индексу, что и сайт. API проверяет загрузку сразу — есть ли звук, доступна ли ссылка — и ставит задачу в очередь в Redis, а пользователю отвечает мгновенно. Тяжёлую работу делает отдельный воркер: скачивает видео, извлекает звук, расшифровывает Whisper, считает векторы BGE-M3 и пишет конспект локальной моделью Qwen3. Результаты ложатся в PostgreSQL — и векторы, и полнотекстовый индекс в одной базе, — а видео уезжает в MinIO и отдаётся браузеру по подписанной ссылке. Воркер обрабатывает одну лекцию за раз и выгружает модели между этапами, поэтому всё помещается в 6 гигабайт видеопамяти. И одно видео обрабатывается один раз: ссылки на то же видео в любой форме и одинаковые файлы распознаются, и пользователю предлагают открыть готовую лекцию.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Алгоритмы. Первое: Whisper отдаёт таймкод каждого слова, из слов мы собираем короткие реплики — это точные субтитры. Второе: расшифровка режется на фрагменты около 40 секунд с перекрытием, многоязычная модель BGE-M3 превращает каждый в вектор смысла. Третье, главное: гибридный поиск. Векторный находит перефразировки, полнотекстовый с русской морфологией — точные термины, а результаты сливаются методом Reciprocal Rank Fusion, без ручного подбора весов. Четвёртое: конспект делается по частям — модель читает лекцию кусками и сводит в общий конспект с оглавлением, таймкоды разделов привязываются к реальным фрагментам. Весь стек открытый, языковая модель локальная. Качество держим тестами: 55 автотестов на pytest, в основном интеграционные — они гоняют API, воркер и бота на настоящих Postgres с pgvector, Redis и MinIO, а не на заглушках; заменены только нейросети, чтобы тесты шли за секунды. Плюс линтер ruff и строгая проверка типов basedpyright на бэкенде, TypeScript на фронте.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секунд, живой показ строго по пунктам ТЗ, слева их порядок. 1 — в «Загрузить» → «Ссылка» вставить короткую ссылку youtu.be на лекцию, которая уже есть в библиотеке: Lectio узнаёт то же видео в любой форме ссылки и предлагает открыть готовую вместо повторной обработки — нажать «Открыть лекцию». Новую ссылку не импортировать: скачивание с YouTube зависит от сети, на защите оно может зависнуть. 2 — открыть готовую лекцию, вкладка «Расшифровка»: текст с таймкодами. 3 — поиск в шапке, запрос «как учиться с помощью нейросетей»: первой находится английская лекция; кликнуть результат — видео открывается на этой секунде. 4 — в плеере субтитры поверх видео; кликнуть реплику в «Сейчас говорит» — перемотка. 5 — вкладки «Конспект» и «Оглавление», клик по разделу — переход. Если останется время: страница «Термины» в шапке — энциклопедия по всем лекциям, ввести «катет» и кликнуть ссылку на момент; вопрос-подсказка в чате, ответ с источником; или в Telegram у @lectiohackathon_bot написать вопрос со знаком «?» — ответ придёт со ссылками на моменты видео. Если что-то не грузится — показывать по скриншотам на этом слайде и в приложении.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Сразу после демо, коротко: всё, что вы только что видели, — это пять обязательных пунктов ТЗ.Все пять обязательных пунктов закрыты полностью. Из дополнительных фишек ТЗ сделаны поиск по курсу, чат по лекции, ключевые термины — у каждой лекции и общей энциклопедией по всем лекциям, — импорт по ссылке и личный кабинет — организатор подтвердил, что он засчитывается. Офлайн-режим тоже есть: расшифровка, поиск и языковая модель работают локально, шрифты и формулы лежат в сборке фронта — сайт полностью работает без интернета. Интернет нужен только для импорта по ссылке с YouTube и для Telegram-бота. Сверх ТЗ: Telegram-бот, тест по лекции со статистикой для преподавателя, обсуждение, геймификация, хранилище видео в MinIO и проверка дублей — одно видео обрабатывается один раз.</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секунд. Чем мы лучше того, что есть. Субтитры YouTube ищут только точные слова и только внутри одного видео, а Lectio ищет по смыслу и по всем лекциям курса сразу, даже на другом языке. Облачные AI-сервисы отправляют лекции и вопросы на чужие серверы и работают по подписке, а Lectio целиком работает у вуза. Обычная запись в LMS — это просто видео, а у нас оглавление, конспект, тест и статистика по группе появляются автоматически. Практическая ценность: студент находит нужную минуту за секунды вместо пересмотра, преподаватель видит, какие темы группа не поняла. Цифры — наш замер на GTX 1660 Super 2019 года с 6 гигабайтами: лекция на 1 час 25 минут обрабатывается целиком за 14 минут. Расшифровка — 5 минут, в 17 раз быстрее реального времени, индексация — 40 секунд, то есть искать можно уже через 6 минут; остальное время локальная модель пишет конспект.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секунд, коротко. Итог: у нас рабочий прототип, который закрывает все пункты ТЗ и работает локально на обычном компьютере. Дальше — интеграция с Moodle и вузовскими LMS, чтобы лекции курса и оценки за тесты подтягивались сами. Режим для сервера без видеокарты: облачная расшифровка и более сильная модель для конспектов, по выбору вуза. Импорт целого плейлиста или канала. Интервальные повторения на основе вопросов, где студент ошибся в тесте. Распознавание формул с доски, чтобы по ним тоже искать. И экспорт конспекта в Markdown и Obsidian.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Спасибо за внимание, готовы ответить на вопросы. Код — в репозитории github.com/anxi0uz/lectio. Если жюри попросит подробности, после этого слайда идёт приложение со скриншотами каждой функции.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Это приложение, в пятиминутное выступление не входит. Открывать, если жюри спросит про конкретную функцию или если живое демо не загрузится.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Главная фича по ТЗ — поиск по смыслу. Мы используем гибрид: векторный поиск по эмбеддингам BGE-M3 находит перефразировки, полнотекстовый поиск Postgres с русской морфологией находит точные термины и формулы. Результаты сливаются методом RRF, без ручного подбора весов. Модель многоязычная, поэтому на скриншоте запрос «как учиться с помощью нейросетей» первым находит английскую лекцию How I Use AI to Learn Things. Искать можно по всем лекциям, по курсу или внутри одной лекции, каждый результат — таймкод и ссылка на момент видео.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Свой плеер вместо стандартного. Субтитры из расшифровки идут поверх видео синхронно. Справа блок «Сейчас говорит» и бегущая расшифровка: клик по любой реплике перематывает видео. На шкале отмечены главы и личные закладки, есть горячие клавиши и ползунок громкости. Кнопка «Поделиться моментом» даёт ссылку, которая открывает видео ровно на нужной секунде. Позиция просмотра запоминается.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Конспект делает языковая модель: лекция обрабатывается по частям, потом части сводятся в общий конспект и оглавление — разделы и подразделы с таймкодами. Таймкоды мы «примагничиваем» к реальным началам фрагментов, чтобы клик по разделу попадал точно. Формулы рендерятся через KaTeX. Отдельно выделяются ключевые термины с определением и моментом, где их впервые объяснили. Из терминов всех лекций собирается общая энциклопедия: страница «Термины», где каждое понятие — с определениями из всех лекций, где его объясняли, и ссылкой на момент. Она обновляется сама, как только у лекции появляется конспект. Если модель недоступна, лекция всё равно ищется и смотрится — конспект best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Чат по лекции — это RAG. Вопрос сначала идёт в тот же гибридный поиск, шесть лучших фрагментов попадают в промпт, и модель отвечает только по ним, ставя номер источника после каждого утверждения. Под ответом — источники с таймкодом, названием раздела и цитатой; клик перематывает видео. Ответ стримится через SSE, поэтому печатается сразу. Если фрагменты на другом языке, модель переводит смысл. Подсказки-вопросы у каждой лекции свои: модель составляет их по конспекту.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Тест по лекции — дополнительная фича сверх ТЗ. Преподаватель нажимает одну кнопку, модель составляет шесть вопросов с вариантами по разным частям лекции. Сервер сам перемешивает варианты и отбрасывает вопросы, где правильный ответ выдаёт себя длиной. Студент после каждого ответа видит пояснение и ссылку на момент, где это объясняли. Результат сохраняется. Преподаватель на вкладке «Статистика» видит, сколько человек выбрали каждый вариант: на скриншоте видно, что на третий вопрос выбрали «Ромб» — значит, эту часть стоит объяснить ещё раз.</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Личный кабинет организатор подтвердил как засчитываемую фичу. Есть роли: преподаватель создаёт курсы и лекции, студент записывается и учится. Сохраняется позиция просмотра, на главной — «продолжить просмотр». Заметки на таймкодах, избранное, история поиска. Под лекцией — обсуждение, комментарий можно привязать к моменту видео, преподаватель модерирует. И геймификация: очки за просмотренные лекции, тесты и участие, уровни, одиннадцать достижений и рейтинг студентов.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AFAF7"/>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78520"/>
            <a:ext cx="10566400" cy="480020"/>
          </a:xfrm>
          <a:prstGeom prst="rect">
            <a:avLst/>
          </a:prstGeom>
          <a:noFill/>
          <a:ln/>
        </p:spPr>
        <p:txBody>
          <a:bodyPr wrap="square" lIns="0" tIns="0" rIns="0" bIns="0" rtlCol="0" anchor="t"/>
          <a:lstStyle>
            <a:lvl1pPr algn="l" indent="0" marL="0">
              <a:lnSpc>
                <a:spcPct val="115000"/>
              </a:lnSpc>
              <a:buNone/>
              <a:defRPr lang="en-US" sz="3600" dirty="0">
                <a:solidFill>
                  <a:srgbClr val="0F0F12"/>
                </a:solidFill>
                <a:latin typeface="Inter Tight" pitchFamily="34" charset="0"/>
                <a:ea typeface="Inter Tight" pitchFamily="34" charset="-122"/>
                <a:cs typeface="Inter Tight"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1963341"/>
            <a:ext cx="10566400" cy="4081859"/>
          </a:xfrm>
          <a:prstGeom prst="rect">
            <a:avLst/>
          </a:prstGeom>
          <a:noFill/>
          <a:ln/>
        </p:spPr>
        <p:txBody>
          <a:bodyPr wrap="square" lIns="0" tIns="0" rIns="0" bIns="0" rtlCol="0" anchor="t"/>
          <a:lstStyle>
            <a:lvl1pPr algn="l" indent="0" marL="0">
              <a:lnSpc>
                <a:spcPct val="140000"/>
              </a:lnSpc>
              <a:buNone/>
              <a:defRPr lang="en-US" sz="1600" dirty="0">
                <a:solidFill>
                  <a:srgbClr val="0F0F12"/>
                </a:solidFill>
                <a:latin typeface="Golos Text" pitchFamily="34" charset="0"/>
                <a:ea typeface="Golos Text" pitchFamily="34" charset="-122"/>
                <a:cs typeface="Golos Text"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AFAF7"/>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78520"/>
            <a:ext cx="10566400" cy="480020"/>
          </a:xfrm>
          <a:prstGeom prst="rect">
            <a:avLst/>
          </a:prstGeom>
          <a:noFill/>
          <a:ln/>
        </p:spPr>
        <p:txBody>
          <a:bodyPr wrap="square" lIns="0" tIns="0" rIns="0" bIns="0" rtlCol="0" anchor="t"/>
          <a:lstStyle>
            <a:lvl1pPr algn="l" indent="0" marL="0">
              <a:lnSpc>
                <a:spcPct val="115000"/>
              </a:lnSpc>
              <a:buNone/>
              <a:defRPr lang="en-US" sz="3600" dirty="0">
                <a:solidFill>
                  <a:srgbClr val="0F0F12"/>
                </a:solidFill>
                <a:latin typeface="Inter Tight" pitchFamily="34" charset="0"/>
                <a:ea typeface="Inter Tight" pitchFamily="34" charset="-122"/>
                <a:cs typeface="Inter Tight"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1963341"/>
            <a:ext cx="10566400" cy="4081859"/>
          </a:xfrm>
          <a:prstGeom prst="rect">
            <a:avLst/>
          </a:prstGeom>
          <a:noFill/>
          <a:ln/>
        </p:spPr>
        <p:txBody>
          <a:bodyPr wrap="square" lIns="0" tIns="0" rIns="0" bIns="0" rtlCol="0" anchor="t"/>
          <a:lstStyle>
            <a:lvl1pPr algn="l" indent="0" marL="0">
              <a:lnSpc>
                <a:spcPct val="140000"/>
              </a:lnSpc>
              <a:buNone/>
              <a:defRPr lang="en-US" sz="1600" dirty="0">
                <a:solidFill>
                  <a:srgbClr val="0F0F12"/>
                </a:solidFill>
                <a:latin typeface="Golos Text" pitchFamily="34" charset="0"/>
                <a:ea typeface="Golos Text" pitchFamily="34" charset="-122"/>
                <a:cs typeface="Golos Text"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2.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2.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github.com/anxi0uz/lectio" TargetMode="Externa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p:bgPr>
    </p:bg>
    <p:spTree>
      <p:nvGrpSpPr>
        <p:cNvPr id="1" name=""/>
        <p:cNvGrpSpPr/>
        <p:nvPr/>
      </p:nvGrpSpPr>
      <p:grpSpPr>
        <a:xfrm>
          <a:off x="0" y="0"/>
          <a:ext cx="0" cy="0"/>
          <a:chOff x="0" y="0"/>
          <a:chExt cx="0" cy="0"/>
        </a:xfrm>
      </p:grpSpPr>
      <p:sp>
        <p:nvSpPr>
          <p:cNvPr id="2" name="Shape 0"/>
          <p:cNvSpPr/>
          <p:nvPr/>
        </p:nvSpPr>
        <p:spPr>
          <a:xfrm>
            <a:off x="0" y="0"/>
            <a:ext cx="12192000" cy="152400"/>
          </a:xfrm>
          <a:prstGeom prst="rect">
            <a:avLst/>
          </a:prstGeom>
          <a:solidFill>
            <a:srgbClr val="2B2BFF"/>
          </a:solidFill>
          <a:ln/>
        </p:spPr>
      </p:sp>
      <p:sp>
        <p:nvSpPr>
          <p:cNvPr id="3" name="Text 1"/>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2B2BFF"/>
                </a:solidFill>
                <a:latin typeface="JetBrains Mono" pitchFamily="49" charset="0"/>
                <a:ea typeface="JetBrains Mono" pitchFamily="49" charset="-122"/>
                <a:cs typeface="JetBrains Mono" pitchFamily="49" charset="-120"/>
              </a:rPr>
              <a:t>КИБЕРРЫВОК 2026 · КЕЙС ФЦПТ СПБГМТУ</a:t>
            </a:r>
            <a:endParaRPr lang="en-US" sz="1200" dirty="0"/>
          </a:p>
        </p:txBody>
      </p:sp>
      <p:sp>
        <p:nvSpPr>
          <p:cNvPr id="4" name="Text 2"/>
          <p:cNvSpPr/>
          <p:nvPr>
            <p:ph type="title"/>
          </p:nvPr>
        </p:nvSpPr>
        <p:spPr>
          <a:xfrm>
            <a:off x="812800" y="1738809"/>
            <a:ext cx="10883392" cy="1473200"/>
          </a:xfrm>
          <a:prstGeom prst="rect">
            <a:avLst/>
          </a:prstGeom>
          <a:noFill/>
          <a:ln/>
        </p:spPr>
        <p:txBody>
          <a:bodyPr wrap="square" lIns="0" tIns="0" rIns="0" bIns="0" rtlCol="0" anchor="t">
            <a:normAutofit/>
          </a:bodyPr>
          <a:lstStyle/>
          <a:p>
            <a:pPr algn="l" indent="0" marL="0">
              <a:lnSpc>
                <a:spcPts val="11400"/>
              </a:lnSpc>
              <a:buNone/>
            </a:pPr>
            <a:r>
              <a:rPr lang="en-US" sz="12000" b="1" i="0" spc="-500" kern="0" dirty="0">
                <a:solidFill>
                  <a:srgbClr val="0F0F12"/>
                </a:solidFill>
                <a:latin typeface="Inter Tight" pitchFamily="34" charset="0"/>
                <a:ea typeface="Inter Tight" pitchFamily="34" charset="-122"/>
                <a:cs typeface="Inter Tight" pitchFamily="34" charset="-120"/>
              </a:rPr>
              <a:t>lectio</a:t>
            </a:r>
            <a:r>
              <a:rPr lang="en-US" sz="12000" b="1" i="0" spc="-500" kern="0" dirty="0">
                <a:solidFill>
                  <a:srgbClr val="2B2BFF"/>
                </a:solidFill>
                <a:latin typeface="Inter Tight" pitchFamily="34" charset="0"/>
                <a:ea typeface="Inter Tight" pitchFamily="34" charset="-122"/>
                <a:cs typeface="Inter Tight" pitchFamily="34" charset="-120"/>
              </a:rPr>
              <a:t>.</a:t>
            </a:r>
            <a:endParaRPr lang="en-US" sz="12000" dirty="0"/>
          </a:p>
        </p:txBody>
      </p:sp>
      <p:sp>
        <p:nvSpPr>
          <p:cNvPr id="5" name="Text 3"/>
          <p:cNvSpPr/>
          <p:nvPr/>
        </p:nvSpPr>
        <p:spPr>
          <a:xfrm>
            <a:off x="812800" y="3440609"/>
            <a:ext cx="8502650" cy="878681"/>
          </a:xfrm>
          <a:prstGeom prst="rect">
            <a:avLst/>
          </a:prstGeom>
          <a:noFill/>
          <a:ln/>
        </p:spPr>
        <p:txBody>
          <a:bodyPr wrap="square" lIns="0" tIns="0" rIns="0" bIns="0" rtlCol="0" anchor="t">
            <a:normAutofit/>
          </a:bodyPr>
          <a:lstStyle/>
          <a:p>
            <a:pPr algn="l" indent="0" marL="0">
              <a:lnSpc>
                <a:spcPts val="3360"/>
              </a:lnSpc>
              <a:buNone/>
            </a:pPr>
            <a:r>
              <a:rPr lang="en-US" sz="2800" dirty="0">
                <a:solidFill>
                  <a:srgbClr val="0F0F12"/>
                </a:solidFill>
                <a:latin typeface="Golos Text" pitchFamily="34" charset="0"/>
                <a:ea typeface="Golos Text" pitchFamily="34" charset="-122"/>
                <a:cs typeface="Golos Text" pitchFamily="34" charset="-120"/>
              </a:rPr>
              <a:t>Смысловой поиск по видеолекциям — найти нужную минуту, а не пересматривать час</a:t>
            </a:r>
            <a:endParaRPr lang="en-US" sz="2800" dirty="0"/>
          </a:p>
        </p:txBody>
      </p:sp>
      <p:sp>
        <p:nvSpPr>
          <p:cNvPr id="6" name="Shape 4"/>
          <p:cNvSpPr/>
          <p:nvPr/>
        </p:nvSpPr>
        <p:spPr>
          <a:xfrm>
            <a:off x="812800" y="5012829"/>
            <a:ext cx="10566400" cy="0"/>
          </a:xfrm>
          <a:prstGeom prst="line">
            <a:avLst/>
          </a:prstGeom>
          <a:noFill/>
          <a:ln w="12700">
            <a:solidFill>
              <a:srgbClr val="0F0F12"/>
            </a:solidFill>
            <a:prstDash val="solid"/>
          </a:ln>
        </p:spPr>
      </p:sp>
      <p:sp>
        <p:nvSpPr>
          <p:cNvPr id="7" name="Text 5"/>
          <p:cNvSpPr/>
          <p:nvPr/>
        </p:nvSpPr>
        <p:spPr>
          <a:xfrm>
            <a:off x="812800" y="5222379"/>
            <a:ext cx="5202866" cy="345380"/>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0F0F12"/>
                </a:solidFill>
                <a:latin typeface="Inter Tight" pitchFamily="34" charset="0"/>
                <a:ea typeface="Inter Tight" pitchFamily="34" charset="-122"/>
                <a:cs typeface="Inter Tight" pitchFamily="34" charset="-120"/>
              </a:rPr>
              <a:t>Команда «ветмо»</a:t>
            </a:r>
            <a:endParaRPr lang="en-US" sz="1800" dirty="0"/>
          </a:p>
        </p:txBody>
      </p:sp>
      <p:sp>
        <p:nvSpPr>
          <p:cNvPr id="8" name="Text 6"/>
          <p:cNvSpPr/>
          <p:nvPr/>
        </p:nvSpPr>
        <p:spPr>
          <a:xfrm>
            <a:off x="812800" y="5593159"/>
            <a:ext cx="6061591"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4A50"/>
                </a:solidFill>
                <a:latin typeface="Golos Text" pitchFamily="34" charset="0"/>
                <a:ea typeface="Golos Text" pitchFamily="34" charset="-122"/>
                <a:cs typeface="Golos Text" pitchFamily="34" charset="-120"/>
              </a:rPr>
              <a:t>Юзьков Алексей Андреевич · Буданов Антон Геннадьевич</a:t>
            </a:r>
            <a:endParaRPr lang="en-US" sz="1400" dirty="0"/>
          </a:p>
        </p:txBody>
      </p:sp>
      <p:sp>
        <p:nvSpPr>
          <p:cNvPr id="9" name="Text 7"/>
          <p:cNvSpPr/>
          <p:nvPr/>
        </p:nvSpPr>
        <p:spPr>
          <a:xfrm>
            <a:off x="10281920" y="5628680"/>
            <a:ext cx="109728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4A4A50"/>
                </a:solidFill>
                <a:latin typeface="JetBrains Mono" pitchFamily="49" charset="0"/>
                <a:ea typeface="JetBrains Mono" pitchFamily="49" charset="-122"/>
                <a:cs typeface="JetBrains Mono" pitchFamily="49" charset="-120"/>
              </a:rPr>
              <a:t>28.10.2026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2B2BFF"/>
                </a:solidFill>
                <a:latin typeface="JetBrains Mono" pitchFamily="49" charset="0"/>
                <a:ea typeface="JetBrains Mono" pitchFamily="49" charset="-122"/>
                <a:cs typeface="JetBrains Mono" pitchFamily="49" charset="-120"/>
              </a:rPr>
              <a:t>ПРОБЛЕМА И АКТУАЛЬНОСТЬ</a:t>
            </a:r>
            <a:endParaRPr lang="en-US" sz="1200" dirty="0"/>
          </a:p>
        </p:txBody>
      </p:sp>
      <p:sp>
        <p:nvSpPr>
          <p:cNvPr id="3" name="Text 1"/>
          <p:cNvSpPr/>
          <p:nvPr>
            <p:ph type="title"/>
          </p:nvPr>
        </p:nvSpPr>
        <p:spPr>
          <a:xfrm>
            <a:off x="812800" y="1178520"/>
            <a:ext cx="9810750" cy="985441"/>
          </a:xfrm>
          <a:prstGeom prst="rect">
            <a:avLst/>
          </a:prstGeom>
          <a:noFill/>
          <a:ln/>
        </p:spPr>
        <p:txBody>
          <a:bodyPr wrap="square" lIns="0" tIns="0" rIns="0" bIns="0" rtlCol="0" anchor="t">
            <a:normAutofit/>
          </a:bodyPr>
          <a:lstStyle/>
          <a:p>
            <a:pPr algn="l" indent="0" marL="0">
              <a:lnSpc>
                <a:spcPts val="3780"/>
              </a:lnSpc>
              <a:buNone/>
            </a:pPr>
            <a:r>
              <a:rPr lang="en-US" sz="3600" b="1" i="0" spc="-150" kern="0" dirty="0">
                <a:solidFill>
                  <a:srgbClr val="0F0F12"/>
                </a:solidFill>
                <a:latin typeface="Inter Tight" pitchFamily="34" charset="0"/>
                <a:ea typeface="Inter Tight" pitchFamily="34" charset="-122"/>
                <a:cs typeface="Inter Tight" pitchFamily="34" charset="-120"/>
              </a:rPr>
              <a:t>Видеолекция — самый неудобный формат, чтобы найти ответ</a:t>
            </a:r>
            <a:endParaRPr lang="en-US" sz="3600" dirty="0"/>
          </a:p>
        </p:txBody>
      </p:sp>
      <p:sp>
        <p:nvSpPr>
          <p:cNvPr id="4" name="Shape 2"/>
          <p:cNvSpPr/>
          <p:nvPr/>
        </p:nvSpPr>
        <p:spPr>
          <a:xfrm>
            <a:off x="812800" y="2452886"/>
            <a:ext cx="3318867" cy="0"/>
          </a:xfrm>
          <a:prstGeom prst="line">
            <a:avLst/>
          </a:prstGeom>
          <a:noFill/>
          <a:ln w="19050">
            <a:solidFill>
              <a:srgbClr val="0F0F12"/>
            </a:solidFill>
            <a:prstDash val="solid"/>
          </a:ln>
        </p:spPr>
      </p:sp>
      <p:sp>
        <p:nvSpPr>
          <p:cNvPr id="5" name="Text 3"/>
          <p:cNvSpPr/>
          <p:nvPr/>
        </p:nvSpPr>
        <p:spPr>
          <a:xfrm>
            <a:off x="812800" y="2640211"/>
            <a:ext cx="3418433" cy="346670"/>
          </a:xfrm>
          <a:prstGeom prst="rect">
            <a:avLst/>
          </a:prstGeom>
          <a:noFill/>
          <a:ln/>
        </p:spPr>
        <p:txBody>
          <a:bodyPr wrap="square" lIns="0" tIns="0" rIns="0" bIns="0" rtlCol="0" anchor="t">
            <a:normAutofit/>
          </a:bodyPr>
          <a:lstStyle/>
          <a:p>
            <a:pPr algn="l" indent="0" marL="0">
              <a:lnSpc>
                <a:spcPts val="2530"/>
              </a:lnSpc>
              <a:buNone/>
            </a:pPr>
            <a:r>
              <a:rPr lang="en-US" sz="2200" b="1" spc="-50" kern="0" dirty="0">
                <a:solidFill>
                  <a:srgbClr val="0F0F12"/>
                </a:solidFill>
                <a:latin typeface="Inter Tight" pitchFamily="34" charset="0"/>
                <a:ea typeface="Inter Tight" pitchFamily="34" charset="-122"/>
                <a:cs typeface="Inter Tight" pitchFamily="34" charset="-120"/>
              </a:rPr>
              <a:t>Нет оглавления</a:t>
            </a:r>
            <a:endParaRPr lang="en-US" sz="2200" dirty="0"/>
          </a:p>
        </p:txBody>
      </p:sp>
      <p:sp>
        <p:nvSpPr>
          <p:cNvPr id="6" name="Text 4"/>
          <p:cNvSpPr/>
          <p:nvPr/>
        </p:nvSpPr>
        <p:spPr>
          <a:xfrm>
            <a:off x="812800" y="3063081"/>
            <a:ext cx="3418433"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4A50"/>
                </a:solidFill>
                <a:latin typeface="Golos Text" pitchFamily="34" charset="0"/>
                <a:ea typeface="Golos Text" pitchFamily="34" charset="-122"/>
                <a:cs typeface="Golos Text" pitchFamily="34" charset="-120"/>
              </a:rPr>
              <a:t>Полтора часа сплошного видео. Где нужная тема — непонятно.</a:t>
            </a:r>
            <a:endParaRPr lang="en-US" sz="1500" dirty="0"/>
          </a:p>
        </p:txBody>
      </p:sp>
      <p:sp>
        <p:nvSpPr>
          <p:cNvPr id="7" name="Shape 5"/>
          <p:cNvSpPr/>
          <p:nvPr/>
        </p:nvSpPr>
        <p:spPr>
          <a:xfrm>
            <a:off x="4436467" y="2452886"/>
            <a:ext cx="3318966" cy="0"/>
          </a:xfrm>
          <a:prstGeom prst="line">
            <a:avLst/>
          </a:prstGeom>
          <a:noFill/>
          <a:ln w="19050">
            <a:solidFill>
              <a:srgbClr val="0F0F12"/>
            </a:solidFill>
            <a:prstDash val="solid"/>
          </a:ln>
        </p:spPr>
      </p:sp>
      <p:sp>
        <p:nvSpPr>
          <p:cNvPr id="8" name="Text 6"/>
          <p:cNvSpPr/>
          <p:nvPr/>
        </p:nvSpPr>
        <p:spPr>
          <a:xfrm>
            <a:off x="4436467" y="2640211"/>
            <a:ext cx="3418535" cy="346670"/>
          </a:xfrm>
          <a:prstGeom prst="rect">
            <a:avLst/>
          </a:prstGeom>
          <a:noFill/>
          <a:ln/>
        </p:spPr>
        <p:txBody>
          <a:bodyPr wrap="square" lIns="0" tIns="0" rIns="0" bIns="0" rtlCol="0" anchor="t">
            <a:normAutofit/>
          </a:bodyPr>
          <a:lstStyle/>
          <a:p>
            <a:pPr algn="l" indent="0" marL="0">
              <a:lnSpc>
                <a:spcPts val="2530"/>
              </a:lnSpc>
              <a:buNone/>
            </a:pPr>
            <a:r>
              <a:rPr lang="en-US" sz="2200" b="1" spc="-50" kern="0" dirty="0">
                <a:solidFill>
                  <a:srgbClr val="0F0F12"/>
                </a:solidFill>
                <a:latin typeface="Inter Tight" pitchFamily="34" charset="0"/>
                <a:ea typeface="Inter Tight" pitchFamily="34" charset="-122"/>
                <a:cs typeface="Inter Tight" pitchFamily="34" charset="-120"/>
              </a:rPr>
              <a:t>Ctrl+F не работает</a:t>
            </a:r>
            <a:endParaRPr lang="en-US" sz="2200" dirty="0"/>
          </a:p>
        </p:txBody>
      </p:sp>
      <p:sp>
        <p:nvSpPr>
          <p:cNvPr id="9" name="Text 7"/>
          <p:cNvSpPr/>
          <p:nvPr/>
        </p:nvSpPr>
        <p:spPr>
          <a:xfrm>
            <a:off x="4436467" y="3063081"/>
            <a:ext cx="3418535"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4A50"/>
                </a:solidFill>
                <a:latin typeface="Golos Text" pitchFamily="34" charset="0"/>
                <a:ea typeface="Golos Text" pitchFamily="34" charset="-122"/>
                <a:cs typeface="Golos Text" pitchFamily="34" charset="-120"/>
              </a:rPr>
              <a:t>По видео не поищешь. А лектор мог сказать это другими словами.</a:t>
            </a:r>
            <a:endParaRPr lang="en-US" sz="1500" dirty="0"/>
          </a:p>
        </p:txBody>
      </p:sp>
      <p:sp>
        <p:nvSpPr>
          <p:cNvPr id="10" name="Shape 8"/>
          <p:cNvSpPr/>
          <p:nvPr/>
        </p:nvSpPr>
        <p:spPr>
          <a:xfrm>
            <a:off x="8060234" y="2452886"/>
            <a:ext cx="3318966" cy="0"/>
          </a:xfrm>
          <a:prstGeom prst="line">
            <a:avLst/>
          </a:prstGeom>
          <a:noFill/>
          <a:ln w="19050">
            <a:solidFill>
              <a:srgbClr val="0F0F12"/>
            </a:solidFill>
            <a:prstDash val="solid"/>
          </a:ln>
        </p:spPr>
      </p:sp>
      <p:sp>
        <p:nvSpPr>
          <p:cNvPr id="11" name="Text 9"/>
          <p:cNvSpPr/>
          <p:nvPr/>
        </p:nvSpPr>
        <p:spPr>
          <a:xfrm>
            <a:off x="8060234" y="2640211"/>
            <a:ext cx="3418535" cy="346670"/>
          </a:xfrm>
          <a:prstGeom prst="rect">
            <a:avLst/>
          </a:prstGeom>
          <a:noFill/>
          <a:ln/>
        </p:spPr>
        <p:txBody>
          <a:bodyPr wrap="square" lIns="0" tIns="0" rIns="0" bIns="0" rtlCol="0" anchor="t">
            <a:normAutofit/>
          </a:bodyPr>
          <a:lstStyle/>
          <a:p>
            <a:pPr algn="l" indent="0" marL="0">
              <a:lnSpc>
                <a:spcPts val="2530"/>
              </a:lnSpc>
              <a:buNone/>
            </a:pPr>
            <a:r>
              <a:rPr lang="en-US" sz="2200" b="1" spc="-50" kern="0" dirty="0">
                <a:solidFill>
                  <a:srgbClr val="0F0F12"/>
                </a:solidFill>
                <a:latin typeface="Inter Tight" pitchFamily="34" charset="0"/>
                <a:ea typeface="Inter Tight" pitchFamily="34" charset="-122"/>
                <a:cs typeface="Inter Tight" pitchFamily="34" charset="-120"/>
              </a:rPr>
              <a:t>Часы впустую</a:t>
            </a:r>
            <a:endParaRPr lang="en-US" sz="2200" dirty="0"/>
          </a:p>
        </p:txBody>
      </p:sp>
      <p:sp>
        <p:nvSpPr>
          <p:cNvPr id="12" name="Text 10"/>
          <p:cNvSpPr/>
          <p:nvPr/>
        </p:nvSpPr>
        <p:spPr>
          <a:xfrm>
            <a:off x="8060234" y="3063081"/>
            <a:ext cx="3418535"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4A50"/>
                </a:solidFill>
                <a:latin typeface="Golos Text" pitchFamily="34" charset="0"/>
                <a:ea typeface="Golos Text" pitchFamily="34" charset="-122"/>
                <a:cs typeface="Golos Text" pitchFamily="34" charset="-120"/>
              </a:rPr>
              <a:t>Перемотка и пересмотр ради одной формулы или определения.</a:t>
            </a:r>
            <a:endParaRPr lang="en-US" sz="1500" dirty="0"/>
          </a:p>
        </p:txBody>
      </p:sp>
      <p:sp>
        <p:nvSpPr>
          <p:cNvPr id="13" name="Shape 11"/>
          <p:cNvSpPr/>
          <p:nvPr/>
        </p:nvSpPr>
        <p:spPr>
          <a:xfrm>
            <a:off x="812800" y="3901281"/>
            <a:ext cx="10566400" cy="920750"/>
          </a:xfrm>
          <a:prstGeom prst="rect">
            <a:avLst/>
          </a:prstGeom>
          <a:solidFill>
            <a:srgbClr val="2B2BFF"/>
          </a:solidFill>
          <a:ln/>
        </p:spPr>
      </p:sp>
      <p:sp>
        <p:nvSpPr>
          <p:cNvPr id="14" name="Text 12"/>
          <p:cNvSpPr/>
          <p:nvPr/>
        </p:nvSpPr>
        <p:spPr>
          <a:xfrm>
            <a:off x="1066800" y="4254996"/>
            <a:ext cx="1095375" cy="238720"/>
          </a:xfrm>
          <a:prstGeom prst="rect">
            <a:avLst/>
          </a:prstGeom>
          <a:noFill/>
          <a:ln/>
        </p:spPr>
        <p:txBody>
          <a:bodyPr wrap="none" lIns="0" tIns="0" rIns="0" bIns="0" rtlCol="0" anchor="t">
            <a:normAutofit/>
          </a:bodyPr>
          <a:lstStyle/>
          <a:p>
            <a:pPr algn="l" indent="0" marL="0">
              <a:lnSpc>
                <a:spcPts val="1680"/>
              </a:lnSpc>
              <a:buNone/>
            </a:pPr>
            <a:r>
              <a:rPr lang="en-US" sz="1200" spc="150" kern="0" dirty="0">
                <a:solidFill>
                  <a:srgbClr val="FAFAF7"/>
                </a:solidFill>
                <a:latin typeface="JetBrains Mono" pitchFamily="49" charset="0"/>
                <a:ea typeface="JetBrains Mono" pitchFamily="49" charset="-122"/>
                <a:cs typeface="JetBrains Mono" pitchFamily="49" charset="-120"/>
              </a:rPr>
              <a:t>ПОЧЕМУ СЕЙЧАС</a:t>
            </a:r>
            <a:endParaRPr lang="en-US" sz="1200" dirty="0"/>
          </a:p>
        </p:txBody>
      </p:sp>
      <p:sp>
        <p:nvSpPr>
          <p:cNvPr id="15" name="Text 13"/>
          <p:cNvSpPr/>
          <p:nvPr/>
        </p:nvSpPr>
        <p:spPr>
          <a:xfrm>
            <a:off x="2314575" y="4104481"/>
            <a:ext cx="9074944"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FAFAF7"/>
                </a:solidFill>
                <a:latin typeface="Golos Text" pitchFamily="34" charset="0"/>
                <a:ea typeface="Golos Text" pitchFamily="34" charset="-122"/>
                <a:cs typeface="Golos Text" pitchFamily="34" charset="-120"/>
              </a:rPr>
              <a:t>Записи пар, онлайн-курсы и лекции на YouTube стали обычным способом учиться, а работать с ними можно только перемоткой.</a:t>
            </a:r>
            <a:endParaRPr lang="en-US" sz="1500" dirty="0"/>
          </a:p>
        </p:txBody>
      </p:sp>
      <p:sp>
        <p:nvSpPr>
          <p:cNvPr id="16" name="Text 14"/>
          <p:cNvSpPr/>
          <p:nvPr/>
        </p:nvSpPr>
        <p:spPr>
          <a:xfrm>
            <a:off x="812800" y="6238280"/>
            <a:ext cx="2999303"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6B6B70"/>
                </a:solidFill>
                <a:latin typeface="JetBrains Mono" pitchFamily="49" charset="0"/>
                <a:ea typeface="JetBrains Mono" pitchFamily="49" charset="-122"/>
                <a:cs typeface="JetBrains Mono" pitchFamily="49" charset="-120"/>
              </a:rPr>
              <a:t>LECTIO · КИБЕРРЫВОК 2026</a:t>
            </a:r>
            <a:endParaRPr lang="en-US" sz="1200" dirty="0"/>
          </a:p>
        </p:txBody>
      </p:sp>
      <p:sp>
        <p:nvSpPr>
          <p:cNvPr id="17" name="Text 15"/>
          <p:cNvSpPr/>
          <p:nvPr/>
        </p:nvSpPr>
        <p:spPr>
          <a:xfrm>
            <a:off x="11145441" y="6238280"/>
            <a:ext cx="233759"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B70"/>
                </a:solidFill>
                <a:latin typeface="JetBrains Mono" pitchFamily="49" charset="0"/>
                <a:ea typeface="JetBrains Mono" pitchFamily="49" charset="-122"/>
                <a:cs typeface="JetBrains Mono" pitchFamily="49" charset="-120"/>
              </a:rPr>
              <a:t>02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B2BF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FAFAF7"/>
                </a:solidFill>
                <a:latin typeface="JetBrains Mono" pitchFamily="49" charset="0"/>
                <a:ea typeface="JetBrains Mono" pitchFamily="49" charset="-122"/>
                <a:cs typeface="JetBrains Mono" pitchFamily="49" charset="-120"/>
              </a:rPr>
              <a:t>РЕШЕНИЕ</a:t>
            </a:r>
            <a:endParaRPr lang="en-US" sz="1200" dirty="0"/>
          </a:p>
        </p:txBody>
      </p:sp>
      <p:sp>
        <p:nvSpPr>
          <p:cNvPr id="3" name="Text 1"/>
          <p:cNvSpPr/>
          <p:nvPr>
            <p:ph type="title"/>
          </p:nvPr>
        </p:nvSpPr>
        <p:spPr>
          <a:xfrm>
            <a:off x="812800" y="1178520"/>
            <a:ext cx="10137775" cy="1092200"/>
          </a:xfrm>
          <a:prstGeom prst="rect">
            <a:avLst/>
          </a:prstGeom>
          <a:noFill/>
          <a:ln/>
        </p:spPr>
        <p:txBody>
          <a:bodyPr wrap="square" lIns="0" tIns="0" rIns="0" bIns="0" rtlCol="0" anchor="t">
            <a:normAutofit/>
          </a:bodyPr>
          <a:lstStyle/>
          <a:p>
            <a:pPr algn="l" indent="0" marL="0">
              <a:lnSpc>
                <a:spcPts val="4200"/>
              </a:lnSpc>
              <a:buNone/>
            </a:pPr>
            <a:r>
              <a:rPr lang="en-US" sz="4000" b="1" i="0" spc="-150" kern="0" dirty="0">
                <a:solidFill>
                  <a:srgbClr val="FAFAF7"/>
                </a:solidFill>
                <a:latin typeface="Inter Tight" pitchFamily="34" charset="0"/>
                <a:ea typeface="Inter Tight" pitchFamily="34" charset="-122"/>
                <a:cs typeface="Inter Tight" pitchFamily="34" charset="-120"/>
              </a:rPr>
              <a:t>Lectio превращает видео в текст, по которому можно искать по смыслу</a:t>
            </a:r>
            <a:endParaRPr lang="en-US" sz="4000" dirty="0"/>
          </a:p>
        </p:txBody>
      </p:sp>
      <p:sp>
        <p:nvSpPr>
          <p:cNvPr id="4" name="Shape 2"/>
          <p:cNvSpPr/>
          <p:nvPr/>
        </p:nvSpPr>
        <p:spPr>
          <a:xfrm>
            <a:off x="812800" y="2661245"/>
            <a:ext cx="3318867" cy="0"/>
          </a:xfrm>
          <a:prstGeom prst="line">
            <a:avLst/>
          </a:prstGeom>
          <a:noFill/>
          <a:ln w="19050">
            <a:solidFill>
              <a:srgbClr val="FAFAF7"/>
            </a:solidFill>
            <a:prstDash val="solid"/>
          </a:ln>
        </p:spPr>
      </p:sp>
      <p:sp>
        <p:nvSpPr>
          <p:cNvPr id="5" name="Text 3"/>
          <p:cNvSpPr/>
          <p:nvPr/>
        </p:nvSpPr>
        <p:spPr>
          <a:xfrm>
            <a:off x="812800" y="2873970"/>
            <a:ext cx="3418433" cy="635000"/>
          </a:xfrm>
          <a:prstGeom prst="rect">
            <a:avLst/>
          </a:prstGeom>
          <a:noFill/>
          <a:ln/>
        </p:spPr>
        <p:txBody>
          <a:bodyPr wrap="square" lIns="0" tIns="0" rIns="0" bIns="0" rtlCol="0" anchor="t">
            <a:normAutofit/>
          </a:bodyPr>
          <a:lstStyle/>
          <a:p>
            <a:pPr algn="l" indent="0" marL="0">
              <a:lnSpc>
                <a:spcPts val="4800"/>
              </a:lnSpc>
              <a:buNone/>
            </a:pPr>
            <a:r>
              <a:rPr lang="en-US" sz="4800" b="1" spc="-200" kern="0" dirty="0">
                <a:solidFill>
                  <a:srgbClr val="FAFAF7"/>
                </a:solidFill>
                <a:latin typeface="Inter Tight" pitchFamily="34" charset="0"/>
                <a:ea typeface="Inter Tight" pitchFamily="34" charset="-122"/>
                <a:cs typeface="Inter Tight" pitchFamily="34" charset="-120"/>
              </a:rPr>
              <a:t>01</a:t>
            </a:r>
            <a:endParaRPr lang="en-US" sz="4800" dirty="0"/>
          </a:p>
        </p:txBody>
      </p:sp>
      <p:sp>
        <p:nvSpPr>
          <p:cNvPr id="6" name="Text 4"/>
          <p:cNvSpPr/>
          <p:nvPr/>
        </p:nvSpPr>
        <p:spPr>
          <a:xfrm>
            <a:off x="812800" y="3585170"/>
            <a:ext cx="3418433" cy="346670"/>
          </a:xfrm>
          <a:prstGeom prst="rect">
            <a:avLst/>
          </a:prstGeom>
          <a:noFill/>
          <a:ln/>
        </p:spPr>
        <p:txBody>
          <a:bodyPr wrap="square" lIns="0" tIns="0" rIns="0" bIns="0" rtlCol="0" anchor="t">
            <a:normAutofit/>
          </a:bodyPr>
          <a:lstStyle/>
          <a:p>
            <a:pPr algn="l" indent="0" marL="0">
              <a:lnSpc>
                <a:spcPts val="2530"/>
              </a:lnSpc>
              <a:buNone/>
            </a:pPr>
            <a:r>
              <a:rPr lang="en-US" sz="2200" b="1" dirty="0">
                <a:solidFill>
                  <a:srgbClr val="FAFAF7"/>
                </a:solidFill>
                <a:latin typeface="Inter Tight" pitchFamily="34" charset="0"/>
                <a:ea typeface="Inter Tight" pitchFamily="34" charset="-122"/>
                <a:cs typeface="Inter Tight" pitchFamily="34" charset="-120"/>
              </a:rPr>
              <a:t>Загрузить</a:t>
            </a:r>
            <a:endParaRPr lang="en-US" sz="2200" dirty="0"/>
          </a:p>
        </p:txBody>
      </p:sp>
      <p:sp>
        <p:nvSpPr>
          <p:cNvPr id="7" name="Text 5"/>
          <p:cNvSpPr/>
          <p:nvPr/>
        </p:nvSpPr>
        <p:spPr>
          <a:xfrm>
            <a:off x="812800" y="4008041"/>
            <a:ext cx="3418433" cy="8787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FAFAF7"/>
                </a:solidFill>
                <a:latin typeface="Golos Text" pitchFamily="34" charset="0"/>
                <a:ea typeface="Golos Text" pitchFamily="34" charset="-122"/>
                <a:cs typeface="Golos Text" pitchFamily="34" charset="-120"/>
              </a:rPr>
              <a:t>Файл или ссылку на YouTube, Vimeo — на сайте или в Telegram-боте.</a:t>
            </a:r>
            <a:endParaRPr lang="en-US" sz="1600" dirty="0"/>
          </a:p>
        </p:txBody>
      </p:sp>
      <p:sp>
        <p:nvSpPr>
          <p:cNvPr id="8" name="Shape 6"/>
          <p:cNvSpPr/>
          <p:nvPr/>
        </p:nvSpPr>
        <p:spPr>
          <a:xfrm>
            <a:off x="4436467" y="2661245"/>
            <a:ext cx="3318966" cy="0"/>
          </a:xfrm>
          <a:prstGeom prst="line">
            <a:avLst/>
          </a:prstGeom>
          <a:noFill/>
          <a:ln w="19050">
            <a:solidFill>
              <a:srgbClr val="FAFAF7"/>
            </a:solidFill>
            <a:prstDash val="solid"/>
          </a:ln>
        </p:spPr>
      </p:sp>
      <p:sp>
        <p:nvSpPr>
          <p:cNvPr id="9" name="Text 7"/>
          <p:cNvSpPr/>
          <p:nvPr/>
        </p:nvSpPr>
        <p:spPr>
          <a:xfrm>
            <a:off x="4436467" y="2873970"/>
            <a:ext cx="3418535" cy="635000"/>
          </a:xfrm>
          <a:prstGeom prst="rect">
            <a:avLst/>
          </a:prstGeom>
          <a:noFill/>
          <a:ln/>
        </p:spPr>
        <p:txBody>
          <a:bodyPr wrap="square" lIns="0" tIns="0" rIns="0" bIns="0" rtlCol="0" anchor="t">
            <a:normAutofit/>
          </a:bodyPr>
          <a:lstStyle/>
          <a:p>
            <a:pPr algn="l" indent="0" marL="0">
              <a:lnSpc>
                <a:spcPts val="4800"/>
              </a:lnSpc>
              <a:buNone/>
            </a:pPr>
            <a:r>
              <a:rPr lang="en-US" sz="4800" b="1" spc="-200" kern="0" dirty="0">
                <a:solidFill>
                  <a:srgbClr val="FAFAF7"/>
                </a:solidFill>
                <a:latin typeface="Inter Tight" pitchFamily="34" charset="0"/>
                <a:ea typeface="Inter Tight" pitchFamily="34" charset="-122"/>
                <a:cs typeface="Inter Tight" pitchFamily="34" charset="-120"/>
              </a:rPr>
              <a:t>02</a:t>
            </a:r>
            <a:endParaRPr lang="en-US" sz="4800" dirty="0"/>
          </a:p>
        </p:txBody>
      </p:sp>
      <p:sp>
        <p:nvSpPr>
          <p:cNvPr id="10" name="Text 8"/>
          <p:cNvSpPr/>
          <p:nvPr/>
        </p:nvSpPr>
        <p:spPr>
          <a:xfrm>
            <a:off x="4436467" y="3585170"/>
            <a:ext cx="3418535" cy="346670"/>
          </a:xfrm>
          <a:prstGeom prst="rect">
            <a:avLst/>
          </a:prstGeom>
          <a:noFill/>
          <a:ln/>
        </p:spPr>
        <p:txBody>
          <a:bodyPr wrap="square" lIns="0" tIns="0" rIns="0" bIns="0" rtlCol="0" anchor="t">
            <a:normAutofit/>
          </a:bodyPr>
          <a:lstStyle/>
          <a:p>
            <a:pPr algn="l" indent="0" marL="0">
              <a:lnSpc>
                <a:spcPts val="2530"/>
              </a:lnSpc>
              <a:buNone/>
            </a:pPr>
            <a:r>
              <a:rPr lang="en-US" sz="2200" b="1" dirty="0">
                <a:solidFill>
                  <a:srgbClr val="FAFAF7"/>
                </a:solidFill>
                <a:latin typeface="Inter Tight" pitchFamily="34" charset="0"/>
                <a:ea typeface="Inter Tight" pitchFamily="34" charset="-122"/>
                <a:cs typeface="Inter Tight" pitchFamily="34" charset="-120"/>
              </a:rPr>
              <a:t>Получить</a:t>
            </a:r>
            <a:endParaRPr lang="en-US" sz="2200" dirty="0"/>
          </a:p>
        </p:txBody>
      </p:sp>
      <p:sp>
        <p:nvSpPr>
          <p:cNvPr id="11" name="Text 9"/>
          <p:cNvSpPr/>
          <p:nvPr/>
        </p:nvSpPr>
        <p:spPr>
          <a:xfrm>
            <a:off x="4436467" y="4008041"/>
            <a:ext cx="3418535" cy="8787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FAFAF7"/>
                </a:solidFill>
                <a:latin typeface="Golos Text" pitchFamily="34" charset="0"/>
                <a:ea typeface="Golos Text" pitchFamily="34" charset="-122"/>
                <a:cs typeface="Golos Text" pitchFamily="34" charset="-120"/>
              </a:rPr>
              <a:t>Расшифровку, субтитры, конспект и оглавление — автоматически.</a:t>
            </a:r>
            <a:endParaRPr lang="en-US" sz="1600" dirty="0"/>
          </a:p>
        </p:txBody>
      </p:sp>
      <p:sp>
        <p:nvSpPr>
          <p:cNvPr id="12" name="Shape 10"/>
          <p:cNvSpPr/>
          <p:nvPr/>
        </p:nvSpPr>
        <p:spPr>
          <a:xfrm>
            <a:off x="8060234" y="2661245"/>
            <a:ext cx="3318966" cy="0"/>
          </a:xfrm>
          <a:prstGeom prst="line">
            <a:avLst/>
          </a:prstGeom>
          <a:noFill/>
          <a:ln w="19050">
            <a:solidFill>
              <a:srgbClr val="FAFAF7"/>
            </a:solidFill>
            <a:prstDash val="solid"/>
          </a:ln>
        </p:spPr>
      </p:sp>
      <p:sp>
        <p:nvSpPr>
          <p:cNvPr id="13" name="Text 11"/>
          <p:cNvSpPr/>
          <p:nvPr/>
        </p:nvSpPr>
        <p:spPr>
          <a:xfrm>
            <a:off x="8060234" y="2873970"/>
            <a:ext cx="3418535" cy="635000"/>
          </a:xfrm>
          <a:prstGeom prst="rect">
            <a:avLst/>
          </a:prstGeom>
          <a:noFill/>
          <a:ln/>
        </p:spPr>
        <p:txBody>
          <a:bodyPr wrap="square" lIns="0" tIns="0" rIns="0" bIns="0" rtlCol="0" anchor="t">
            <a:normAutofit/>
          </a:bodyPr>
          <a:lstStyle/>
          <a:p>
            <a:pPr algn="l" indent="0" marL="0">
              <a:lnSpc>
                <a:spcPts val="4800"/>
              </a:lnSpc>
              <a:buNone/>
            </a:pPr>
            <a:r>
              <a:rPr lang="en-US" sz="4800" b="1" spc="-200" kern="0" dirty="0">
                <a:solidFill>
                  <a:srgbClr val="FAFAF7"/>
                </a:solidFill>
                <a:latin typeface="Inter Tight" pitchFamily="34" charset="0"/>
                <a:ea typeface="Inter Tight" pitchFamily="34" charset="-122"/>
                <a:cs typeface="Inter Tight" pitchFamily="34" charset="-120"/>
              </a:rPr>
              <a:t>03</a:t>
            </a:r>
            <a:endParaRPr lang="en-US" sz="4800" dirty="0"/>
          </a:p>
        </p:txBody>
      </p:sp>
      <p:sp>
        <p:nvSpPr>
          <p:cNvPr id="14" name="Text 12"/>
          <p:cNvSpPr/>
          <p:nvPr/>
        </p:nvSpPr>
        <p:spPr>
          <a:xfrm>
            <a:off x="8060234" y="3585170"/>
            <a:ext cx="3418535" cy="346670"/>
          </a:xfrm>
          <a:prstGeom prst="rect">
            <a:avLst/>
          </a:prstGeom>
          <a:noFill/>
          <a:ln/>
        </p:spPr>
        <p:txBody>
          <a:bodyPr wrap="square" lIns="0" tIns="0" rIns="0" bIns="0" rtlCol="0" anchor="t">
            <a:normAutofit/>
          </a:bodyPr>
          <a:lstStyle/>
          <a:p>
            <a:pPr algn="l" indent="0" marL="0">
              <a:lnSpc>
                <a:spcPts val="2530"/>
              </a:lnSpc>
              <a:buNone/>
            </a:pPr>
            <a:r>
              <a:rPr lang="en-US" sz="2200" b="1" dirty="0">
                <a:solidFill>
                  <a:srgbClr val="FAFAF7"/>
                </a:solidFill>
                <a:latin typeface="Inter Tight" pitchFamily="34" charset="0"/>
                <a:ea typeface="Inter Tight" pitchFamily="34" charset="-122"/>
                <a:cs typeface="Inter Tight" pitchFamily="34" charset="-120"/>
              </a:rPr>
              <a:t>Найти</a:t>
            </a:r>
            <a:endParaRPr lang="en-US" sz="2200" dirty="0"/>
          </a:p>
        </p:txBody>
      </p:sp>
      <p:sp>
        <p:nvSpPr>
          <p:cNvPr id="15" name="Text 13"/>
          <p:cNvSpPr/>
          <p:nvPr/>
        </p:nvSpPr>
        <p:spPr>
          <a:xfrm>
            <a:off x="8060234" y="4008041"/>
            <a:ext cx="3418535" cy="8787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FAFAF7"/>
                </a:solidFill>
                <a:latin typeface="Golos Text" pitchFamily="34" charset="0"/>
                <a:ea typeface="Golos Text" pitchFamily="34" charset="-122"/>
                <a:cs typeface="Golos Text" pitchFamily="34" charset="-120"/>
              </a:rPr>
              <a:t>Вопрос своими словами — фрагмент, таймкод, сразу к нужной секунде.</a:t>
            </a:r>
            <a:endParaRPr lang="en-US" sz="1600" dirty="0"/>
          </a:p>
        </p:txBody>
      </p:sp>
      <p:sp>
        <p:nvSpPr>
          <p:cNvPr id="16" name="Text 14"/>
          <p:cNvSpPr/>
          <p:nvPr/>
        </p:nvSpPr>
        <p:spPr>
          <a:xfrm>
            <a:off x="812800" y="6238280"/>
            <a:ext cx="2999303"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FAFAF7"/>
                </a:solidFill>
                <a:latin typeface="JetBrains Mono" pitchFamily="49" charset="0"/>
                <a:ea typeface="JetBrains Mono" pitchFamily="49" charset="-122"/>
                <a:cs typeface="JetBrains Mono" pitchFamily="49" charset="-120"/>
              </a:rPr>
              <a:t>LECTIO · КИБЕРРЫВОК 2026</a:t>
            </a:r>
            <a:endParaRPr lang="en-US" sz="1200" dirty="0"/>
          </a:p>
        </p:txBody>
      </p:sp>
      <p:sp>
        <p:nvSpPr>
          <p:cNvPr id="17" name="Text 15"/>
          <p:cNvSpPr/>
          <p:nvPr/>
        </p:nvSpPr>
        <p:spPr>
          <a:xfrm>
            <a:off x="11145441" y="6238280"/>
            <a:ext cx="233759"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FAFAF7"/>
                </a:solidFill>
                <a:latin typeface="JetBrains Mono" pitchFamily="49" charset="0"/>
                <a:ea typeface="JetBrains Mono" pitchFamily="49" charset="-122"/>
                <a:cs typeface="JetBrains Mono" pitchFamily="49" charset="-120"/>
              </a:rPr>
              <a:t>03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1F1EC"/>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2B2BFF"/>
                </a:solidFill>
                <a:latin typeface="JetBrains Mono" pitchFamily="49" charset="0"/>
                <a:ea typeface="JetBrains Mono" pitchFamily="49" charset="-122"/>
                <a:cs typeface="JetBrains Mono" pitchFamily="49" charset="-120"/>
              </a:rPr>
              <a:t>ТЕХНИЧЕСКАЯ РЕАЛИЗАЦИЯ · АРХИТЕКТУРА</a:t>
            </a:r>
            <a:endParaRPr lang="en-US" sz="1200" dirty="0"/>
          </a:p>
        </p:txBody>
      </p:sp>
      <p:sp>
        <p:nvSpPr>
          <p:cNvPr id="3" name="Text 1"/>
          <p:cNvSpPr/>
          <p:nvPr>
            <p:ph type="title"/>
          </p:nvPr>
        </p:nvSpPr>
        <p:spPr>
          <a:xfrm>
            <a:off x="812800" y="1178520"/>
            <a:ext cx="10883392" cy="505420"/>
          </a:xfrm>
          <a:prstGeom prst="rect">
            <a:avLst/>
          </a:prstGeom>
          <a:noFill/>
          <a:ln/>
        </p:spPr>
        <p:txBody>
          <a:bodyPr wrap="square" lIns="0" tIns="0" rIns="0" bIns="0" rtlCol="0" anchor="t">
            <a:normAutofit/>
          </a:bodyPr>
          <a:lstStyle/>
          <a:p>
            <a:pPr algn="l" indent="0" marL="0">
              <a:lnSpc>
                <a:spcPts val="3780"/>
              </a:lnSpc>
              <a:buNone/>
            </a:pPr>
            <a:r>
              <a:rPr lang="en-US" sz="3600" b="1" i="0" spc="-150" kern="0" dirty="0">
                <a:solidFill>
                  <a:srgbClr val="0F0F12"/>
                </a:solidFill>
                <a:latin typeface="Inter Tight" pitchFamily="34" charset="0"/>
                <a:ea typeface="Inter Tight" pitchFamily="34" charset="-122"/>
                <a:cs typeface="Inter Tight" pitchFamily="34" charset="-120"/>
              </a:rPr>
              <a:t>API отвечает сразу, тяжёлое — в фоне</a:t>
            </a:r>
            <a:endParaRPr lang="en-US" sz="3600" dirty="0"/>
          </a:p>
        </p:txBody>
      </p:sp>
      <p:pic>
        <p:nvPicPr>
          <p:cNvPr id="4" name="Image 0" descr="connector">    </p:cNvPr>
          <p:cNvPicPr>
            <a:picLocks noChangeAspect="1"/>
          </p:cNvPicPr>
          <p:nvPr/>
        </p:nvPicPr>
        <p:blipFill>
          <a:blip r:embed="rId1"/>
          <a:srcRect l="0" r="0" t="0" b="0"/>
          <a:stretch/>
        </p:blipFill>
        <p:spPr>
          <a:xfrm>
            <a:off x="2667000" y="2679700"/>
            <a:ext cx="609600" cy="101600"/>
          </a:xfrm>
          <a:prstGeom prst="rect">
            <a:avLst/>
          </a:prstGeom>
        </p:spPr>
      </p:pic>
      <p:pic>
        <p:nvPicPr>
          <p:cNvPr id="5" name="Image 1" descr="connector">    </p:cNvPr>
          <p:cNvPicPr>
            <a:picLocks noChangeAspect="1"/>
          </p:cNvPicPr>
          <p:nvPr/>
        </p:nvPicPr>
        <p:blipFill>
          <a:blip r:embed="rId2"/>
          <a:srcRect l="0" r="0" t="0" b="0"/>
          <a:stretch/>
        </p:blipFill>
        <p:spPr>
          <a:xfrm>
            <a:off x="4254500" y="3124200"/>
            <a:ext cx="101600" cy="482600"/>
          </a:xfrm>
          <a:prstGeom prst="rect">
            <a:avLst/>
          </a:prstGeom>
        </p:spPr>
      </p:pic>
      <p:pic>
        <p:nvPicPr>
          <p:cNvPr id="6" name="Image 2" descr="connector">    </p:cNvPr>
          <p:cNvPicPr>
            <a:picLocks noChangeAspect="1"/>
          </p:cNvPicPr>
          <p:nvPr/>
        </p:nvPicPr>
        <p:blipFill>
          <a:blip r:embed="rId3"/>
          <a:srcRect l="0" r="0" t="0" b="0"/>
          <a:stretch/>
        </p:blipFill>
        <p:spPr>
          <a:xfrm>
            <a:off x="2667000" y="3854450"/>
            <a:ext cx="609600" cy="101600"/>
          </a:xfrm>
          <a:prstGeom prst="rect">
            <a:avLst/>
          </a:prstGeom>
        </p:spPr>
      </p:pic>
      <p:pic>
        <p:nvPicPr>
          <p:cNvPr id="7" name="Image 3" descr="connector">    </p:cNvPr>
          <p:cNvPicPr>
            <a:picLocks noChangeAspect="1"/>
          </p:cNvPicPr>
          <p:nvPr/>
        </p:nvPicPr>
        <p:blipFill>
          <a:blip r:embed="rId4"/>
          <a:srcRect l="0" r="0" t="0" b="0"/>
          <a:stretch/>
        </p:blipFill>
        <p:spPr>
          <a:xfrm>
            <a:off x="4254500" y="4203700"/>
            <a:ext cx="101600" cy="546100"/>
          </a:xfrm>
          <a:prstGeom prst="rect">
            <a:avLst/>
          </a:prstGeom>
        </p:spPr>
      </p:pic>
      <p:pic>
        <p:nvPicPr>
          <p:cNvPr id="8" name="Image 4" descr="connector">    </p:cNvPr>
          <p:cNvPicPr>
            <a:picLocks noChangeAspect="1"/>
          </p:cNvPicPr>
          <p:nvPr/>
        </p:nvPicPr>
        <p:blipFill>
          <a:blip r:embed="rId5"/>
          <a:srcRect l="0" r="0" t="0" b="0"/>
          <a:stretch/>
        </p:blipFill>
        <p:spPr>
          <a:xfrm>
            <a:off x="5334000" y="2679700"/>
            <a:ext cx="1244600" cy="101600"/>
          </a:xfrm>
          <a:prstGeom prst="rect">
            <a:avLst/>
          </a:prstGeom>
        </p:spPr>
      </p:pic>
      <p:pic>
        <p:nvPicPr>
          <p:cNvPr id="9" name="Image 5" descr="connector">    </p:cNvPr>
          <p:cNvPicPr>
            <a:picLocks noChangeAspect="1"/>
          </p:cNvPicPr>
          <p:nvPr/>
        </p:nvPicPr>
        <p:blipFill>
          <a:blip r:embed="rId6"/>
          <a:srcRect l="0" r="0" t="0" b="0"/>
          <a:stretch/>
        </p:blipFill>
        <p:spPr>
          <a:xfrm>
            <a:off x="5334000" y="3124200"/>
            <a:ext cx="1244600" cy="1752600"/>
          </a:xfrm>
          <a:prstGeom prst="rect">
            <a:avLst/>
          </a:prstGeom>
        </p:spPr>
      </p:pic>
      <p:pic>
        <p:nvPicPr>
          <p:cNvPr id="10" name="Image 6" descr="connector">    </p:cNvPr>
          <p:cNvPicPr>
            <a:picLocks noChangeAspect="1"/>
          </p:cNvPicPr>
          <p:nvPr/>
        </p:nvPicPr>
        <p:blipFill>
          <a:blip r:embed="rId7"/>
          <a:srcRect l="0" r="0" t="0" b="0"/>
          <a:stretch/>
        </p:blipFill>
        <p:spPr>
          <a:xfrm>
            <a:off x="5334000" y="5283200"/>
            <a:ext cx="1244600" cy="101600"/>
          </a:xfrm>
          <a:prstGeom prst="rect">
            <a:avLst/>
          </a:prstGeom>
        </p:spPr>
      </p:pic>
      <p:sp>
        <p:nvSpPr>
          <p:cNvPr id="11" name="Shape 2"/>
          <p:cNvSpPr/>
          <p:nvPr/>
        </p:nvSpPr>
        <p:spPr>
          <a:xfrm>
            <a:off x="819150" y="2292350"/>
            <a:ext cx="1892300" cy="876300"/>
          </a:xfrm>
          <a:prstGeom prst="rect">
            <a:avLst/>
          </a:prstGeom>
          <a:solidFill>
            <a:srgbClr val="FAFAF7"/>
          </a:solidFill>
          <a:ln w="12700">
            <a:solidFill>
              <a:srgbClr val="0F0F12"/>
            </a:solidFill>
            <a:prstDash val="solid"/>
          </a:ln>
        </p:spPr>
      </p:sp>
      <p:sp>
        <p:nvSpPr>
          <p:cNvPr id="12" name="Text 3"/>
          <p:cNvSpPr/>
          <p:nvPr/>
        </p:nvSpPr>
        <p:spPr>
          <a:xfrm>
            <a:off x="977900" y="2451100"/>
            <a:ext cx="1625600"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0F0F12"/>
                </a:solidFill>
                <a:latin typeface="Inter Tight" pitchFamily="34" charset="0"/>
                <a:ea typeface="Inter Tight" pitchFamily="34" charset="-122"/>
                <a:cs typeface="Inter Tight" pitchFamily="34" charset="-120"/>
              </a:rPr>
              <a:t>Браузер</a:t>
            </a:r>
            <a:endParaRPr lang="en-US" sz="1600" dirty="0"/>
          </a:p>
        </p:txBody>
      </p:sp>
      <p:sp>
        <p:nvSpPr>
          <p:cNvPr id="13" name="Text 4"/>
          <p:cNvSpPr/>
          <p:nvPr/>
        </p:nvSpPr>
        <p:spPr>
          <a:xfrm>
            <a:off x="977900" y="2760960"/>
            <a:ext cx="1625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4A50"/>
                </a:solidFill>
                <a:latin typeface="Golos Text" pitchFamily="34" charset="0"/>
                <a:ea typeface="Golos Text" pitchFamily="34" charset="-122"/>
                <a:cs typeface="Golos Text" pitchFamily="34" charset="-120"/>
              </a:rPr>
              <a:t>React, TypeScript</a:t>
            </a:r>
            <a:endParaRPr lang="en-US" sz="1200" dirty="0"/>
          </a:p>
        </p:txBody>
      </p:sp>
      <p:sp>
        <p:nvSpPr>
          <p:cNvPr id="14" name="Shape 5"/>
          <p:cNvSpPr/>
          <p:nvPr/>
        </p:nvSpPr>
        <p:spPr>
          <a:xfrm>
            <a:off x="819150" y="3562350"/>
            <a:ext cx="1892300" cy="685800"/>
          </a:xfrm>
          <a:prstGeom prst="rect">
            <a:avLst/>
          </a:prstGeom>
          <a:solidFill>
            <a:srgbClr val="FAFAF7"/>
          </a:solidFill>
          <a:ln w="12700">
            <a:solidFill>
              <a:srgbClr val="0F0F12"/>
            </a:solidFill>
            <a:prstDash val="solid"/>
          </a:ln>
        </p:spPr>
      </p:sp>
      <p:sp>
        <p:nvSpPr>
          <p:cNvPr id="15" name="Text 6"/>
          <p:cNvSpPr/>
          <p:nvPr/>
        </p:nvSpPr>
        <p:spPr>
          <a:xfrm>
            <a:off x="977900" y="3721100"/>
            <a:ext cx="1625600" cy="221357"/>
          </a:xfrm>
          <a:prstGeom prst="rect">
            <a:avLst/>
          </a:prstGeom>
          <a:noFill/>
          <a:ln/>
        </p:spPr>
        <p:txBody>
          <a:bodyPr wrap="square" lIns="0" tIns="0" rIns="0" bIns="0" rtlCol="0" anchor="t">
            <a:normAutofit/>
          </a:bodyPr>
          <a:lstStyle/>
          <a:p>
            <a:pPr algn="l" indent="0" marL="0">
              <a:lnSpc>
                <a:spcPts val="1568"/>
              </a:lnSpc>
              <a:buNone/>
            </a:pPr>
            <a:r>
              <a:rPr lang="en-US" sz="1120" b="1" dirty="0">
                <a:solidFill>
                  <a:srgbClr val="0F0F12"/>
                </a:solidFill>
                <a:latin typeface="Inter Tight" pitchFamily="34" charset="0"/>
                <a:ea typeface="Inter Tight" pitchFamily="34" charset="-122"/>
                <a:cs typeface="Inter Tight" pitchFamily="34" charset="-120"/>
              </a:rPr>
              <a:t>Telegram-бот</a:t>
            </a:r>
            <a:endParaRPr lang="en-US" sz="1120" dirty="0"/>
          </a:p>
        </p:txBody>
      </p:sp>
      <p:sp>
        <p:nvSpPr>
          <p:cNvPr id="16" name="Text 7"/>
          <p:cNvSpPr/>
          <p:nvPr/>
        </p:nvSpPr>
        <p:spPr>
          <a:xfrm>
            <a:off x="977900" y="3942457"/>
            <a:ext cx="1625600" cy="172343"/>
          </a:xfrm>
          <a:prstGeom prst="rect">
            <a:avLst/>
          </a:prstGeom>
          <a:noFill/>
          <a:ln/>
        </p:spPr>
        <p:txBody>
          <a:bodyPr wrap="square" lIns="0" tIns="0" rIns="0" bIns="0" rtlCol="0" anchor="t">
            <a:normAutofit/>
          </a:bodyPr>
          <a:lstStyle/>
          <a:p>
            <a:pPr algn="l" indent="0" marL="0">
              <a:lnSpc>
                <a:spcPts val="1171"/>
              </a:lnSpc>
              <a:buNone/>
            </a:pPr>
            <a:r>
              <a:rPr lang="en-US" sz="836" dirty="0">
                <a:solidFill>
                  <a:srgbClr val="4A4A50"/>
                </a:solidFill>
                <a:latin typeface="Golos Text" pitchFamily="34" charset="0"/>
                <a:ea typeface="Golos Text" pitchFamily="34" charset="-122"/>
                <a:cs typeface="Golos Text" pitchFamily="34" charset="-120"/>
              </a:rPr>
              <a:t>aiogram</a:t>
            </a:r>
            <a:endParaRPr lang="en-US" sz="836" dirty="0"/>
          </a:p>
        </p:txBody>
      </p:sp>
      <p:sp>
        <p:nvSpPr>
          <p:cNvPr id="17" name="Shape 8"/>
          <p:cNvSpPr/>
          <p:nvPr/>
        </p:nvSpPr>
        <p:spPr>
          <a:xfrm>
            <a:off x="3232150" y="2292350"/>
            <a:ext cx="2146300" cy="876300"/>
          </a:xfrm>
          <a:prstGeom prst="rect">
            <a:avLst/>
          </a:prstGeom>
          <a:solidFill>
            <a:srgbClr val="0F0F12"/>
          </a:solidFill>
          <a:ln w="12700">
            <a:solidFill>
              <a:srgbClr val="0F0F12"/>
            </a:solidFill>
            <a:prstDash val="solid"/>
          </a:ln>
        </p:spPr>
      </p:sp>
      <p:sp>
        <p:nvSpPr>
          <p:cNvPr id="18" name="Text 9"/>
          <p:cNvSpPr/>
          <p:nvPr/>
        </p:nvSpPr>
        <p:spPr>
          <a:xfrm>
            <a:off x="3390900" y="2451100"/>
            <a:ext cx="1883664"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FAFAF7"/>
                </a:solidFill>
                <a:latin typeface="Inter Tight" pitchFamily="34" charset="0"/>
                <a:ea typeface="Inter Tight" pitchFamily="34" charset="-122"/>
                <a:cs typeface="Inter Tight" pitchFamily="34" charset="-120"/>
              </a:rPr>
              <a:t>API</a:t>
            </a:r>
            <a:endParaRPr lang="en-US" sz="1600" dirty="0"/>
          </a:p>
        </p:txBody>
      </p:sp>
      <p:sp>
        <p:nvSpPr>
          <p:cNvPr id="19" name="Text 10"/>
          <p:cNvSpPr/>
          <p:nvPr/>
        </p:nvSpPr>
        <p:spPr>
          <a:xfrm>
            <a:off x="3390900" y="2760960"/>
            <a:ext cx="188366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D6D6DA"/>
                </a:solidFill>
                <a:latin typeface="Golos Text" pitchFamily="34" charset="0"/>
                <a:ea typeface="Golos Text" pitchFamily="34" charset="-122"/>
                <a:cs typeface="Golos Text" pitchFamily="34" charset="-120"/>
              </a:rPr>
              <a:t>FastAPI · REST и SSE</a:t>
            </a:r>
            <a:endParaRPr lang="en-US" sz="1200" dirty="0"/>
          </a:p>
        </p:txBody>
      </p:sp>
      <p:sp>
        <p:nvSpPr>
          <p:cNvPr id="20" name="Shape 11"/>
          <p:cNvSpPr/>
          <p:nvPr/>
        </p:nvSpPr>
        <p:spPr>
          <a:xfrm>
            <a:off x="3232150" y="3562350"/>
            <a:ext cx="2146300" cy="685800"/>
          </a:xfrm>
          <a:prstGeom prst="rect">
            <a:avLst/>
          </a:prstGeom>
          <a:solidFill>
            <a:srgbClr val="FAFAF7"/>
          </a:solidFill>
          <a:ln w="12700">
            <a:solidFill>
              <a:srgbClr val="0F0F12"/>
            </a:solidFill>
            <a:prstDash val="solid"/>
          </a:ln>
        </p:spPr>
      </p:sp>
      <p:sp>
        <p:nvSpPr>
          <p:cNvPr id="21" name="Text 12"/>
          <p:cNvSpPr/>
          <p:nvPr/>
        </p:nvSpPr>
        <p:spPr>
          <a:xfrm>
            <a:off x="3390900" y="3721100"/>
            <a:ext cx="1883664" cy="221357"/>
          </a:xfrm>
          <a:prstGeom prst="rect">
            <a:avLst/>
          </a:prstGeom>
          <a:noFill/>
          <a:ln/>
        </p:spPr>
        <p:txBody>
          <a:bodyPr wrap="square" lIns="0" tIns="0" rIns="0" bIns="0" rtlCol="0" anchor="t">
            <a:normAutofit/>
          </a:bodyPr>
          <a:lstStyle/>
          <a:p>
            <a:pPr algn="l" indent="0" marL="0">
              <a:lnSpc>
                <a:spcPts val="1568"/>
              </a:lnSpc>
              <a:buNone/>
            </a:pPr>
            <a:r>
              <a:rPr lang="en-US" sz="1120" b="1" dirty="0">
                <a:solidFill>
                  <a:srgbClr val="0F0F12"/>
                </a:solidFill>
                <a:latin typeface="Inter Tight" pitchFamily="34" charset="0"/>
                <a:ea typeface="Inter Tight" pitchFamily="34" charset="-122"/>
                <a:cs typeface="Inter Tight" pitchFamily="34" charset="-120"/>
              </a:rPr>
              <a:t>Redis</a:t>
            </a:r>
            <a:endParaRPr lang="en-US" sz="1120" dirty="0"/>
          </a:p>
        </p:txBody>
      </p:sp>
      <p:sp>
        <p:nvSpPr>
          <p:cNvPr id="22" name="Text 13"/>
          <p:cNvSpPr/>
          <p:nvPr/>
        </p:nvSpPr>
        <p:spPr>
          <a:xfrm>
            <a:off x="3390900" y="3942457"/>
            <a:ext cx="1883664" cy="172343"/>
          </a:xfrm>
          <a:prstGeom prst="rect">
            <a:avLst/>
          </a:prstGeom>
          <a:noFill/>
          <a:ln/>
        </p:spPr>
        <p:txBody>
          <a:bodyPr wrap="square" lIns="0" tIns="0" rIns="0" bIns="0" rtlCol="0" anchor="t">
            <a:normAutofit/>
          </a:bodyPr>
          <a:lstStyle/>
          <a:p>
            <a:pPr algn="l" indent="0" marL="0">
              <a:lnSpc>
                <a:spcPts val="1171"/>
              </a:lnSpc>
              <a:buNone/>
            </a:pPr>
            <a:r>
              <a:rPr lang="en-US" sz="836" dirty="0">
                <a:solidFill>
                  <a:srgbClr val="4A4A50"/>
                </a:solidFill>
                <a:latin typeface="Golos Text" pitchFamily="34" charset="0"/>
                <a:ea typeface="Golos Text" pitchFamily="34" charset="-122"/>
                <a:cs typeface="Golos Text" pitchFamily="34" charset="-120"/>
              </a:rPr>
              <a:t>очередь задач, сессии</a:t>
            </a:r>
            <a:endParaRPr lang="en-US" sz="836" dirty="0"/>
          </a:p>
        </p:txBody>
      </p:sp>
      <p:sp>
        <p:nvSpPr>
          <p:cNvPr id="23" name="Shape 14"/>
          <p:cNvSpPr/>
          <p:nvPr/>
        </p:nvSpPr>
        <p:spPr>
          <a:xfrm>
            <a:off x="3232150" y="4705350"/>
            <a:ext cx="2146300" cy="1003300"/>
          </a:xfrm>
          <a:prstGeom prst="rect">
            <a:avLst/>
          </a:prstGeom>
          <a:solidFill>
            <a:srgbClr val="2B2BFF"/>
          </a:solidFill>
          <a:ln w="12700">
            <a:solidFill>
              <a:srgbClr val="0F0F12"/>
            </a:solidFill>
            <a:prstDash val="solid"/>
          </a:ln>
        </p:spPr>
      </p:sp>
      <p:sp>
        <p:nvSpPr>
          <p:cNvPr id="24" name="Text 15"/>
          <p:cNvSpPr/>
          <p:nvPr/>
        </p:nvSpPr>
        <p:spPr>
          <a:xfrm>
            <a:off x="3390900" y="4864100"/>
            <a:ext cx="1883664" cy="295374"/>
          </a:xfrm>
          <a:prstGeom prst="rect">
            <a:avLst/>
          </a:prstGeom>
          <a:noFill/>
          <a:ln/>
        </p:spPr>
        <p:txBody>
          <a:bodyPr wrap="square" lIns="0" tIns="0" rIns="0" bIns="0" rtlCol="0" anchor="t">
            <a:normAutofit/>
          </a:bodyPr>
          <a:lstStyle/>
          <a:p>
            <a:pPr algn="l" indent="0" marL="0">
              <a:lnSpc>
                <a:spcPts val="2170"/>
              </a:lnSpc>
              <a:buNone/>
            </a:pPr>
            <a:r>
              <a:rPr lang="en-US" sz="1550" b="1" dirty="0">
                <a:solidFill>
                  <a:srgbClr val="FAFAF7"/>
                </a:solidFill>
                <a:latin typeface="Inter Tight" pitchFamily="34" charset="0"/>
                <a:ea typeface="Inter Tight" pitchFamily="34" charset="-122"/>
                <a:cs typeface="Inter Tight" pitchFamily="34" charset="-120"/>
              </a:rPr>
              <a:t>Воркер</a:t>
            </a:r>
            <a:endParaRPr lang="en-US" sz="1550" dirty="0"/>
          </a:p>
        </p:txBody>
      </p:sp>
      <p:sp>
        <p:nvSpPr>
          <p:cNvPr id="25" name="Text 16"/>
          <p:cNvSpPr/>
          <p:nvPr/>
        </p:nvSpPr>
        <p:spPr>
          <a:xfrm>
            <a:off x="3390900" y="5159474"/>
            <a:ext cx="1883664" cy="415826"/>
          </a:xfrm>
          <a:prstGeom prst="rect">
            <a:avLst/>
          </a:prstGeom>
          <a:noFill/>
          <a:ln/>
        </p:spPr>
        <p:txBody>
          <a:bodyPr wrap="square" lIns="0" tIns="0" rIns="0" bIns="0" rtlCol="0" anchor="t">
            <a:normAutofit/>
          </a:bodyPr>
          <a:lstStyle/>
          <a:p>
            <a:pPr algn="l" indent="0" marL="0">
              <a:lnSpc>
                <a:spcPts val="1534"/>
              </a:lnSpc>
              <a:buNone/>
            </a:pPr>
            <a:r>
              <a:rPr lang="en-US" sz="1136" dirty="0">
                <a:solidFill>
                  <a:srgbClr val="FAFAF7"/>
                </a:solidFill>
                <a:latin typeface="Golos Text" pitchFamily="34" charset="0"/>
                <a:ea typeface="Golos Text" pitchFamily="34" charset="-122"/>
                <a:cs typeface="Golos Text" pitchFamily="34" charset="-120"/>
              </a:rPr>
              <a:t>yt-dlp, ffmpeg, Whisper, BGE-M3, Qwen3</a:t>
            </a:r>
            <a:endParaRPr lang="en-US" sz="1136" dirty="0"/>
          </a:p>
        </p:txBody>
      </p:sp>
      <p:sp>
        <p:nvSpPr>
          <p:cNvPr id="26" name="Shape 17"/>
          <p:cNvSpPr/>
          <p:nvPr/>
        </p:nvSpPr>
        <p:spPr>
          <a:xfrm>
            <a:off x="6534150" y="2292350"/>
            <a:ext cx="2400300" cy="876300"/>
          </a:xfrm>
          <a:prstGeom prst="rect">
            <a:avLst/>
          </a:prstGeom>
          <a:solidFill>
            <a:srgbClr val="FAFAF7"/>
          </a:solidFill>
          <a:ln w="12700">
            <a:solidFill>
              <a:srgbClr val="0F0F12"/>
            </a:solidFill>
            <a:prstDash val="solid"/>
          </a:ln>
        </p:spPr>
      </p:sp>
      <p:sp>
        <p:nvSpPr>
          <p:cNvPr id="27" name="Text 18"/>
          <p:cNvSpPr/>
          <p:nvPr/>
        </p:nvSpPr>
        <p:spPr>
          <a:xfrm>
            <a:off x="6692900" y="2451100"/>
            <a:ext cx="2145284"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0F0F12"/>
                </a:solidFill>
                <a:latin typeface="Inter Tight" pitchFamily="34" charset="0"/>
                <a:ea typeface="Inter Tight" pitchFamily="34" charset="-122"/>
                <a:cs typeface="Inter Tight" pitchFamily="34" charset="-120"/>
              </a:rPr>
              <a:t>PostgreSQL</a:t>
            </a:r>
            <a:endParaRPr lang="en-US" sz="1600" dirty="0"/>
          </a:p>
        </p:txBody>
      </p:sp>
      <p:sp>
        <p:nvSpPr>
          <p:cNvPr id="28" name="Text 19"/>
          <p:cNvSpPr/>
          <p:nvPr/>
        </p:nvSpPr>
        <p:spPr>
          <a:xfrm>
            <a:off x="6692900" y="2760960"/>
            <a:ext cx="214528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4A50"/>
                </a:solidFill>
                <a:latin typeface="Golos Text" pitchFamily="34" charset="0"/>
                <a:ea typeface="Golos Text" pitchFamily="34" charset="-122"/>
                <a:cs typeface="Golos Text" pitchFamily="34" charset="-120"/>
              </a:rPr>
              <a:t>pgvector + полнотекст</a:t>
            </a:r>
            <a:endParaRPr lang="en-US" sz="1200" dirty="0"/>
          </a:p>
        </p:txBody>
      </p:sp>
      <p:sp>
        <p:nvSpPr>
          <p:cNvPr id="29" name="Shape 20"/>
          <p:cNvSpPr/>
          <p:nvPr/>
        </p:nvSpPr>
        <p:spPr>
          <a:xfrm>
            <a:off x="6534150" y="4832350"/>
            <a:ext cx="2400300" cy="876300"/>
          </a:xfrm>
          <a:prstGeom prst="rect">
            <a:avLst/>
          </a:prstGeom>
          <a:solidFill>
            <a:srgbClr val="FAFAF7"/>
          </a:solidFill>
          <a:ln w="12700">
            <a:solidFill>
              <a:srgbClr val="0F0F12"/>
            </a:solidFill>
            <a:prstDash val="solid"/>
          </a:ln>
        </p:spPr>
      </p:sp>
      <p:sp>
        <p:nvSpPr>
          <p:cNvPr id="30" name="Text 21"/>
          <p:cNvSpPr/>
          <p:nvPr/>
        </p:nvSpPr>
        <p:spPr>
          <a:xfrm>
            <a:off x="6692900" y="4991100"/>
            <a:ext cx="2145284"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0F0F12"/>
                </a:solidFill>
                <a:latin typeface="Inter Tight" pitchFamily="34" charset="0"/>
                <a:ea typeface="Inter Tight" pitchFamily="34" charset="-122"/>
                <a:cs typeface="Inter Tight" pitchFamily="34" charset="-120"/>
              </a:rPr>
              <a:t>MinIO</a:t>
            </a:r>
            <a:endParaRPr lang="en-US" sz="1600" dirty="0"/>
          </a:p>
        </p:txBody>
      </p:sp>
      <p:sp>
        <p:nvSpPr>
          <p:cNvPr id="31" name="Text 22"/>
          <p:cNvSpPr/>
          <p:nvPr/>
        </p:nvSpPr>
        <p:spPr>
          <a:xfrm>
            <a:off x="6692900" y="5300960"/>
            <a:ext cx="214528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4A50"/>
                </a:solidFill>
                <a:latin typeface="Golos Text" pitchFamily="34" charset="0"/>
                <a:ea typeface="Golos Text" pitchFamily="34" charset="-122"/>
                <a:cs typeface="Golos Text" pitchFamily="34" charset="-120"/>
              </a:rPr>
              <a:t>видео, превью, аватары</a:t>
            </a:r>
            <a:endParaRPr lang="en-US" sz="1200" dirty="0"/>
          </a:p>
        </p:txBody>
      </p:sp>
      <p:sp>
        <p:nvSpPr>
          <p:cNvPr id="32" name="Text 23"/>
          <p:cNvSpPr/>
          <p:nvPr/>
        </p:nvSpPr>
        <p:spPr>
          <a:xfrm>
            <a:off x="5511800" y="2413000"/>
            <a:ext cx="10033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4A50"/>
                </a:solidFill>
                <a:latin typeface="JetBrains Mono" pitchFamily="49" charset="0"/>
                <a:ea typeface="JetBrains Mono" pitchFamily="49" charset="-122"/>
                <a:cs typeface="JetBrains Mono" pitchFamily="49" charset="-120"/>
              </a:rPr>
              <a:t>поиск</a:t>
            </a:r>
            <a:endParaRPr lang="en-US" sz="1200" dirty="0"/>
          </a:p>
        </p:txBody>
      </p:sp>
      <p:sp>
        <p:nvSpPr>
          <p:cNvPr id="33" name="Text 24"/>
          <p:cNvSpPr/>
          <p:nvPr/>
        </p:nvSpPr>
        <p:spPr>
          <a:xfrm>
            <a:off x="6527800" y="3556000"/>
            <a:ext cx="2485390" cy="421481"/>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4A4A50"/>
                </a:solidFill>
                <a:latin typeface="JetBrains Mono" pitchFamily="49" charset="0"/>
                <a:ea typeface="JetBrains Mono" pitchFamily="49" charset="-122"/>
                <a:cs typeface="JetBrains Mono" pitchFamily="49" charset="-120"/>
              </a:rPr>
              <a:t>расшифровка, векторы, конспект</a:t>
            </a:r>
            <a:endParaRPr lang="en-US" sz="1200" dirty="0"/>
          </a:p>
        </p:txBody>
      </p:sp>
      <p:sp>
        <p:nvSpPr>
          <p:cNvPr id="34" name="Shape 25"/>
          <p:cNvSpPr/>
          <p:nvPr/>
        </p:nvSpPr>
        <p:spPr>
          <a:xfrm>
            <a:off x="9448800" y="2292350"/>
            <a:ext cx="1930400" cy="0"/>
          </a:xfrm>
          <a:prstGeom prst="line">
            <a:avLst/>
          </a:prstGeom>
          <a:noFill/>
          <a:ln w="12700">
            <a:solidFill>
              <a:srgbClr val="0F0F12"/>
            </a:solidFill>
            <a:prstDash val="solid"/>
          </a:ln>
        </p:spPr>
      </p:sp>
      <p:sp>
        <p:nvSpPr>
          <p:cNvPr id="35" name="Text 26"/>
          <p:cNvSpPr/>
          <p:nvPr/>
        </p:nvSpPr>
        <p:spPr>
          <a:xfrm>
            <a:off x="9448800" y="2387600"/>
            <a:ext cx="1988312"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0F0F12"/>
                </a:solidFill>
                <a:latin typeface="Golos Text" pitchFamily="34" charset="0"/>
                <a:ea typeface="Golos Text" pitchFamily="34" charset="-122"/>
                <a:cs typeface="Golos Text" pitchFamily="34" charset="-120"/>
              </a:rPr>
              <a:t>Загрузка проверяется до очереди — ошибка сразу и понятная</a:t>
            </a:r>
            <a:endParaRPr lang="en-US" sz="1300" dirty="0"/>
          </a:p>
        </p:txBody>
      </p:sp>
      <p:sp>
        <p:nvSpPr>
          <p:cNvPr id="36" name="Shape 27"/>
          <p:cNvSpPr/>
          <p:nvPr/>
        </p:nvSpPr>
        <p:spPr>
          <a:xfrm>
            <a:off x="9448800" y="3189486"/>
            <a:ext cx="1930400" cy="0"/>
          </a:xfrm>
          <a:prstGeom prst="line">
            <a:avLst/>
          </a:prstGeom>
          <a:noFill/>
          <a:ln w="12700">
            <a:solidFill>
              <a:srgbClr val="0F0F12"/>
            </a:solidFill>
            <a:prstDash val="solid"/>
          </a:ln>
        </p:spPr>
      </p:sp>
      <p:sp>
        <p:nvSpPr>
          <p:cNvPr id="37" name="Text 28"/>
          <p:cNvSpPr/>
          <p:nvPr/>
        </p:nvSpPr>
        <p:spPr>
          <a:xfrm>
            <a:off x="9448800" y="3284736"/>
            <a:ext cx="1988312"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0F0F12"/>
                </a:solidFill>
                <a:latin typeface="Golos Text" pitchFamily="34" charset="0"/>
                <a:ea typeface="Golos Text" pitchFamily="34" charset="-122"/>
                <a:cs typeface="Golos Text" pitchFamily="34" charset="-120"/>
              </a:rPr>
              <a:t>Одна лекция за раз: модели делят 6 ГБ</a:t>
            </a:r>
            <a:endParaRPr lang="en-US" sz="1300" dirty="0"/>
          </a:p>
        </p:txBody>
      </p:sp>
      <p:sp>
        <p:nvSpPr>
          <p:cNvPr id="38" name="Shape 29"/>
          <p:cNvSpPr/>
          <p:nvPr/>
        </p:nvSpPr>
        <p:spPr>
          <a:xfrm>
            <a:off x="9448800" y="3863777"/>
            <a:ext cx="1930400" cy="0"/>
          </a:xfrm>
          <a:prstGeom prst="line">
            <a:avLst/>
          </a:prstGeom>
          <a:noFill/>
          <a:ln w="12700">
            <a:solidFill>
              <a:srgbClr val="0F0F12"/>
            </a:solidFill>
            <a:prstDash val="solid"/>
          </a:ln>
        </p:spPr>
      </p:sp>
      <p:sp>
        <p:nvSpPr>
          <p:cNvPr id="39" name="Text 30"/>
          <p:cNvSpPr/>
          <p:nvPr/>
        </p:nvSpPr>
        <p:spPr>
          <a:xfrm>
            <a:off x="9448800" y="3959027"/>
            <a:ext cx="1988312"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0F0F12"/>
                </a:solidFill>
                <a:latin typeface="Golos Text" pitchFamily="34" charset="0"/>
                <a:ea typeface="Golos Text" pitchFamily="34" charset="-122"/>
                <a:cs typeface="Golos Text" pitchFamily="34" charset="-120"/>
              </a:rPr>
              <a:t>Видео отдаёт MinIO по подписанной ссылке</a:t>
            </a:r>
            <a:endParaRPr lang="en-US" sz="1300" dirty="0"/>
          </a:p>
        </p:txBody>
      </p:sp>
      <p:sp>
        <p:nvSpPr>
          <p:cNvPr id="40" name="Shape 31"/>
          <p:cNvSpPr/>
          <p:nvPr/>
        </p:nvSpPr>
        <p:spPr>
          <a:xfrm>
            <a:off x="9448800" y="4538067"/>
            <a:ext cx="1930400" cy="0"/>
          </a:xfrm>
          <a:prstGeom prst="line">
            <a:avLst/>
          </a:prstGeom>
          <a:noFill/>
          <a:ln w="12700">
            <a:solidFill>
              <a:srgbClr val="0F0F12"/>
            </a:solidFill>
            <a:prstDash val="solid"/>
          </a:ln>
        </p:spPr>
      </p:sp>
      <p:sp>
        <p:nvSpPr>
          <p:cNvPr id="41" name="Text 32"/>
          <p:cNvSpPr/>
          <p:nvPr/>
        </p:nvSpPr>
        <p:spPr>
          <a:xfrm>
            <a:off x="9448800" y="4633317"/>
            <a:ext cx="1988312"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0F0F12"/>
                </a:solidFill>
                <a:latin typeface="Golos Text" pitchFamily="34" charset="0"/>
                <a:ea typeface="Golos Text" pitchFamily="34" charset="-122"/>
                <a:cs typeface="Golos Text" pitchFamily="34" charset="-120"/>
              </a:rPr>
              <a:t>Одно видео обрабатывается один раз — дубли ловятся</a:t>
            </a:r>
            <a:endParaRPr lang="en-US" sz="1300" dirty="0"/>
          </a:p>
        </p:txBody>
      </p:sp>
      <p:sp>
        <p:nvSpPr>
          <p:cNvPr id="42" name="Text 33"/>
          <p:cNvSpPr/>
          <p:nvPr/>
        </p:nvSpPr>
        <p:spPr>
          <a:xfrm>
            <a:off x="812800" y="6238280"/>
            <a:ext cx="2999303"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6B6B70"/>
                </a:solidFill>
                <a:latin typeface="JetBrains Mono" pitchFamily="49" charset="0"/>
                <a:ea typeface="JetBrains Mono" pitchFamily="49" charset="-122"/>
                <a:cs typeface="JetBrains Mono" pitchFamily="49" charset="-120"/>
              </a:rPr>
              <a:t>LECTIO · КИБЕРРЫВОК 2026</a:t>
            </a:r>
            <a:endParaRPr lang="en-US" sz="1200" dirty="0"/>
          </a:p>
        </p:txBody>
      </p:sp>
      <p:sp>
        <p:nvSpPr>
          <p:cNvPr id="43" name="Text 34"/>
          <p:cNvSpPr/>
          <p:nvPr/>
        </p:nvSpPr>
        <p:spPr>
          <a:xfrm>
            <a:off x="11145441" y="6238280"/>
            <a:ext cx="233759"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B70"/>
                </a:solidFill>
                <a:latin typeface="JetBrains Mono" pitchFamily="49" charset="0"/>
                <a:ea typeface="JetBrains Mono" pitchFamily="49" charset="-122"/>
                <a:cs typeface="JetBrains Mono" pitchFamily="49" charset="-120"/>
              </a:rPr>
              <a:t>04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2B2BFF"/>
                </a:solidFill>
                <a:latin typeface="JetBrains Mono" pitchFamily="49" charset="0"/>
                <a:ea typeface="JetBrains Mono" pitchFamily="49" charset="-122"/>
                <a:cs typeface="JetBrains Mono" pitchFamily="49" charset="-120"/>
              </a:rPr>
              <a:t>ТЕХНИЧЕСКАЯ РЕАЛИЗАЦИЯ · АЛГОРИТМЫ</a:t>
            </a:r>
            <a:endParaRPr lang="en-US" sz="1200" dirty="0"/>
          </a:p>
        </p:txBody>
      </p:sp>
      <p:sp>
        <p:nvSpPr>
          <p:cNvPr id="3" name="Text 1"/>
          <p:cNvSpPr/>
          <p:nvPr>
            <p:ph type="title"/>
          </p:nvPr>
        </p:nvSpPr>
        <p:spPr>
          <a:xfrm>
            <a:off x="812800" y="1178520"/>
            <a:ext cx="10883392" cy="505420"/>
          </a:xfrm>
          <a:prstGeom prst="rect">
            <a:avLst/>
          </a:prstGeom>
          <a:noFill/>
          <a:ln/>
        </p:spPr>
        <p:txBody>
          <a:bodyPr wrap="square" lIns="0" tIns="0" rIns="0" bIns="0" rtlCol="0" anchor="t">
            <a:normAutofit/>
          </a:bodyPr>
          <a:lstStyle/>
          <a:p>
            <a:pPr algn="l" indent="0" marL="0">
              <a:lnSpc>
                <a:spcPts val="3780"/>
              </a:lnSpc>
              <a:buNone/>
            </a:pPr>
            <a:r>
              <a:rPr lang="en-US" sz="3600" b="1" i="0" spc="-150" kern="0" dirty="0">
                <a:solidFill>
                  <a:srgbClr val="0F0F12"/>
                </a:solidFill>
                <a:latin typeface="Inter Tight" pitchFamily="34" charset="0"/>
                <a:ea typeface="Inter Tight" pitchFamily="34" charset="-122"/>
                <a:cs typeface="Inter Tight" pitchFamily="34" charset="-120"/>
              </a:rPr>
              <a:t>Как из звука получается поиск</a:t>
            </a:r>
            <a:endParaRPr lang="en-US" sz="3600" dirty="0"/>
          </a:p>
        </p:txBody>
      </p:sp>
      <p:sp>
        <p:nvSpPr>
          <p:cNvPr id="4" name="Shape 2"/>
          <p:cNvSpPr/>
          <p:nvPr/>
        </p:nvSpPr>
        <p:spPr>
          <a:xfrm>
            <a:off x="812800" y="1918891"/>
            <a:ext cx="7112000" cy="0"/>
          </a:xfrm>
          <a:prstGeom prst="line">
            <a:avLst/>
          </a:prstGeom>
          <a:noFill/>
          <a:ln w="12700">
            <a:solidFill>
              <a:srgbClr val="0F0F12"/>
            </a:solidFill>
            <a:prstDash val="solid"/>
          </a:ln>
        </p:spPr>
      </p:sp>
      <p:sp>
        <p:nvSpPr>
          <p:cNvPr id="5" name="Text 3"/>
          <p:cNvSpPr/>
          <p:nvPr/>
        </p:nvSpPr>
        <p:spPr>
          <a:xfrm>
            <a:off x="812800" y="2026841"/>
            <a:ext cx="355600"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2B2BFF"/>
                </a:solidFill>
                <a:latin typeface="JetBrains Mono" pitchFamily="49" charset="0"/>
                <a:ea typeface="JetBrains Mono" pitchFamily="49" charset="-122"/>
                <a:cs typeface="JetBrains Mono" pitchFamily="49" charset="-120"/>
              </a:rPr>
              <a:t>01</a:t>
            </a:r>
            <a:endParaRPr lang="en-US" sz="1400" dirty="0"/>
          </a:p>
        </p:txBody>
      </p:sp>
      <p:sp>
        <p:nvSpPr>
          <p:cNvPr id="6" name="Text 4"/>
          <p:cNvSpPr/>
          <p:nvPr/>
        </p:nvSpPr>
        <p:spPr>
          <a:xfrm>
            <a:off x="1295400" y="2026841"/>
            <a:ext cx="6828282" cy="52308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0F0F12"/>
                </a:solidFill>
                <a:latin typeface="Golos Text" pitchFamily="34" charset="0"/>
                <a:ea typeface="Golos Text" pitchFamily="34" charset="-122"/>
                <a:cs typeface="Golos Text" pitchFamily="34" charset="-120"/>
              </a:rPr>
              <a:t>Субтитры из слов.</a:t>
            </a:r>
            <a:r>
              <a:rPr lang="en-US" sz="1400" dirty="0">
                <a:solidFill>
                  <a:srgbClr val="0F0F12"/>
                </a:solidFill>
                <a:latin typeface="Golos Text" pitchFamily="34" charset="0"/>
                <a:ea typeface="Golos Text" pitchFamily="34" charset="-122"/>
                <a:cs typeface="Golos Text" pitchFamily="34" charset="-120"/>
              </a:rPr>
              <a:t> Whisper даёт таймкод каждого слова, мы собираем реплики по 2–7 секунд.</a:t>
            </a:r>
            <a:endParaRPr lang="en-US" sz="1400" dirty="0"/>
          </a:p>
        </p:txBody>
      </p:sp>
      <p:sp>
        <p:nvSpPr>
          <p:cNvPr id="7" name="Shape 5"/>
          <p:cNvSpPr/>
          <p:nvPr/>
        </p:nvSpPr>
        <p:spPr>
          <a:xfrm>
            <a:off x="812800" y="2657872"/>
            <a:ext cx="7112000" cy="0"/>
          </a:xfrm>
          <a:prstGeom prst="line">
            <a:avLst/>
          </a:prstGeom>
          <a:noFill/>
          <a:ln w="12700">
            <a:solidFill>
              <a:srgbClr val="0F0F12"/>
            </a:solidFill>
            <a:prstDash val="solid"/>
          </a:ln>
        </p:spPr>
      </p:sp>
      <p:sp>
        <p:nvSpPr>
          <p:cNvPr id="8" name="Text 6"/>
          <p:cNvSpPr/>
          <p:nvPr/>
        </p:nvSpPr>
        <p:spPr>
          <a:xfrm>
            <a:off x="812800" y="2765822"/>
            <a:ext cx="355600"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2B2BFF"/>
                </a:solidFill>
                <a:latin typeface="JetBrains Mono" pitchFamily="49" charset="0"/>
                <a:ea typeface="JetBrains Mono" pitchFamily="49" charset="-122"/>
                <a:cs typeface="JetBrains Mono" pitchFamily="49" charset="-120"/>
              </a:rPr>
              <a:t>02</a:t>
            </a:r>
            <a:endParaRPr lang="en-US" sz="1400" dirty="0"/>
          </a:p>
        </p:txBody>
      </p:sp>
      <p:sp>
        <p:nvSpPr>
          <p:cNvPr id="9" name="Text 7"/>
          <p:cNvSpPr/>
          <p:nvPr/>
        </p:nvSpPr>
        <p:spPr>
          <a:xfrm>
            <a:off x="1295400" y="2765822"/>
            <a:ext cx="6828282" cy="52308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0F0F12"/>
                </a:solidFill>
                <a:latin typeface="Golos Text" pitchFamily="34" charset="0"/>
                <a:ea typeface="Golos Text" pitchFamily="34" charset="-122"/>
                <a:cs typeface="Golos Text" pitchFamily="34" charset="-120"/>
              </a:rPr>
              <a:t>Фрагменты ~40 с</a:t>
            </a:r>
            <a:r>
              <a:rPr lang="en-US" sz="1400" dirty="0">
                <a:solidFill>
                  <a:srgbClr val="0F0F12"/>
                </a:solidFill>
                <a:latin typeface="Golos Text" pitchFamily="34" charset="0"/>
                <a:ea typeface="Golos Text" pitchFamily="34" charset="-122"/>
                <a:cs typeface="Golos Text" pitchFamily="34" charset="-120"/>
              </a:rPr>
              <a:t> с перекрытием — у каждого вектор смысла BGE-M3, 1024 числа.</a:t>
            </a:r>
            <a:endParaRPr lang="en-US" sz="1400" dirty="0"/>
          </a:p>
        </p:txBody>
      </p:sp>
      <p:sp>
        <p:nvSpPr>
          <p:cNvPr id="10" name="Shape 8"/>
          <p:cNvSpPr/>
          <p:nvPr/>
        </p:nvSpPr>
        <p:spPr>
          <a:xfrm>
            <a:off x="812800" y="3396853"/>
            <a:ext cx="7112000" cy="0"/>
          </a:xfrm>
          <a:prstGeom prst="line">
            <a:avLst/>
          </a:prstGeom>
          <a:noFill/>
          <a:ln w="12700">
            <a:solidFill>
              <a:srgbClr val="0F0F12"/>
            </a:solidFill>
            <a:prstDash val="solid"/>
          </a:ln>
        </p:spPr>
      </p:sp>
      <p:sp>
        <p:nvSpPr>
          <p:cNvPr id="11" name="Text 9"/>
          <p:cNvSpPr/>
          <p:nvPr/>
        </p:nvSpPr>
        <p:spPr>
          <a:xfrm>
            <a:off x="812800" y="3504803"/>
            <a:ext cx="355600"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2B2BFF"/>
                </a:solidFill>
                <a:latin typeface="JetBrains Mono" pitchFamily="49" charset="0"/>
                <a:ea typeface="JetBrains Mono" pitchFamily="49" charset="-122"/>
                <a:cs typeface="JetBrains Mono" pitchFamily="49" charset="-120"/>
              </a:rPr>
              <a:t>03</a:t>
            </a:r>
            <a:endParaRPr lang="en-US" sz="1400" dirty="0"/>
          </a:p>
        </p:txBody>
      </p:sp>
      <p:sp>
        <p:nvSpPr>
          <p:cNvPr id="12" name="Text 10"/>
          <p:cNvSpPr/>
          <p:nvPr/>
        </p:nvSpPr>
        <p:spPr>
          <a:xfrm>
            <a:off x="1295400" y="3504803"/>
            <a:ext cx="6828282" cy="52308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0F0F12"/>
                </a:solidFill>
                <a:latin typeface="Golos Text" pitchFamily="34" charset="0"/>
                <a:ea typeface="Golos Text" pitchFamily="34" charset="-122"/>
                <a:cs typeface="Golos Text" pitchFamily="34" charset="-120"/>
              </a:rPr>
              <a:t>Гибридный поиск:</a:t>
            </a:r>
            <a:r>
              <a:rPr lang="en-US" sz="1400" dirty="0">
                <a:solidFill>
                  <a:srgbClr val="0F0F12"/>
                </a:solidFill>
                <a:latin typeface="Golos Text" pitchFamily="34" charset="0"/>
                <a:ea typeface="Golos Text" pitchFamily="34" charset="-122"/>
                <a:cs typeface="Golos Text" pitchFamily="34" charset="-120"/>
              </a:rPr>
              <a:t> векторы (смысл) + полнотекст (точные термины), слияние Reciprocal Rank Fusion.</a:t>
            </a:r>
            <a:endParaRPr lang="en-US" sz="1400" dirty="0"/>
          </a:p>
        </p:txBody>
      </p:sp>
      <p:sp>
        <p:nvSpPr>
          <p:cNvPr id="13" name="Shape 11"/>
          <p:cNvSpPr/>
          <p:nvPr/>
        </p:nvSpPr>
        <p:spPr>
          <a:xfrm>
            <a:off x="812800" y="4135834"/>
            <a:ext cx="7112000" cy="0"/>
          </a:xfrm>
          <a:prstGeom prst="line">
            <a:avLst/>
          </a:prstGeom>
          <a:noFill/>
          <a:ln w="12700">
            <a:solidFill>
              <a:srgbClr val="0F0F12"/>
            </a:solidFill>
            <a:prstDash val="solid"/>
          </a:ln>
        </p:spPr>
      </p:sp>
      <p:sp>
        <p:nvSpPr>
          <p:cNvPr id="14" name="Text 12"/>
          <p:cNvSpPr/>
          <p:nvPr/>
        </p:nvSpPr>
        <p:spPr>
          <a:xfrm>
            <a:off x="812800" y="4243784"/>
            <a:ext cx="355600"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2B2BFF"/>
                </a:solidFill>
                <a:latin typeface="JetBrains Mono" pitchFamily="49" charset="0"/>
                <a:ea typeface="JetBrains Mono" pitchFamily="49" charset="-122"/>
                <a:cs typeface="JetBrains Mono" pitchFamily="49" charset="-120"/>
              </a:rPr>
              <a:t>04</a:t>
            </a:r>
            <a:endParaRPr lang="en-US" sz="1400" dirty="0"/>
          </a:p>
        </p:txBody>
      </p:sp>
      <p:sp>
        <p:nvSpPr>
          <p:cNvPr id="15" name="Text 13"/>
          <p:cNvSpPr/>
          <p:nvPr/>
        </p:nvSpPr>
        <p:spPr>
          <a:xfrm>
            <a:off x="1295400" y="4243784"/>
            <a:ext cx="6828282" cy="52308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0F0F12"/>
                </a:solidFill>
                <a:latin typeface="Golos Text" pitchFamily="34" charset="0"/>
                <a:ea typeface="Golos Text" pitchFamily="34" charset="-122"/>
                <a:cs typeface="Golos Text" pitchFamily="34" charset="-120"/>
              </a:rPr>
              <a:t>Конспект по частям:</a:t>
            </a:r>
            <a:r>
              <a:rPr lang="en-US" sz="1400" dirty="0">
                <a:solidFill>
                  <a:srgbClr val="0F0F12"/>
                </a:solidFill>
                <a:latin typeface="Golos Text" pitchFamily="34" charset="0"/>
                <a:ea typeface="Golos Text" pitchFamily="34" charset="-122"/>
                <a:cs typeface="Golos Text" pitchFamily="34" charset="-120"/>
              </a:rPr>
              <a:t> модель читает лекцию кусками, потом сводит в конспект и оглавление.</a:t>
            </a:r>
            <a:endParaRPr lang="en-US" sz="1400" dirty="0"/>
          </a:p>
        </p:txBody>
      </p:sp>
      <p:sp>
        <p:nvSpPr>
          <p:cNvPr id="16" name="Shape 14"/>
          <p:cNvSpPr/>
          <p:nvPr/>
        </p:nvSpPr>
        <p:spPr>
          <a:xfrm>
            <a:off x="8331200" y="1912541"/>
            <a:ext cx="3048000" cy="3667522"/>
          </a:xfrm>
          <a:prstGeom prst="rect">
            <a:avLst/>
          </a:prstGeom>
          <a:solidFill>
            <a:srgbClr val="F1F1EC"/>
          </a:solidFill>
          <a:ln/>
        </p:spPr>
      </p:sp>
      <p:sp>
        <p:nvSpPr>
          <p:cNvPr id="17" name="Text 15"/>
          <p:cNvSpPr/>
          <p:nvPr/>
        </p:nvSpPr>
        <p:spPr>
          <a:xfrm>
            <a:off x="8534400" y="2115741"/>
            <a:ext cx="2720848"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4A4A50"/>
                </a:solidFill>
                <a:latin typeface="JetBrains Mono" pitchFamily="49" charset="0"/>
                <a:ea typeface="JetBrains Mono" pitchFamily="49" charset="-122"/>
                <a:cs typeface="JetBrains Mono" pitchFamily="49" charset="-120"/>
              </a:rPr>
              <a:t>СТЕК</a:t>
            </a:r>
            <a:endParaRPr lang="en-US" sz="1200" dirty="0"/>
          </a:p>
        </p:txBody>
      </p:sp>
      <p:sp>
        <p:nvSpPr>
          <p:cNvPr id="18" name="Text 16"/>
          <p:cNvSpPr/>
          <p:nvPr/>
        </p:nvSpPr>
        <p:spPr>
          <a:xfrm>
            <a:off x="8534400" y="2417961"/>
            <a:ext cx="2720848" cy="240010"/>
          </a:xfrm>
          <a:prstGeom prst="rect">
            <a:avLst/>
          </a:prstGeom>
          <a:noFill/>
          <a:ln/>
        </p:spPr>
        <p:txBody>
          <a:bodyPr wrap="square" lIns="0" tIns="0" rIns="0" bIns="0" rtlCol="0" anchor="t">
            <a:normAutofit/>
          </a:bodyPr>
          <a:lstStyle/>
          <a:p>
            <a:pPr algn="l" indent="0" marL="0">
              <a:lnSpc>
                <a:spcPts val="1690"/>
              </a:lnSpc>
              <a:buNone/>
            </a:pPr>
            <a:r>
              <a:rPr lang="en-US" sz="1300" b="1" dirty="0">
                <a:solidFill>
                  <a:srgbClr val="0F0F12"/>
                </a:solidFill>
                <a:latin typeface="Golos Text" pitchFamily="34" charset="0"/>
                <a:ea typeface="Golos Text" pitchFamily="34" charset="-122"/>
                <a:cs typeface="Golos Text" pitchFamily="34" charset="-120"/>
              </a:rPr>
              <a:t>FastAPI</a:t>
            </a:r>
            <a:r>
              <a:rPr lang="en-US" sz="1300" dirty="0">
                <a:solidFill>
                  <a:srgbClr val="0F0F12"/>
                </a:solidFill>
                <a:latin typeface="Golos Text" pitchFamily="34" charset="0"/>
                <a:ea typeface="Golos Text" pitchFamily="34" charset="-122"/>
                <a:cs typeface="Golos Text" pitchFamily="34" charset="-120"/>
              </a:rPr>
              <a:t>, async SQLAlchemy</a:t>
            </a:r>
            <a:endParaRPr lang="en-US" sz="1300" dirty="0"/>
          </a:p>
        </p:txBody>
      </p:sp>
      <p:sp>
        <p:nvSpPr>
          <p:cNvPr id="19" name="Text 17"/>
          <p:cNvSpPr/>
          <p:nvPr/>
        </p:nvSpPr>
        <p:spPr>
          <a:xfrm>
            <a:off x="8534400" y="2721471"/>
            <a:ext cx="2720848" cy="240010"/>
          </a:xfrm>
          <a:prstGeom prst="rect">
            <a:avLst/>
          </a:prstGeom>
          <a:noFill/>
          <a:ln/>
        </p:spPr>
        <p:txBody>
          <a:bodyPr wrap="square" lIns="0" tIns="0" rIns="0" bIns="0" rtlCol="0" anchor="t">
            <a:normAutofit/>
          </a:bodyPr>
          <a:lstStyle/>
          <a:p>
            <a:pPr algn="l" indent="0" marL="0">
              <a:lnSpc>
                <a:spcPts val="1690"/>
              </a:lnSpc>
              <a:buNone/>
            </a:pPr>
            <a:r>
              <a:rPr lang="en-US" sz="1300" b="1" dirty="0">
                <a:solidFill>
                  <a:srgbClr val="0F0F12"/>
                </a:solidFill>
                <a:latin typeface="Golos Text" pitchFamily="34" charset="0"/>
                <a:ea typeface="Golos Text" pitchFamily="34" charset="-122"/>
                <a:cs typeface="Golos Text" pitchFamily="34" charset="-120"/>
              </a:rPr>
              <a:t>PostgreSQL</a:t>
            </a:r>
            <a:r>
              <a:rPr lang="en-US" sz="1300" dirty="0">
                <a:solidFill>
                  <a:srgbClr val="0F0F12"/>
                </a:solidFill>
                <a:latin typeface="Golos Text" pitchFamily="34" charset="0"/>
                <a:ea typeface="Golos Text" pitchFamily="34" charset="-122"/>
                <a:cs typeface="Golos Text" pitchFamily="34" charset="-120"/>
              </a:rPr>
              <a:t> + pgvector</a:t>
            </a:r>
            <a:endParaRPr lang="en-US" sz="1300" dirty="0"/>
          </a:p>
        </p:txBody>
      </p:sp>
      <p:sp>
        <p:nvSpPr>
          <p:cNvPr id="20" name="Text 18"/>
          <p:cNvSpPr/>
          <p:nvPr/>
        </p:nvSpPr>
        <p:spPr>
          <a:xfrm>
            <a:off x="8534400" y="3024981"/>
            <a:ext cx="2720848" cy="240010"/>
          </a:xfrm>
          <a:prstGeom prst="rect">
            <a:avLst/>
          </a:prstGeom>
          <a:noFill/>
          <a:ln/>
        </p:spPr>
        <p:txBody>
          <a:bodyPr wrap="square" lIns="0" tIns="0" rIns="0" bIns="0" rtlCol="0" anchor="t">
            <a:normAutofit/>
          </a:bodyPr>
          <a:lstStyle/>
          <a:p>
            <a:pPr algn="l" indent="0" marL="0">
              <a:lnSpc>
                <a:spcPts val="1690"/>
              </a:lnSpc>
              <a:buNone/>
            </a:pPr>
            <a:r>
              <a:rPr lang="en-US" sz="1300" b="1" dirty="0">
                <a:solidFill>
                  <a:srgbClr val="0F0F12"/>
                </a:solidFill>
                <a:latin typeface="Golos Text" pitchFamily="34" charset="0"/>
                <a:ea typeface="Golos Text" pitchFamily="34" charset="-122"/>
                <a:cs typeface="Golos Text" pitchFamily="34" charset="-120"/>
              </a:rPr>
              <a:t>Redis</a:t>
            </a:r>
            <a:r>
              <a:rPr lang="en-US" sz="1300" dirty="0">
                <a:solidFill>
                  <a:srgbClr val="0F0F12"/>
                </a:solidFill>
                <a:latin typeface="Golos Text" pitchFamily="34" charset="0"/>
                <a:ea typeface="Golos Text" pitchFamily="34" charset="-122"/>
                <a:cs typeface="Golos Text" pitchFamily="34" charset="-120"/>
              </a:rPr>
              <a:t>, </a:t>
            </a:r>
            <a:r>
              <a:rPr lang="en-US" sz="1300" b="1" dirty="0">
                <a:solidFill>
                  <a:srgbClr val="0F0F12"/>
                </a:solidFill>
                <a:latin typeface="Golos Text" pitchFamily="34" charset="0"/>
                <a:ea typeface="Golos Text" pitchFamily="34" charset="-122"/>
                <a:cs typeface="Golos Text" pitchFamily="34" charset="-120"/>
              </a:rPr>
              <a:t>MinIO</a:t>
            </a:r>
            <a:endParaRPr lang="en-US" sz="1300" dirty="0"/>
          </a:p>
        </p:txBody>
      </p:sp>
      <p:sp>
        <p:nvSpPr>
          <p:cNvPr id="21" name="Text 19"/>
          <p:cNvSpPr/>
          <p:nvPr/>
        </p:nvSpPr>
        <p:spPr>
          <a:xfrm>
            <a:off x="8534400" y="3328491"/>
            <a:ext cx="2720848" cy="240010"/>
          </a:xfrm>
          <a:prstGeom prst="rect">
            <a:avLst/>
          </a:prstGeom>
          <a:noFill/>
          <a:ln/>
        </p:spPr>
        <p:txBody>
          <a:bodyPr wrap="square" lIns="0" tIns="0" rIns="0" bIns="0" rtlCol="0" anchor="t">
            <a:normAutofit/>
          </a:bodyPr>
          <a:lstStyle/>
          <a:p>
            <a:pPr algn="l" indent="0" marL="0">
              <a:lnSpc>
                <a:spcPts val="1690"/>
              </a:lnSpc>
              <a:buNone/>
            </a:pPr>
            <a:r>
              <a:rPr lang="en-US" sz="1300" b="1" dirty="0">
                <a:solidFill>
                  <a:srgbClr val="0F0F12"/>
                </a:solidFill>
                <a:latin typeface="Golos Text" pitchFamily="34" charset="0"/>
                <a:ea typeface="Golos Text" pitchFamily="34" charset="-122"/>
                <a:cs typeface="Golos Text" pitchFamily="34" charset="-120"/>
              </a:rPr>
              <a:t>faster-whisper</a:t>
            </a:r>
            <a:r>
              <a:rPr lang="en-US" sz="1300" dirty="0">
                <a:solidFill>
                  <a:srgbClr val="0F0F12"/>
                </a:solidFill>
                <a:latin typeface="Golos Text" pitchFamily="34" charset="0"/>
                <a:ea typeface="Golos Text" pitchFamily="34" charset="-122"/>
                <a:cs typeface="Golos Text" pitchFamily="34" charset="-120"/>
              </a:rPr>
              <a:t> turbo</a:t>
            </a:r>
            <a:endParaRPr lang="en-US" sz="1300" dirty="0"/>
          </a:p>
        </p:txBody>
      </p:sp>
      <p:sp>
        <p:nvSpPr>
          <p:cNvPr id="22" name="Text 20"/>
          <p:cNvSpPr/>
          <p:nvPr/>
        </p:nvSpPr>
        <p:spPr>
          <a:xfrm>
            <a:off x="8534400" y="3632002"/>
            <a:ext cx="2720848" cy="240010"/>
          </a:xfrm>
          <a:prstGeom prst="rect">
            <a:avLst/>
          </a:prstGeom>
          <a:noFill/>
          <a:ln/>
        </p:spPr>
        <p:txBody>
          <a:bodyPr wrap="square" lIns="0" tIns="0" rIns="0" bIns="0" rtlCol="0" anchor="t">
            <a:normAutofit/>
          </a:bodyPr>
          <a:lstStyle/>
          <a:p>
            <a:pPr algn="l" indent="0" marL="0">
              <a:lnSpc>
                <a:spcPts val="1690"/>
              </a:lnSpc>
              <a:buNone/>
            </a:pPr>
            <a:r>
              <a:rPr lang="en-US" sz="1300" b="1" dirty="0">
                <a:solidFill>
                  <a:srgbClr val="0F0F12"/>
                </a:solidFill>
                <a:latin typeface="Golos Text" pitchFamily="34" charset="0"/>
                <a:ea typeface="Golos Text" pitchFamily="34" charset="-122"/>
                <a:cs typeface="Golos Text" pitchFamily="34" charset="-120"/>
              </a:rPr>
              <a:t>BGE-M3</a:t>
            </a:r>
            <a:r>
              <a:rPr lang="en-US" sz="1300" dirty="0">
                <a:solidFill>
                  <a:srgbClr val="0F0F12"/>
                </a:solidFill>
                <a:latin typeface="Golos Text" pitchFamily="34" charset="0"/>
                <a:ea typeface="Golos Text" pitchFamily="34" charset="-122"/>
                <a:cs typeface="Golos Text" pitchFamily="34" charset="-120"/>
              </a:rPr>
              <a:t> эмбеддинги</a:t>
            </a:r>
            <a:endParaRPr lang="en-US" sz="1300" dirty="0"/>
          </a:p>
        </p:txBody>
      </p:sp>
      <p:sp>
        <p:nvSpPr>
          <p:cNvPr id="23" name="Text 21"/>
          <p:cNvSpPr/>
          <p:nvPr/>
        </p:nvSpPr>
        <p:spPr>
          <a:xfrm>
            <a:off x="8534400" y="3935512"/>
            <a:ext cx="2720848" cy="240010"/>
          </a:xfrm>
          <a:prstGeom prst="rect">
            <a:avLst/>
          </a:prstGeom>
          <a:noFill/>
          <a:ln/>
        </p:spPr>
        <p:txBody>
          <a:bodyPr wrap="square" lIns="0" tIns="0" rIns="0" bIns="0" rtlCol="0" anchor="t">
            <a:normAutofit/>
          </a:bodyPr>
          <a:lstStyle/>
          <a:p>
            <a:pPr algn="l" indent="0" marL="0">
              <a:lnSpc>
                <a:spcPts val="1690"/>
              </a:lnSpc>
              <a:buNone/>
            </a:pPr>
            <a:r>
              <a:rPr lang="en-US" sz="1300" b="1" dirty="0">
                <a:solidFill>
                  <a:srgbClr val="0F0F12"/>
                </a:solidFill>
                <a:latin typeface="Golos Text" pitchFamily="34" charset="0"/>
                <a:ea typeface="Golos Text" pitchFamily="34" charset="-122"/>
                <a:cs typeface="Golos Text" pitchFamily="34" charset="-120"/>
              </a:rPr>
              <a:t>Qwen3 4B</a:t>
            </a:r>
            <a:r>
              <a:rPr lang="en-US" sz="1300" dirty="0">
                <a:solidFill>
                  <a:srgbClr val="0F0F12"/>
                </a:solidFill>
                <a:latin typeface="Golos Text" pitchFamily="34" charset="0"/>
                <a:ea typeface="Golos Text" pitchFamily="34" charset="-122"/>
                <a:cs typeface="Golos Text" pitchFamily="34" charset="-120"/>
              </a:rPr>
              <a:t> в Ollama</a:t>
            </a:r>
            <a:endParaRPr lang="en-US" sz="1300" dirty="0"/>
          </a:p>
        </p:txBody>
      </p:sp>
      <p:sp>
        <p:nvSpPr>
          <p:cNvPr id="24" name="Text 22"/>
          <p:cNvSpPr/>
          <p:nvPr/>
        </p:nvSpPr>
        <p:spPr>
          <a:xfrm>
            <a:off x="8534400" y="4239022"/>
            <a:ext cx="2720848" cy="240010"/>
          </a:xfrm>
          <a:prstGeom prst="rect">
            <a:avLst/>
          </a:prstGeom>
          <a:noFill/>
          <a:ln/>
        </p:spPr>
        <p:txBody>
          <a:bodyPr wrap="square" lIns="0" tIns="0" rIns="0" bIns="0" rtlCol="0" anchor="t">
            <a:normAutofit/>
          </a:bodyPr>
          <a:lstStyle/>
          <a:p>
            <a:pPr algn="l" indent="0" marL="0">
              <a:lnSpc>
                <a:spcPts val="1690"/>
              </a:lnSpc>
              <a:buNone/>
            </a:pPr>
            <a:r>
              <a:rPr lang="en-US" sz="1300" b="1" dirty="0">
                <a:solidFill>
                  <a:srgbClr val="0F0F12"/>
                </a:solidFill>
                <a:latin typeface="Golos Text" pitchFamily="34" charset="0"/>
                <a:ea typeface="Golos Text" pitchFamily="34" charset="-122"/>
                <a:cs typeface="Golos Text" pitchFamily="34" charset="-120"/>
              </a:rPr>
              <a:t>React 19</a:t>
            </a:r>
            <a:r>
              <a:rPr lang="en-US" sz="1300" dirty="0">
                <a:solidFill>
                  <a:srgbClr val="0F0F12"/>
                </a:solidFill>
                <a:latin typeface="Golos Text" pitchFamily="34" charset="0"/>
                <a:ea typeface="Golos Text" pitchFamily="34" charset="-122"/>
                <a:cs typeface="Golos Text" pitchFamily="34" charset="-120"/>
              </a:rPr>
              <a:t>, TypeScript</a:t>
            </a:r>
            <a:endParaRPr lang="en-US" sz="1300" dirty="0"/>
          </a:p>
        </p:txBody>
      </p:sp>
      <p:sp>
        <p:nvSpPr>
          <p:cNvPr id="25" name="Text 23"/>
          <p:cNvSpPr/>
          <p:nvPr/>
        </p:nvSpPr>
        <p:spPr>
          <a:xfrm>
            <a:off x="8534400" y="4542532"/>
            <a:ext cx="2720848" cy="240010"/>
          </a:xfrm>
          <a:prstGeom prst="rect">
            <a:avLst/>
          </a:prstGeom>
          <a:noFill/>
          <a:ln/>
        </p:spPr>
        <p:txBody>
          <a:bodyPr wrap="square" lIns="0" tIns="0" rIns="0" bIns="0" rtlCol="0" anchor="t">
            <a:normAutofit/>
          </a:bodyPr>
          <a:lstStyle/>
          <a:p>
            <a:pPr algn="l" indent="0" marL="0">
              <a:lnSpc>
                <a:spcPts val="1690"/>
              </a:lnSpc>
              <a:buNone/>
            </a:pPr>
            <a:r>
              <a:rPr lang="en-US" sz="1300" b="1" dirty="0">
                <a:solidFill>
                  <a:srgbClr val="0F0F12"/>
                </a:solidFill>
                <a:latin typeface="Golos Text" pitchFamily="34" charset="0"/>
                <a:ea typeface="Golos Text" pitchFamily="34" charset="-122"/>
                <a:cs typeface="Golos Text" pitchFamily="34" charset="-120"/>
              </a:rPr>
              <a:t>aiogram</a:t>
            </a:r>
            <a:r>
              <a:rPr lang="en-US" sz="1300" dirty="0">
                <a:solidFill>
                  <a:srgbClr val="0F0F12"/>
                </a:solidFill>
                <a:latin typeface="Golos Text" pitchFamily="34" charset="0"/>
                <a:ea typeface="Golos Text" pitchFamily="34" charset="-122"/>
                <a:cs typeface="Golos Text" pitchFamily="34" charset="-120"/>
              </a:rPr>
              <a:t> — Telegram-бот</a:t>
            </a:r>
            <a:endParaRPr lang="en-US" sz="1300" dirty="0"/>
          </a:p>
        </p:txBody>
      </p:sp>
      <p:sp>
        <p:nvSpPr>
          <p:cNvPr id="26" name="Shape 24"/>
          <p:cNvSpPr/>
          <p:nvPr/>
        </p:nvSpPr>
        <p:spPr>
          <a:xfrm>
            <a:off x="8534400" y="4852392"/>
            <a:ext cx="2641600" cy="0"/>
          </a:xfrm>
          <a:prstGeom prst="line">
            <a:avLst/>
          </a:prstGeom>
          <a:noFill/>
          <a:ln w="12700">
            <a:solidFill>
              <a:srgbClr val="0F0F12"/>
            </a:solidFill>
            <a:prstDash val="solid"/>
          </a:ln>
        </p:spPr>
      </p:sp>
      <p:sp>
        <p:nvSpPr>
          <p:cNvPr id="27" name="Text 25"/>
          <p:cNvSpPr/>
          <p:nvPr/>
        </p:nvSpPr>
        <p:spPr>
          <a:xfrm>
            <a:off x="8534400" y="4947642"/>
            <a:ext cx="2720848" cy="454620"/>
          </a:xfrm>
          <a:prstGeom prst="rect">
            <a:avLst/>
          </a:prstGeom>
          <a:noFill/>
          <a:ln/>
        </p:spPr>
        <p:txBody>
          <a:bodyPr wrap="square" lIns="0" tIns="0" rIns="0" bIns="0" rtlCol="0" anchor="t">
            <a:normAutofit/>
          </a:bodyPr>
          <a:lstStyle/>
          <a:p>
            <a:pPr algn="l" indent="0" marL="0">
              <a:lnSpc>
                <a:spcPts val="1690"/>
              </a:lnSpc>
              <a:buNone/>
            </a:pPr>
            <a:r>
              <a:rPr lang="en-US" sz="1300" b="1" dirty="0">
                <a:solidFill>
                  <a:srgbClr val="0F0F12"/>
                </a:solidFill>
                <a:latin typeface="Golos Text" pitchFamily="34" charset="0"/>
                <a:ea typeface="Golos Text" pitchFamily="34" charset="-122"/>
                <a:cs typeface="Golos Text" pitchFamily="34" charset="-120"/>
              </a:rPr>
              <a:t>55 тестов</a:t>
            </a:r>
            <a:r>
              <a:rPr lang="en-US" sz="1300" dirty="0">
                <a:solidFill>
                  <a:srgbClr val="0F0F12"/>
                </a:solidFill>
                <a:latin typeface="Golos Text" pitchFamily="34" charset="0"/>
                <a:ea typeface="Golos Text" pitchFamily="34" charset="-122"/>
                <a:cs typeface="Golos Text" pitchFamily="34" charset="-120"/>
              </a:rPr>
              <a:t> pytest на живых Postgres, Redis, MinIO</a:t>
            </a:r>
            <a:endParaRPr lang="en-US" sz="1300" dirty="0"/>
          </a:p>
        </p:txBody>
      </p:sp>
      <p:sp>
        <p:nvSpPr>
          <p:cNvPr id="28" name="Text 26"/>
          <p:cNvSpPr/>
          <p:nvPr/>
        </p:nvSpPr>
        <p:spPr>
          <a:xfrm>
            <a:off x="812800" y="6238280"/>
            <a:ext cx="2999303"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6B6B70"/>
                </a:solidFill>
                <a:latin typeface="JetBrains Mono" pitchFamily="49" charset="0"/>
                <a:ea typeface="JetBrains Mono" pitchFamily="49" charset="-122"/>
                <a:cs typeface="JetBrains Mono" pitchFamily="49" charset="-120"/>
              </a:rPr>
              <a:t>LECTIO · КИБЕРРЫВОК 2026</a:t>
            </a:r>
            <a:endParaRPr lang="en-US" sz="1200" dirty="0"/>
          </a:p>
        </p:txBody>
      </p:sp>
      <p:sp>
        <p:nvSpPr>
          <p:cNvPr id="29" name="Text 27"/>
          <p:cNvSpPr/>
          <p:nvPr/>
        </p:nvSpPr>
        <p:spPr>
          <a:xfrm>
            <a:off x="11145441" y="6238280"/>
            <a:ext cx="233759"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B70"/>
                </a:solidFill>
                <a:latin typeface="JetBrains Mono" pitchFamily="49" charset="0"/>
                <a:ea typeface="JetBrains Mono" pitchFamily="49" charset="-122"/>
                <a:cs typeface="JetBrains Mono" pitchFamily="49" charset="-120"/>
              </a:rPr>
              <a:t>05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1F1EC"/>
        </a:solidFill>
      </p:bgPr>
    </p:bg>
    <p:spTree>
      <p:nvGrpSpPr>
        <p:cNvPr id="1" name=""/>
        <p:cNvGrpSpPr/>
        <p:nvPr/>
      </p:nvGrpSpPr>
      <p:grpSpPr>
        <a:xfrm>
          <a:off x="0" y="0"/>
          <a:ext cx="0" cy="0"/>
          <a:chOff x="0" y="0"/>
          <a:chExt cx="0" cy="0"/>
        </a:xfrm>
      </p:grpSpPr>
      <p:sp>
        <p:nvSpPr>
          <p:cNvPr id="2" name="Text 0"/>
          <p:cNvSpPr/>
          <p:nvPr/>
        </p:nvSpPr>
        <p:spPr>
          <a:xfrm>
            <a:off x="812800" y="812800"/>
            <a:ext cx="10883392" cy="236934"/>
          </a:xfrm>
          <a:prstGeom prst="rect">
            <a:avLst/>
          </a:prstGeom>
          <a:noFill/>
          <a:ln/>
        </p:spPr>
        <p:txBody>
          <a:bodyPr wrap="square" lIns="0" tIns="0" rIns="0" bIns="0" rtlCol="0" anchor="t">
            <a:normAutofit/>
          </a:bodyPr>
          <a:lstStyle/>
          <a:p>
            <a:pPr algn="l" indent="0" marL="0">
              <a:lnSpc>
                <a:spcPts val="1675"/>
              </a:lnSpc>
              <a:buNone/>
            </a:pPr>
            <a:r>
              <a:rPr lang="en-US" sz="1196" spc="200" kern="0" dirty="0">
                <a:solidFill>
                  <a:srgbClr val="2B2BFF"/>
                </a:solidFill>
                <a:latin typeface="JetBrains Mono" pitchFamily="49" charset="0"/>
                <a:ea typeface="JetBrains Mono" pitchFamily="49" charset="-122"/>
                <a:cs typeface="JetBrains Mono" pitchFamily="49" charset="-120"/>
              </a:rPr>
              <a:t>ДЕМОНСТРАЦИЯ MVP</a:t>
            </a:r>
            <a:endParaRPr lang="en-US" sz="1196" dirty="0"/>
          </a:p>
        </p:txBody>
      </p:sp>
      <p:sp>
        <p:nvSpPr>
          <p:cNvPr id="3" name="Text 1"/>
          <p:cNvSpPr/>
          <p:nvPr>
            <p:ph type="title"/>
          </p:nvPr>
        </p:nvSpPr>
        <p:spPr>
          <a:xfrm>
            <a:off x="812800" y="1176734"/>
            <a:ext cx="10883392" cy="501452"/>
          </a:xfrm>
          <a:prstGeom prst="rect">
            <a:avLst/>
          </a:prstGeom>
          <a:noFill/>
          <a:ln/>
        </p:spPr>
        <p:txBody>
          <a:bodyPr wrap="square" lIns="0" tIns="0" rIns="0" bIns="0" rtlCol="0" anchor="t">
            <a:normAutofit/>
          </a:bodyPr>
          <a:lstStyle/>
          <a:p>
            <a:pPr algn="l" indent="0" marL="0">
              <a:lnSpc>
                <a:spcPts val="3768"/>
              </a:lnSpc>
              <a:buNone/>
            </a:pPr>
            <a:r>
              <a:rPr lang="en-US" sz="3589" b="1" i="0" spc="-150" kern="0" dirty="0">
                <a:solidFill>
                  <a:srgbClr val="0F0F12"/>
                </a:solidFill>
                <a:latin typeface="Inter Tight" pitchFamily="34" charset="0"/>
                <a:ea typeface="Inter Tight" pitchFamily="34" charset="-122"/>
                <a:cs typeface="Inter Tight" pitchFamily="34" charset="-120"/>
              </a:rPr>
              <a:t>Пять пунктов ТЗ — вживую</a:t>
            </a:r>
            <a:endParaRPr lang="en-US" sz="3589" dirty="0"/>
          </a:p>
        </p:txBody>
      </p:sp>
      <p:sp>
        <p:nvSpPr>
          <p:cNvPr id="4" name="Shape 2"/>
          <p:cNvSpPr/>
          <p:nvPr/>
        </p:nvSpPr>
        <p:spPr>
          <a:xfrm>
            <a:off x="812800" y="1913136"/>
            <a:ext cx="3302000" cy="0"/>
          </a:xfrm>
          <a:prstGeom prst="line">
            <a:avLst/>
          </a:prstGeom>
          <a:noFill/>
          <a:ln w="12700">
            <a:solidFill>
              <a:srgbClr val="0F0F12"/>
            </a:solidFill>
            <a:prstDash val="solid"/>
          </a:ln>
        </p:spPr>
      </p:sp>
      <p:sp>
        <p:nvSpPr>
          <p:cNvPr id="5" name="Text 3"/>
          <p:cNvSpPr/>
          <p:nvPr/>
        </p:nvSpPr>
        <p:spPr>
          <a:xfrm>
            <a:off x="812800" y="2008386"/>
            <a:ext cx="157559"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2B2BFF"/>
                </a:solidFill>
                <a:latin typeface="JetBrains Mono" pitchFamily="49" charset="0"/>
                <a:ea typeface="JetBrains Mono" pitchFamily="49" charset="-122"/>
                <a:cs typeface="JetBrains Mono" pitchFamily="49" charset="-120"/>
              </a:rPr>
              <a:t>1</a:t>
            </a:r>
            <a:endParaRPr lang="en-US" sz="1400" dirty="0"/>
          </a:p>
        </p:txBody>
      </p:sp>
      <p:sp>
        <p:nvSpPr>
          <p:cNvPr id="6" name="Text 4"/>
          <p:cNvSpPr/>
          <p:nvPr/>
        </p:nvSpPr>
        <p:spPr>
          <a:xfrm>
            <a:off x="1046559" y="2008386"/>
            <a:ext cx="3068241" cy="274241"/>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0F0F12"/>
                </a:solidFill>
                <a:latin typeface="Golos Text" pitchFamily="34" charset="0"/>
                <a:ea typeface="Golos Text" pitchFamily="34" charset="-122"/>
                <a:cs typeface="Golos Text" pitchFamily="34" charset="-120"/>
              </a:rPr>
              <a:t>Загрузка файлом или по ссылке</a:t>
            </a:r>
            <a:endParaRPr lang="en-US" sz="1400" dirty="0"/>
          </a:p>
        </p:txBody>
      </p:sp>
      <p:sp>
        <p:nvSpPr>
          <p:cNvPr id="7" name="Shape 5"/>
          <p:cNvSpPr/>
          <p:nvPr/>
        </p:nvSpPr>
        <p:spPr>
          <a:xfrm>
            <a:off x="812800" y="2352477"/>
            <a:ext cx="3302000" cy="0"/>
          </a:xfrm>
          <a:prstGeom prst="line">
            <a:avLst/>
          </a:prstGeom>
          <a:noFill/>
          <a:ln w="12700">
            <a:solidFill>
              <a:srgbClr val="0F0F12"/>
            </a:solidFill>
            <a:prstDash val="solid"/>
          </a:ln>
        </p:spPr>
      </p:sp>
      <p:sp>
        <p:nvSpPr>
          <p:cNvPr id="8" name="Text 6"/>
          <p:cNvSpPr/>
          <p:nvPr/>
        </p:nvSpPr>
        <p:spPr>
          <a:xfrm>
            <a:off x="812800" y="2447727"/>
            <a:ext cx="150515" cy="48756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2B2BFF"/>
                </a:solidFill>
                <a:latin typeface="JetBrains Mono" pitchFamily="49" charset="0"/>
                <a:ea typeface="JetBrains Mono" pitchFamily="49" charset="-122"/>
                <a:cs typeface="JetBrains Mono" pitchFamily="49" charset="-120"/>
              </a:rPr>
              <a:t>2</a:t>
            </a:r>
            <a:endParaRPr lang="en-US" sz="1400" dirty="0"/>
          </a:p>
        </p:txBody>
      </p:sp>
      <p:sp>
        <p:nvSpPr>
          <p:cNvPr id="9" name="Text 7"/>
          <p:cNvSpPr/>
          <p:nvPr/>
        </p:nvSpPr>
        <p:spPr>
          <a:xfrm>
            <a:off x="1039515" y="2447727"/>
            <a:ext cx="3167544" cy="487561"/>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0F0F12"/>
                </a:solidFill>
                <a:latin typeface="Golos Text" pitchFamily="34" charset="0"/>
                <a:ea typeface="Golos Text" pitchFamily="34" charset="-122"/>
                <a:cs typeface="Golos Text" pitchFamily="34" charset="-120"/>
              </a:rPr>
              <a:t>Расшифровка и индекс с таймкодами</a:t>
            </a:r>
            <a:endParaRPr lang="en-US" sz="1400" dirty="0"/>
          </a:p>
        </p:txBody>
      </p:sp>
      <p:sp>
        <p:nvSpPr>
          <p:cNvPr id="10" name="Shape 8"/>
          <p:cNvSpPr/>
          <p:nvPr/>
        </p:nvSpPr>
        <p:spPr>
          <a:xfrm>
            <a:off x="812800" y="3005138"/>
            <a:ext cx="3302000" cy="0"/>
          </a:xfrm>
          <a:prstGeom prst="line">
            <a:avLst/>
          </a:prstGeom>
          <a:noFill/>
          <a:ln w="12700">
            <a:solidFill>
              <a:srgbClr val="0F0F12"/>
            </a:solidFill>
            <a:prstDash val="solid"/>
          </a:ln>
        </p:spPr>
      </p:sp>
      <p:sp>
        <p:nvSpPr>
          <p:cNvPr id="11" name="Text 9"/>
          <p:cNvSpPr/>
          <p:nvPr/>
        </p:nvSpPr>
        <p:spPr>
          <a:xfrm>
            <a:off x="812800" y="3100388"/>
            <a:ext cx="147141" cy="48756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2B2BFF"/>
                </a:solidFill>
                <a:latin typeface="JetBrains Mono" pitchFamily="49" charset="0"/>
                <a:ea typeface="JetBrains Mono" pitchFamily="49" charset="-122"/>
                <a:cs typeface="JetBrains Mono" pitchFamily="49" charset="-120"/>
              </a:rPr>
              <a:t>3</a:t>
            </a:r>
            <a:endParaRPr lang="en-US" sz="1400" dirty="0"/>
          </a:p>
        </p:txBody>
      </p:sp>
      <p:sp>
        <p:nvSpPr>
          <p:cNvPr id="12" name="Text 10"/>
          <p:cNvSpPr/>
          <p:nvPr/>
        </p:nvSpPr>
        <p:spPr>
          <a:xfrm>
            <a:off x="1036141" y="3100388"/>
            <a:ext cx="3171018" cy="487561"/>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0F0F12"/>
                </a:solidFill>
                <a:latin typeface="Golos Text" pitchFamily="34" charset="0"/>
                <a:ea typeface="Golos Text" pitchFamily="34" charset="-122"/>
                <a:cs typeface="Golos Text" pitchFamily="34" charset="-120"/>
              </a:rPr>
              <a:t>Поиск по смыслу → переход к секунде</a:t>
            </a:r>
            <a:endParaRPr lang="en-US" sz="1400" dirty="0"/>
          </a:p>
        </p:txBody>
      </p:sp>
      <p:sp>
        <p:nvSpPr>
          <p:cNvPr id="13" name="Shape 11"/>
          <p:cNvSpPr/>
          <p:nvPr/>
        </p:nvSpPr>
        <p:spPr>
          <a:xfrm>
            <a:off x="812800" y="3657798"/>
            <a:ext cx="3302000" cy="0"/>
          </a:xfrm>
          <a:prstGeom prst="line">
            <a:avLst/>
          </a:prstGeom>
          <a:noFill/>
          <a:ln w="12700">
            <a:solidFill>
              <a:srgbClr val="0F0F12"/>
            </a:solidFill>
            <a:prstDash val="solid"/>
          </a:ln>
        </p:spPr>
      </p:sp>
      <p:sp>
        <p:nvSpPr>
          <p:cNvPr id="14" name="Text 12"/>
          <p:cNvSpPr/>
          <p:nvPr/>
        </p:nvSpPr>
        <p:spPr>
          <a:xfrm>
            <a:off x="812800" y="3753048"/>
            <a:ext cx="157559"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2B2BFF"/>
                </a:solidFill>
                <a:latin typeface="JetBrains Mono" pitchFamily="49" charset="0"/>
                <a:ea typeface="JetBrains Mono" pitchFamily="49" charset="-122"/>
                <a:cs typeface="JetBrains Mono" pitchFamily="49" charset="-120"/>
              </a:rPr>
              <a:t>4</a:t>
            </a:r>
            <a:endParaRPr lang="en-US" sz="1400" dirty="0"/>
          </a:p>
        </p:txBody>
      </p:sp>
      <p:sp>
        <p:nvSpPr>
          <p:cNvPr id="15" name="Text 13"/>
          <p:cNvSpPr/>
          <p:nvPr/>
        </p:nvSpPr>
        <p:spPr>
          <a:xfrm>
            <a:off x="1046559" y="3753048"/>
            <a:ext cx="3068241" cy="274241"/>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0F0F12"/>
                </a:solidFill>
                <a:latin typeface="Golos Text" pitchFamily="34" charset="0"/>
                <a:ea typeface="Golos Text" pitchFamily="34" charset="-122"/>
                <a:cs typeface="Golos Text" pitchFamily="34" charset="-120"/>
              </a:rPr>
              <a:t>Плеер: субтитры, клик по тексту</a:t>
            </a:r>
            <a:endParaRPr lang="en-US" sz="1400" dirty="0"/>
          </a:p>
        </p:txBody>
      </p:sp>
      <p:sp>
        <p:nvSpPr>
          <p:cNvPr id="16" name="Shape 14"/>
          <p:cNvSpPr/>
          <p:nvPr/>
        </p:nvSpPr>
        <p:spPr>
          <a:xfrm>
            <a:off x="812800" y="4097139"/>
            <a:ext cx="3302000" cy="0"/>
          </a:xfrm>
          <a:prstGeom prst="line">
            <a:avLst/>
          </a:prstGeom>
          <a:noFill/>
          <a:ln w="12700">
            <a:solidFill>
              <a:srgbClr val="0F0F12"/>
            </a:solidFill>
            <a:prstDash val="solid"/>
          </a:ln>
        </p:spPr>
      </p:sp>
      <p:sp>
        <p:nvSpPr>
          <p:cNvPr id="17" name="Text 15"/>
          <p:cNvSpPr/>
          <p:nvPr/>
        </p:nvSpPr>
        <p:spPr>
          <a:xfrm>
            <a:off x="812800" y="4192389"/>
            <a:ext cx="157559"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2B2BFF"/>
                </a:solidFill>
                <a:latin typeface="JetBrains Mono" pitchFamily="49" charset="0"/>
                <a:ea typeface="JetBrains Mono" pitchFamily="49" charset="-122"/>
                <a:cs typeface="JetBrains Mono" pitchFamily="49" charset="-120"/>
              </a:rPr>
              <a:t>5</a:t>
            </a:r>
            <a:endParaRPr lang="en-US" sz="1400" dirty="0"/>
          </a:p>
        </p:txBody>
      </p:sp>
      <p:sp>
        <p:nvSpPr>
          <p:cNvPr id="18" name="Text 16"/>
          <p:cNvSpPr/>
          <p:nvPr/>
        </p:nvSpPr>
        <p:spPr>
          <a:xfrm>
            <a:off x="1046559" y="4192389"/>
            <a:ext cx="2451616" cy="274241"/>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0F0F12"/>
                </a:solidFill>
                <a:latin typeface="Golos Text" pitchFamily="34" charset="0"/>
                <a:ea typeface="Golos Text" pitchFamily="34" charset="-122"/>
                <a:cs typeface="Golos Text" pitchFamily="34" charset="-120"/>
              </a:rPr>
              <a:t>Конспект и оглавление</a:t>
            </a:r>
            <a:endParaRPr lang="en-US" sz="1400" dirty="0"/>
          </a:p>
        </p:txBody>
      </p:sp>
      <p:sp>
        <p:nvSpPr>
          <p:cNvPr id="19" name="Shape 17"/>
          <p:cNvSpPr/>
          <p:nvPr/>
        </p:nvSpPr>
        <p:spPr>
          <a:xfrm>
            <a:off x="812800" y="4536480"/>
            <a:ext cx="3302000" cy="0"/>
          </a:xfrm>
          <a:prstGeom prst="line">
            <a:avLst/>
          </a:prstGeom>
          <a:noFill/>
          <a:ln w="12700">
            <a:solidFill>
              <a:srgbClr val="0F0F12"/>
            </a:solidFill>
            <a:prstDash val="solid"/>
          </a:ln>
        </p:spPr>
      </p:sp>
      <p:sp>
        <p:nvSpPr>
          <p:cNvPr id="20" name="Shape 18"/>
          <p:cNvSpPr/>
          <p:nvPr/>
        </p:nvSpPr>
        <p:spPr>
          <a:xfrm>
            <a:off x="812800" y="4975820"/>
            <a:ext cx="3302000" cy="0"/>
          </a:xfrm>
          <a:prstGeom prst="line">
            <a:avLst/>
          </a:prstGeom>
          <a:noFill/>
          <a:ln w="12700">
            <a:solidFill>
              <a:srgbClr val="0F0F12"/>
            </a:solidFill>
            <a:prstDash val="solid"/>
          </a:ln>
        </p:spPr>
      </p:sp>
      <p:sp>
        <p:nvSpPr>
          <p:cNvPr id="21" name="Text 19"/>
          <p:cNvSpPr/>
          <p:nvPr/>
        </p:nvSpPr>
        <p:spPr>
          <a:xfrm>
            <a:off x="812800" y="4631730"/>
            <a:ext cx="157559"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2B2BFF"/>
                </a:solidFill>
                <a:latin typeface="JetBrains Mono" pitchFamily="49" charset="0"/>
                <a:ea typeface="JetBrains Mono" pitchFamily="49" charset="-122"/>
                <a:cs typeface="JetBrains Mono" pitchFamily="49" charset="-120"/>
              </a:rPr>
              <a:t>+</a:t>
            </a:r>
            <a:endParaRPr lang="en-US" sz="1400" dirty="0"/>
          </a:p>
        </p:txBody>
      </p:sp>
      <p:sp>
        <p:nvSpPr>
          <p:cNvPr id="22" name="Text 20"/>
          <p:cNvSpPr/>
          <p:nvPr/>
        </p:nvSpPr>
        <p:spPr>
          <a:xfrm>
            <a:off x="1046559" y="4631730"/>
            <a:ext cx="2554010" cy="274241"/>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0F0F12"/>
                </a:solidFill>
                <a:latin typeface="Golos Text" pitchFamily="34" charset="0"/>
                <a:ea typeface="Golos Text" pitchFamily="34" charset="-122"/>
                <a:cs typeface="Golos Text" pitchFamily="34" charset="-120"/>
              </a:rPr>
              <a:t>Чат, тест и Telegram-бот</a:t>
            </a:r>
            <a:endParaRPr lang="en-US" sz="1400" dirty="0"/>
          </a:p>
        </p:txBody>
      </p:sp>
      <p:pic>
        <p:nvPicPr>
          <p:cNvPr id="23" name="Image 0" descr="Поиск по смыслу: русский запрос находит английскую лекцию">    </p:cNvPr>
          <p:cNvPicPr>
            <a:picLocks noChangeAspect="1"/>
          </p:cNvPicPr>
          <p:nvPr/>
        </p:nvPicPr>
        <p:blipFill>
          <a:blip r:embed="rId1"/>
          <a:srcRect l="0" r="0" t="0" b="1086"/>
          <a:stretch/>
        </p:blipFill>
        <p:spPr>
          <a:xfrm>
            <a:off x="4432300" y="1919486"/>
            <a:ext cx="3378200" cy="1879600"/>
          </a:xfrm>
          <a:prstGeom prst="rect">
            <a:avLst/>
          </a:prstGeom>
        </p:spPr>
      </p:pic>
      <p:sp>
        <p:nvSpPr>
          <p:cNvPr id="24" name="Shape 21"/>
          <p:cNvSpPr/>
          <p:nvPr/>
        </p:nvSpPr>
        <p:spPr>
          <a:xfrm>
            <a:off x="4425950" y="1913136"/>
            <a:ext cx="3390900" cy="1892300"/>
          </a:xfrm>
          <a:prstGeom prst="rect">
            <a:avLst/>
          </a:prstGeom>
          <a:noFill/>
          <a:ln w="12700">
            <a:solidFill>
              <a:srgbClr val="0F0F12"/>
            </a:solidFill>
            <a:prstDash val="solid"/>
          </a:ln>
        </p:spPr>
      </p:sp>
      <p:pic>
        <p:nvPicPr>
          <p:cNvPr id="25" name="Image 1" descr="Страница лекции с плеером, субтитрами и бегущей расшифровкой">    </p:cNvPr>
          <p:cNvPicPr>
            <a:picLocks noChangeAspect="1"/>
          </p:cNvPicPr>
          <p:nvPr/>
        </p:nvPicPr>
        <p:blipFill>
          <a:blip r:embed="rId2"/>
          <a:srcRect l="0" r="14628" t="0" b="0"/>
          <a:stretch/>
        </p:blipFill>
        <p:spPr>
          <a:xfrm>
            <a:off x="7988300" y="1919486"/>
            <a:ext cx="3378200" cy="1879600"/>
          </a:xfrm>
          <a:prstGeom prst="rect">
            <a:avLst/>
          </a:prstGeom>
        </p:spPr>
      </p:pic>
      <p:sp>
        <p:nvSpPr>
          <p:cNvPr id="26" name="Shape 22"/>
          <p:cNvSpPr/>
          <p:nvPr/>
        </p:nvSpPr>
        <p:spPr>
          <a:xfrm>
            <a:off x="7981950" y="1913136"/>
            <a:ext cx="3390900" cy="1892300"/>
          </a:xfrm>
          <a:prstGeom prst="rect">
            <a:avLst/>
          </a:prstGeom>
          <a:noFill/>
          <a:ln w="12700">
            <a:solidFill>
              <a:srgbClr val="0F0F12"/>
            </a:solidFill>
            <a:prstDash val="solid"/>
          </a:ln>
        </p:spPr>
      </p:sp>
      <p:pic>
        <p:nvPicPr>
          <p:cNvPr id="27" name="Image 2" descr="Оглавление лекции с таймкодами разделов">    </p:cNvPr>
          <p:cNvPicPr>
            <a:picLocks noChangeAspect="1"/>
          </p:cNvPicPr>
          <p:nvPr/>
        </p:nvPicPr>
        <p:blipFill>
          <a:blip r:embed="rId3"/>
          <a:srcRect l="0" r="0" t="0" b="28924"/>
          <a:stretch/>
        </p:blipFill>
        <p:spPr>
          <a:xfrm>
            <a:off x="4432300" y="3976886"/>
            <a:ext cx="3378200" cy="1879600"/>
          </a:xfrm>
          <a:prstGeom prst="rect">
            <a:avLst/>
          </a:prstGeom>
        </p:spPr>
      </p:pic>
      <p:sp>
        <p:nvSpPr>
          <p:cNvPr id="28" name="Shape 23"/>
          <p:cNvSpPr/>
          <p:nvPr/>
        </p:nvSpPr>
        <p:spPr>
          <a:xfrm>
            <a:off x="4425950" y="3970536"/>
            <a:ext cx="3390900" cy="1892300"/>
          </a:xfrm>
          <a:prstGeom prst="rect">
            <a:avLst/>
          </a:prstGeom>
          <a:noFill/>
          <a:ln w="12700">
            <a:solidFill>
              <a:srgbClr val="0F0F12"/>
            </a:solidFill>
            <a:prstDash val="solid"/>
          </a:ln>
        </p:spPr>
      </p:sp>
      <p:pic>
        <p:nvPicPr>
          <p:cNvPr id="29" name="Image 3" descr="Чат по лекции: ответ со ссылкой на источник">    </p:cNvPr>
          <p:cNvPicPr>
            <a:picLocks noChangeAspect="1"/>
          </p:cNvPicPr>
          <p:nvPr/>
        </p:nvPicPr>
        <p:blipFill>
          <a:blip r:embed="rId4"/>
          <a:srcRect l="0" r="0" t="10413" b="59008"/>
          <a:stretch/>
        </p:blipFill>
        <p:spPr>
          <a:xfrm>
            <a:off x="7988300" y="3976886"/>
            <a:ext cx="3378200" cy="1879600"/>
          </a:xfrm>
          <a:prstGeom prst="rect">
            <a:avLst/>
          </a:prstGeom>
        </p:spPr>
      </p:pic>
      <p:sp>
        <p:nvSpPr>
          <p:cNvPr id="30" name="Shape 24"/>
          <p:cNvSpPr/>
          <p:nvPr/>
        </p:nvSpPr>
        <p:spPr>
          <a:xfrm>
            <a:off x="7981950" y="3970536"/>
            <a:ext cx="3390900" cy="1892300"/>
          </a:xfrm>
          <a:prstGeom prst="rect">
            <a:avLst/>
          </a:prstGeom>
          <a:noFill/>
          <a:ln w="12700">
            <a:solidFill>
              <a:srgbClr val="0F0F12"/>
            </a:solidFill>
            <a:prstDash val="solid"/>
          </a:ln>
        </p:spPr>
      </p:sp>
      <p:sp>
        <p:nvSpPr>
          <p:cNvPr id="31" name="Text 25"/>
          <p:cNvSpPr/>
          <p:nvPr/>
        </p:nvSpPr>
        <p:spPr>
          <a:xfrm>
            <a:off x="812800" y="6238280"/>
            <a:ext cx="2999303"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6B6B70"/>
                </a:solidFill>
                <a:latin typeface="JetBrains Mono" pitchFamily="49" charset="0"/>
                <a:ea typeface="JetBrains Mono" pitchFamily="49" charset="-122"/>
                <a:cs typeface="JetBrains Mono" pitchFamily="49" charset="-120"/>
              </a:rPr>
              <a:t>LECTIO · КИБЕРРЫВОК 2026</a:t>
            </a:r>
            <a:endParaRPr lang="en-US" sz="1200" dirty="0"/>
          </a:p>
        </p:txBody>
      </p:sp>
      <p:sp>
        <p:nvSpPr>
          <p:cNvPr id="32" name="Text 26"/>
          <p:cNvSpPr/>
          <p:nvPr/>
        </p:nvSpPr>
        <p:spPr>
          <a:xfrm>
            <a:off x="11145441" y="6238280"/>
            <a:ext cx="233759"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B70"/>
                </a:solidFill>
                <a:latin typeface="JetBrains Mono" pitchFamily="49" charset="0"/>
                <a:ea typeface="JetBrains Mono" pitchFamily="49" charset="-122"/>
                <a:cs typeface="JetBrains Mono" pitchFamily="49" charset="-120"/>
              </a:rPr>
              <a:t>06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2B2BFF"/>
                </a:solidFill>
                <a:latin typeface="JetBrains Mono" pitchFamily="49" charset="0"/>
                <a:ea typeface="JetBrains Mono" pitchFamily="49" charset="-122"/>
                <a:cs typeface="JetBrains Mono" pitchFamily="49" charset="-120"/>
              </a:rPr>
              <a:t>СООТВЕТСТВИЕ ТЗ</a:t>
            </a:r>
            <a:endParaRPr lang="en-US" sz="1200" dirty="0"/>
          </a:p>
        </p:txBody>
      </p:sp>
      <p:sp>
        <p:nvSpPr>
          <p:cNvPr id="3" name="Text 1"/>
          <p:cNvSpPr/>
          <p:nvPr>
            <p:ph type="title"/>
          </p:nvPr>
        </p:nvSpPr>
        <p:spPr>
          <a:xfrm>
            <a:off x="812800" y="1178520"/>
            <a:ext cx="10883392" cy="505420"/>
          </a:xfrm>
          <a:prstGeom prst="rect">
            <a:avLst/>
          </a:prstGeom>
          <a:noFill/>
          <a:ln/>
        </p:spPr>
        <p:txBody>
          <a:bodyPr wrap="square" lIns="0" tIns="0" rIns="0" bIns="0" rtlCol="0" anchor="t">
            <a:normAutofit/>
          </a:bodyPr>
          <a:lstStyle/>
          <a:p>
            <a:pPr algn="l" indent="0" marL="0">
              <a:lnSpc>
                <a:spcPts val="3780"/>
              </a:lnSpc>
              <a:buNone/>
            </a:pPr>
            <a:r>
              <a:rPr lang="en-US" sz="3600" b="1" i="0" spc="-150" kern="0" dirty="0">
                <a:solidFill>
                  <a:srgbClr val="0F0F12"/>
                </a:solidFill>
                <a:latin typeface="Inter Tight" pitchFamily="34" charset="0"/>
                <a:ea typeface="Inter Tight" pitchFamily="34" charset="-122"/>
                <a:cs typeface="Inter Tight" pitchFamily="34" charset="-120"/>
              </a:rPr>
              <a:t>Все пять обязательных пунктов — сделаны</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925241"/>
          <a:ext cx="6972300" cy="3062089"/>
        </p:xfrm>
        <a:graphic>
          <a:graphicData uri="http://schemas.openxmlformats.org/drawingml/2006/table">
            <a:tbl>
              <a:tblPr/>
              <a:tblGrid>
                <a:gridCol w="3067812"/>
                <a:gridCol w="3904488"/>
              </a:tblGrid>
              <a:tr h="332581">
                <a:tc>
                  <a:txBody>
                    <a:bodyPr/>
                    <a:lstStyle/>
                    <a:p>
                      <a:pPr indent="0" marL="0">
                        <a:lnSpc>
                          <a:spcPts val="1680"/>
                        </a:lnSpc>
                        <a:buNone/>
                      </a:pPr>
                      <a:r>
                        <a:rPr lang="en-US" sz="1200" b="1" dirty="0">
                          <a:solidFill>
                            <a:srgbClr val="FAFAF7"/>
                          </a:solidFill>
                          <a:latin typeface="Golos Text" pitchFamily="34" charset="0"/>
                          <a:ea typeface="Golos Text" pitchFamily="34" charset="-122"/>
                          <a:cs typeface="Golos Text" pitchFamily="34" charset="-120"/>
                        </a:rPr>
                        <a:t>Требование</a:t>
                      </a:r>
                      <a:endParaRPr lang="en-US" sz="1200" dirty="0">
                        <a:latin typeface="Golos Text" charset="0"/>
                        <a:ea typeface="Golos Text" charset="0"/>
                        <a:cs typeface="Golos Text" charset="0"/>
                      </a:endParaRPr>
                    </a:p>
                  </a:txBody>
                  <a:tcPr marL="53340" marR="53340" marT="53340" marB="53340" anchor="t">
                    <a:lnL w="12700" cap="flat" cmpd="sng" algn="ctr">
                      <a:solidFill>
                        <a:srgbClr val="C7C7C5"/>
                      </a:solidFill>
                      <a:prstDash val="solid"/>
                      <a:round/>
                      <a:headEnd type="none" w="med" len="med"/>
                      <a:tailEnd type="none" w="med" len="med"/>
                    </a:lnL>
                    <a:lnR w="12700" cap="flat" cmpd="sng" algn="ctr">
                      <a:solidFill>
                        <a:srgbClr val="101012"/>
                      </a:solidFill>
                      <a:prstDash val="solid"/>
                      <a:round/>
                      <a:headEnd type="none" w="med" len="med"/>
                      <a:tailEnd type="none" w="med" len="med"/>
                    </a:lnR>
                    <a:lnT w="12700" cap="flat" cmpd="sng" algn="ctr">
                      <a:solidFill>
                        <a:srgbClr val="C7C7C5"/>
                      </a:solidFill>
                      <a:prstDash val="solid"/>
                      <a:round/>
                      <a:headEnd type="none" w="med" len="med"/>
                      <a:tailEnd type="none" w="med" len="med"/>
                    </a:lnT>
                    <a:lnB w="12700" cap="flat" cmpd="sng" algn="ctr">
                      <a:solidFill>
                        <a:srgbClr val="101012"/>
                      </a:solidFill>
                      <a:prstDash val="solid"/>
                      <a:round/>
                      <a:headEnd type="none" w="med" len="med"/>
                      <a:tailEnd type="none" w="med" len="med"/>
                    </a:lnB>
                    <a:solidFill>
                      <a:srgbClr val="0F0F12"/>
                    </a:solidFill>
                  </a:tcPr>
                </a:tc>
                <a:tc>
                  <a:txBody>
                    <a:bodyPr/>
                    <a:lstStyle/>
                    <a:p>
                      <a:pPr indent="0" marL="0">
                        <a:lnSpc>
                          <a:spcPts val="1680"/>
                        </a:lnSpc>
                        <a:buNone/>
                      </a:pPr>
                      <a:r>
                        <a:rPr lang="en-US" sz="1200" b="1" dirty="0">
                          <a:solidFill>
                            <a:srgbClr val="FAFAF7"/>
                          </a:solidFill>
                          <a:latin typeface="Golos Text" pitchFamily="34" charset="0"/>
                          <a:ea typeface="Golos Text" pitchFamily="34" charset="-122"/>
                          <a:cs typeface="Golos Text" pitchFamily="34" charset="-120"/>
                        </a:rPr>
                        <a:t>Как сделано</a:t>
                      </a:r>
                      <a:endParaRPr lang="en-US" sz="1200" dirty="0">
                        <a:latin typeface="Golos Text" charset="0"/>
                        <a:ea typeface="Golos Text" charset="0"/>
                        <a:cs typeface="Golos Text" charset="0"/>
                      </a:endParaRPr>
                    </a:p>
                  </a:txBody>
                  <a:tcPr marL="53340" marR="53340" marT="53340" marB="53340" anchor="t">
                    <a:lnL w="12700" cap="flat" cmpd="sng" algn="ctr">
                      <a:solidFill>
                        <a:srgbClr val="101012"/>
                      </a:solidFill>
                      <a:prstDash val="solid"/>
                      <a:round/>
                      <a:headEnd type="none" w="med" len="med"/>
                      <a:tailEnd type="none" w="med" len="med"/>
                    </a:lnL>
                    <a:lnR w="12700" cap="flat" cmpd="sng" algn="ctr">
                      <a:solidFill>
                        <a:srgbClr val="101012"/>
                      </a:solidFill>
                      <a:prstDash val="solid"/>
                      <a:round/>
                      <a:headEnd type="none" w="med" len="med"/>
                      <a:tailEnd type="none" w="med" len="med"/>
                    </a:lnR>
                    <a:lnT w="12700" cap="flat" cmpd="sng" algn="ctr">
                      <a:solidFill>
                        <a:srgbClr val="C7C7C5"/>
                      </a:solidFill>
                      <a:prstDash val="solid"/>
                      <a:round/>
                      <a:headEnd type="none" w="med" len="med"/>
                      <a:tailEnd type="none" w="med" len="med"/>
                    </a:lnT>
                    <a:lnB w="12700" cap="flat" cmpd="sng" algn="ctr">
                      <a:solidFill>
                        <a:srgbClr val="101012"/>
                      </a:solidFill>
                      <a:prstDash val="solid"/>
                      <a:round/>
                      <a:headEnd type="none" w="med" len="med"/>
                      <a:tailEnd type="none" w="med" len="med"/>
                    </a:lnB>
                    <a:solidFill>
                      <a:srgbClr val="0F0F12"/>
                    </a:solidFill>
                  </a:tcPr>
                </a:tc>
              </a:tr>
              <a:tr h="545902">
                <a:tc>
                  <a:txBody>
                    <a:bodyPr/>
                    <a:lstStyle/>
                    <a:p>
                      <a:pPr indent="0" marL="0">
                        <a:lnSpc>
                          <a:spcPts val="1680"/>
                        </a:lnSpc>
                        <a:buNone/>
                      </a:pPr>
                      <a:r>
                        <a:rPr lang="en-US" sz="1200" dirty="0">
                          <a:solidFill>
                            <a:srgbClr val="0F0F12"/>
                          </a:solidFill>
                          <a:latin typeface="Golos Text" pitchFamily="34" charset="0"/>
                          <a:ea typeface="Golos Text" pitchFamily="34" charset="-122"/>
                          <a:cs typeface="Golos Text" pitchFamily="34" charset="-120"/>
                        </a:rPr>
                        <a:t>Загрузка MP4, WebM и ссылок YouTube, Vimeo; id; извлечение аудио</a:t>
                      </a:r>
                      <a:endParaRPr lang="en-US" sz="1200" dirty="0">
                        <a:latin typeface="Golos Text" charset="0"/>
                        <a:ea typeface="Golos Text" charset="0"/>
                        <a:cs typeface="Golos Text" charset="0"/>
                      </a:endParaRPr>
                    </a:p>
                  </a:txBody>
                  <a:tcPr marL="53340" marR="53340" marT="53340" marB="53340" anchor="t">
                    <a:lnL w="12700" cap="flat" cmpd="sng" algn="ctr">
                      <a:solidFill>
                        <a:srgbClr val="C7C7C5"/>
                      </a:solidFill>
                      <a:prstDash val="solid"/>
                      <a:round/>
                      <a:headEnd type="none" w="med" len="med"/>
                      <a:tailEnd type="none" w="med" len="med"/>
                    </a:lnL>
                    <a:lnR w="12700" cap="flat" cmpd="sng" algn="ctr">
                      <a:solidFill>
                        <a:srgbClr val="C7C7C5"/>
                      </a:solidFill>
                      <a:prstDash val="solid"/>
                      <a:round/>
                      <a:headEnd type="none" w="med" len="med"/>
                      <a:tailEnd type="none" w="med" len="med"/>
                    </a:lnR>
                    <a:lnT w="12700" cap="flat" cmpd="sng" algn="ctr">
                      <a:solidFill>
                        <a:srgbClr val="101012"/>
                      </a:solidFill>
                      <a:prstDash val="solid"/>
                      <a:round/>
                      <a:headEnd type="none" w="med" len="med"/>
                      <a:tailEnd type="none" w="med" len="med"/>
                    </a:lnT>
                    <a:lnB w="12700" cap="flat" cmpd="sng" algn="ctr">
                      <a:solidFill>
                        <a:srgbClr val="C7C7C5"/>
                      </a:solidFill>
                      <a:prstDash val="solid"/>
                      <a:round/>
                      <a:headEnd type="none" w="med" len="med"/>
                      <a:tailEnd type="none" w="med" len="med"/>
                    </a:lnB>
                  </a:tcPr>
                </a:tc>
                <a:tc>
                  <a:txBody>
                    <a:bodyPr/>
                    <a:lstStyle/>
                    <a:p>
                      <a:pPr indent="0" marL="0">
                        <a:lnSpc>
                          <a:spcPts val="1680"/>
                        </a:lnSpc>
                        <a:buNone/>
                      </a:pPr>
                      <a:r>
                        <a:rPr lang="en-US" sz="1200" dirty="0">
                          <a:solidFill>
                            <a:srgbClr val="0F0F12"/>
                          </a:solidFill>
                          <a:latin typeface="Golos Text" pitchFamily="34" charset="0"/>
                          <a:ea typeface="Golos Text" pitchFamily="34" charset="-122"/>
                          <a:cs typeface="Golos Text" pitchFamily="34" charset="-120"/>
                        </a:rPr>
                        <a:t>Файлы и ссылки через yt-dlp, проверка до очереди, ffmpeg</a:t>
                      </a:r>
                      <a:endParaRPr lang="en-US" sz="1200" dirty="0">
                        <a:latin typeface="Golos Text" charset="0"/>
                        <a:ea typeface="Golos Text" charset="0"/>
                        <a:cs typeface="Golos Text" charset="0"/>
                      </a:endParaRPr>
                    </a:p>
                  </a:txBody>
                  <a:tcPr marL="53340" marR="53340" marT="53340" marB="53340" anchor="t">
                    <a:lnL w="12700" cap="flat" cmpd="sng" algn="ctr">
                      <a:solidFill>
                        <a:srgbClr val="C7C7C5"/>
                      </a:solidFill>
                      <a:prstDash val="solid"/>
                      <a:round/>
                      <a:headEnd type="none" w="med" len="med"/>
                      <a:tailEnd type="none" w="med" len="med"/>
                    </a:lnL>
                    <a:lnR w="12700" cap="flat" cmpd="sng" algn="ctr">
                      <a:solidFill>
                        <a:srgbClr val="C7C7C5"/>
                      </a:solidFill>
                      <a:prstDash val="solid"/>
                      <a:round/>
                      <a:headEnd type="none" w="med" len="med"/>
                      <a:tailEnd type="none" w="med" len="med"/>
                    </a:lnR>
                    <a:lnT w="12700" cap="flat" cmpd="sng" algn="ctr">
                      <a:solidFill>
                        <a:srgbClr val="101012"/>
                      </a:solidFill>
                      <a:prstDash val="solid"/>
                      <a:round/>
                      <a:headEnd type="none" w="med" len="med"/>
                      <a:tailEnd type="none" w="med" len="med"/>
                    </a:lnT>
                    <a:lnB w="12700" cap="flat" cmpd="sng" algn="ctr">
                      <a:solidFill>
                        <a:srgbClr val="C7C7C5"/>
                      </a:solidFill>
                      <a:prstDash val="solid"/>
                      <a:round/>
                      <a:headEnd type="none" w="med" len="med"/>
                      <a:tailEnd type="none" w="med" len="med"/>
                    </a:lnB>
                  </a:tcPr>
                </a:tc>
              </a:tr>
              <a:tr h="545902">
                <a:tc>
                  <a:txBody>
                    <a:bodyPr/>
                    <a:lstStyle/>
                    <a:p>
                      <a:pPr indent="0" marL="0">
                        <a:lnSpc>
                          <a:spcPts val="1680"/>
                        </a:lnSpc>
                        <a:buNone/>
                      </a:pPr>
                      <a:r>
                        <a:rPr lang="en-US" sz="1200" dirty="0">
                          <a:solidFill>
                            <a:srgbClr val="0F0F12"/>
                          </a:solidFill>
                          <a:latin typeface="Golos Text" pitchFamily="34" charset="0"/>
                          <a:ea typeface="Golos Text" pitchFamily="34" charset="-122"/>
                          <a:cs typeface="Golos Text" pitchFamily="34" charset="-120"/>
                        </a:rPr>
                        <a:t>Расшифровка и семантический индекс, таймкоды до секунды</a:t>
                      </a:r>
                      <a:endParaRPr lang="en-US" sz="1200" dirty="0">
                        <a:latin typeface="Golos Text" charset="0"/>
                        <a:ea typeface="Golos Text" charset="0"/>
                        <a:cs typeface="Golos Text" charset="0"/>
                      </a:endParaRPr>
                    </a:p>
                  </a:txBody>
                  <a:tcPr marL="53340" marR="53340" marT="53340" marB="53340" anchor="t">
                    <a:lnL w="12700" cap="flat" cmpd="sng" algn="ctr">
                      <a:solidFill>
                        <a:srgbClr val="C7C7C5"/>
                      </a:solidFill>
                      <a:prstDash val="solid"/>
                      <a:round/>
                      <a:headEnd type="none" w="med" len="med"/>
                      <a:tailEnd type="none" w="med" len="med"/>
                    </a:lnL>
                    <a:lnR w="12700" cap="flat" cmpd="sng" algn="ctr">
                      <a:solidFill>
                        <a:srgbClr val="C0C0BC"/>
                      </a:solidFill>
                      <a:prstDash val="solid"/>
                      <a:round/>
                      <a:headEnd type="none" w="med" len="med"/>
                      <a:tailEnd type="none" w="med" len="med"/>
                    </a:lnR>
                    <a:lnT w="12700" cap="flat" cmpd="sng" algn="ctr">
                      <a:solidFill>
                        <a:srgbClr val="C7C7C5"/>
                      </a:solidFill>
                      <a:prstDash val="solid"/>
                      <a:round/>
                      <a:headEnd type="none" w="med" len="med"/>
                      <a:tailEnd type="none" w="med" len="med"/>
                    </a:lnT>
                    <a:lnB w="12700" cap="flat" cmpd="sng" algn="ctr">
                      <a:solidFill>
                        <a:srgbClr val="C0C0BC"/>
                      </a:solidFill>
                      <a:prstDash val="solid"/>
                      <a:round/>
                      <a:headEnd type="none" w="med" len="med"/>
                      <a:tailEnd type="none" w="med" len="med"/>
                    </a:lnB>
                    <a:solidFill>
                      <a:srgbClr val="F1F1EC"/>
                    </a:solidFill>
                  </a:tcPr>
                </a:tc>
                <a:tc>
                  <a:txBody>
                    <a:bodyPr/>
                    <a:lstStyle/>
                    <a:p>
                      <a:pPr indent="0" marL="0">
                        <a:lnSpc>
                          <a:spcPts val="1680"/>
                        </a:lnSpc>
                        <a:buNone/>
                      </a:pPr>
                      <a:r>
                        <a:rPr lang="en-US" sz="1200" dirty="0">
                          <a:solidFill>
                            <a:srgbClr val="0F0F12"/>
                          </a:solidFill>
                          <a:latin typeface="Golos Text" pitchFamily="34" charset="0"/>
                          <a:ea typeface="Golos Text" pitchFamily="34" charset="-122"/>
                          <a:cs typeface="Golos Text" pitchFamily="34" charset="-120"/>
                        </a:rPr>
                        <a:t>Whisper с таймкодом каждого слова, BGE-M3 + pgvector</a:t>
                      </a:r>
                      <a:endParaRPr lang="en-US" sz="1200" dirty="0">
                        <a:latin typeface="Golos Text" charset="0"/>
                        <a:ea typeface="Golos Text" charset="0"/>
                        <a:cs typeface="Golos Text" charset="0"/>
                      </a:endParaRPr>
                    </a:p>
                  </a:txBody>
                  <a:tcPr marL="53340" marR="53340" marT="53340" marB="53340" anchor="t">
                    <a:lnL w="12700" cap="flat" cmpd="sng" algn="ctr">
                      <a:solidFill>
                        <a:srgbClr val="C0C0BC"/>
                      </a:solidFill>
                      <a:prstDash val="solid"/>
                      <a:round/>
                      <a:headEnd type="none" w="med" len="med"/>
                      <a:tailEnd type="none" w="med" len="med"/>
                    </a:lnL>
                    <a:lnR w="12700" cap="flat" cmpd="sng" algn="ctr">
                      <a:solidFill>
                        <a:srgbClr val="C0C0BC"/>
                      </a:solidFill>
                      <a:prstDash val="solid"/>
                      <a:round/>
                      <a:headEnd type="none" w="med" len="med"/>
                      <a:tailEnd type="none" w="med" len="med"/>
                    </a:lnR>
                    <a:lnT w="12700" cap="flat" cmpd="sng" algn="ctr">
                      <a:solidFill>
                        <a:srgbClr val="C7C7C5"/>
                      </a:solidFill>
                      <a:prstDash val="solid"/>
                      <a:round/>
                      <a:headEnd type="none" w="med" len="med"/>
                      <a:tailEnd type="none" w="med" len="med"/>
                    </a:lnT>
                    <a:lnB w="12700" cap="flat" cmpd="sng" algn="ctr">
                      <a:solidFill>
                        <a:srgbClr val="C0C0BC"/>
                      </a:solidFill>
                      <a:prstDash val="solid"/>
                      <a:round/>
                      <a:headEnd type="none" w="med" len="med"/>
                      <a:tailEnd type="none" w="med" len="med"/>
                    </a:lnB>
                    <a:solidFill>
                      <a:srgbClr val="F1F1EC"/>
                    </a:solidFill>
                  </a:tcPr>
                </a:tc>
              </a:tr>
              <a:tr h="545902">
                <a:tc>
                  <a:txBody>
                    <a:bodyPr/>
                    <a:lstStyle/>
                    <a:p>
                      <a:pPr indent="0" marL="0">
                        <a:lnSpc>
                          <a:spcPts val="1680"/>
                        </a:lnSpc>
                        <a:buNone/>
                      </a:pPr>
                      <a:r>
                        <a:rPr lang="en-US" sz="1200" dirty="0">
                          <a:solidFill>
                            <a:srgbClr val="0F0F12"/>
                          </a:solidFill>
                          <a:latin typeface="Golos Text" pitchFamily="34" charset="0"/>
                          <a:ea typeface="Golos Text" pitchFamily="34" charset="-122"/>
                          <a:cs typeface="Golos Text" pitchFamily="34" charset="-120"/>
                        </a:rPr>
                        <a:t>Поиск по смыслу: фрагмент, таймкод, ссылка на момент</a:t>
                      </a:r>
                      <a:endParaRPr lang="en-US" sz="1200" dirty="0">
                        <a:latin typeface="Golos Text" charset="0"/>
                        <a:ea typeface="Golos Text" charset="0"/>
                        <a:cs typeface="Golos Text" charset="0"/>
                      </a:endParaRPr>
                    </a:p>
                  </a:txBody>
                  <a:tcPr marL="53340" marR="53340" marT="53340" marB="53340" anchor="t">
                    <a:lnL w="12700" cap="flat" cmpd="sng" algn="ctr">
                      <a:solidFill>
                        <a:srgbClr val="C7C7C5"/>
                      </a:solidFill>
                      <a:prstDash val="solid"/>
                      <a:round/>
                      <a:headEnd type="none" w="med" len="med"/>
                      <a:tailEnd type="none" w="med" len="med"/>
                    </a:lnL>
                    <a:lnR w="12700" cap="flat" cmpd="sng" algn="ctr">
                      <a:solidFill>
                        <a:srgbClr val="C7C7C5"/>
                      </a:solidFill>
                      <a:prstDash val="solid"/>
                      <a:round/>
                      <a:headEnd type="none" w="med" len="med"/>
                      <a:tailEnd type="none" w="med" len="med"/>
                    </a:lnR>
                    <a:lnT w="12700" cap="flat" cmpd="sng" algn="ctr">
                      <a:solidFill>
                        <a:srgbClr val="C0C0BC"/>
                      </a:solidFill>
                      <a:prstDash val="solid"/>
                      <a:round/>
                      <a:headEnd type="none" w="med" len="med"/>
                      <a:tailEnd type="none" w="med" len="med"/>
                    </a:lnT>
                    <a:lnB w="12700" cap="flat" cmpd="sng" algn="ctr">
                      <a:solidFill>
                        <a:srgbClr val="C7C7C5"/>
                      </a:solidFill>
                      <a:prstDash val="solid"/>
                      <a:round/>
                      <a:headEnd type="none" w="med" len="med"/>
                      <a:tailEnd type="none" w="med" len="med"/>
                    </a:lnB>
                  </a:tcPr>
                </a:tc>
                <a:tc>
                  <a:txBody>
                    <a:bodyPr/>
                    <a:lstStyle/>
                    <a:p>
                      <a:pPr indent="0" marL="0">
                        <a:lnSpc>
                          <a:spcPts val="1680"/>
                        </a:lnSpc>
                        <a:buNone/>
                      </a:pPr>
                      <a:r>
                        <a:rPr lang="en-US" sz="1200" dirty="0">
                          <a:solidFill>
                            <a:srgbClr val="0F0F12"/>
                          </a:solidFill>
                          <a:latin typeface="Golos Text" pitchFamily="34" charset="0"/>
                          <a:ea typeface="Golos Text" pitchFamily="34" charset="-122"/>
                          <a:cs typeface="Golos Text" pitchFamily="34" charset="-120"/>
                        </a:rPr>
                        <a:t>Гибрид векторного и полнотекстового поиска, переход к секунде</a:t>
                      </a:r>
                      <a:endParaRPr lang="en-US" sz="1200" dirty="0">
                        <a:latin typeface="Golos Text" charset="0"/>
                        <a:ea typeface="Golos Text" charset="0"/>
                        <a:cs typeface="Golos Text" charset="0"/>
                      </a:endParaRPr>
                    </a:p>
                  </a:txBody>
                  <a:tcPr marL="53340" marR="53340" marT="53340" marB="53340" anchor="t">
                    <a:lnL w="12700" cap="flat" cmpd="sng" algn="ctr">
                      <a:solidFill>
                        <a:srgbClr val="C7C7C5"/>
                      </a:solidFill>
                      <a:prstDash val="solid"/>
                      <a:round/>
                      <a:headEnd type="none" w="med" len="med"/>
                      <a:tailEnd type="none" w="med" len="med"/>
                    </a:lnL>
                    <a:lnR w="12700" cap="flat" cmpd="sng" algn="ctr">
                      <a:solidFill>
                        <a:srgbClr val="C7C7C5"/>
                      </a:solidFill>
                      <a:prstDash val="solid"/>
                      <a:round/>
                      <a:headEnd type="none" w="med" len="med"/>
                      <a:tailEnd type="none" w="med" len="med"/>
                    </a:lnR>
                    <a:lnT w="12700" cap="flat" cmpd="sng" algn="ctr">
                      <a:solidFill>
                        <a:srgbClr val="C0C0BC"/>
                      </a:solidFill>
                      <a:prstDash val="solid"/>
                      <a:round/>
                      <a:headEnd type="none" w="med" len="med"/>
                      <a:tailEnd type="none" w="med" len="med"/>
                    </a:lnT>
                    <a:lnB w="12700" cap="flat" cmpd="sng" algn="ctr">
                      <a:solidFill>
                        <a:srgbClr val="C7C7C5"/>
                      </a:solidFill>
                      <a:prstDash val="solid"/>
                      <a:round/>
                      <a:headEnd type="none" w="med" len="med"/>
                      <a:tailEnd type="none" w="med" len="med"/>
                    </a:lnB>
                  </a:tcPr>
                </a:tc>
              </a:tr>
              <a:tr h="545902">
                <a:tc>
                  <a:txBody>
                    <a:bodyPr/>
                    <a:lstStyle/>
                    <a:p>
                      <a:pPr indent="0" marL="0">
                        <a:lnSpc>
                          <a:spcPts val="1680"/>
                        </a:lnSpc>
                        <a:buNone/>
                      </a:pPr>
                      <a:r>
                        <a:rPr lang="en-US" sz="1200" dirty="0">
                          <a:solidFill>
                            <a:srgbClr val="0F0F12"/>
                          </a:solidFill>
                          <a:latin typeface="Golos Text" pitchFamily="34" charset="0"/>
                          <a:ea typeface="Golos Text" pitchFamily="34" charset="-122"/>
                          <a:cs typeface="Golos Text" pitchFamily="34" charset="-120"/>
                        </a:rPr>
                        <a:t>Плеер: таймкоды, синхронные субтитры, клик по тексту</a:t>
                      </a:r>
                      <a:endParaRPr lang="en-US" sz="1200" dirty="0">
                        <a:latin typeface="Golos Text" charset="0"/>
                        <a:ea typeface="Golos Text" charset="0"/>
                        <a:cs typeface="Golos Text" charset="0"/>
                      </a:endParaRPr>
                    </a:p>
                  </a:txBody>
                  <a:tcPr marL="53340" marR="53340" marT="53340" marB="53340" anchor="t">
                    <a:lnL w="12700" cap="flat" cmpd="sng" algn="ctr">
                      <a:solidFill>
                        <a:srgbClr val="C7C7C5"/>
                      </a:solidFill>
                      <a:prstDash val="solid"/>
                      <a:round/>
                      <a:headEnd type="none" w="med" len="med"/>
                      <a:tailEnd type="none" w="med" len="med"/>
                    </a:lnL>
                    <a:lnR w="12700" cap="flat" cmpd="sng" algn="ctr">
                      <a:solidFill>
                        <a:srgbClr val="C0C0BC"/>
                      </a:solidFill>
                      <a:prstDash val="solid"/>
                      <a:round/>
                      <a:headEnd type="none" w="med" len="med"/>
                      <a:tailEnd type="none" w="med" len="med"/>
                    </a:lnR>
                    <a:lnT w="12700" cap="flat" cmpd="sng" algn="ctr">
                      <a:solidFill>
                        <a:srgbClr val="C7C7C5"/>
                      </a:solidFill>
                      <a:prstDash val="solid"/>
                      <a:round/>
                      <a:headEnd type="none" w="med" len="med"/>
                      <a:tailEnd type="none" w="med" len="med"/>
                    </a:lnT>
                    <a:lnB w="12700" cap="flat" cmpd="sng" algn="ctr">
                      <a:solidFill>
                        <a:srgbClr val="C0C0BC"/>
                      </a:solidFill>
                      <a:prstDash val="solid"/>
                      <a:round/>
                      <a:headEnd type="none" w="med" len="med"/>
                      <a:tailEnd type="none" w="med" len="med"/>
                    </a:lnB>
                    <a:solidFill>
                      <a:srgbClr val="F1F1EC"/>
                    </a:solidFill>
                  </a:tcPr>
                </a:tc>
                <a:tc>
                  <a:txBody>
                    <a:bodyPr/>
                    <a:lstStyle/>
                    <a:p>
                      <a:pPr indent="0" marL="0">
                        <a:lnSpc>
                          <a:spcPts val="1680"/>
                        </a:lnSpc>
                        <a:buNone/>
                      </a:pPr>
                      <a:r>
                        <a:rPr lang="en-US" sz="1200" dirty="0">
                          <a:solidFill>
                            <a:srgbClr val="0F0F12"/>
                          </a:solidFill>
                          <a:latin typeface="Golos Text" pitchFamily="34" charset="0"/>
                          <a:ea typeface="Golos Text" pitchFamily="34" charset="-122"/>
                          <a:cs typeface="Golos Text" pitchFamily="34" charset="-120"/>
                        </a:rPr>
                        <a:t>Свой плеер, субтитры WebVTT, бегущая расшифровка</a:t>
                      </a:r>
                      <a:endParaRPr lang="en-US" sz="1200" dirty="0">
                        <a:latin typeface="Golos Text" charset="0"/>
                        <a:ea typeface="Golos Text" charset="0"/>
                        <a:cs typeface="Golos Text" charset="0"/>
                      </a:endParaRPr>
                    </a:p>
                  </a:txBody>
                  <a:tcPr marL="53340" marR="53340" marT="53340" marB="53340" anchor="t">
                    <a:lnL w="12700" cap="flat" cmpd="sng" algn="ctr">
                      <a:solidFill>
                        <a:srgbClr val="C0C0BC"/>
                      </a:solidFill>
                      <a:prstDash val="solid"/>
                      <a:round/>
                      <a:headEnd type="none" w="med" len="med"/>
                      <a:tailEnd type="none" w="med" len="med"/>
                    </a:lnL>
                    <a:lnR w="12700" cap="flat" cmpd="sng" algn="ctr">
                      <a:solidFill>
                        <a:srgbClr val="C0C0BC"/>
                      </a:solidFill>
                      <a:prstDash val="solid"/>
                      <a:round/>
                      <a:headEnd type="none" w="med" len="med"/>
                      <a:tailEnd type="none" w="med" len="med"/>
                    </a:lnR>
                    <a:lnT w="12700" cap="flat" cmpd="sng" algn="ctr">
                      <a:solidFill>
                        <a:srgbClr val="C7C7C5"/>
                      </a:solidFill>
                      <a:prstDash val="solid"/>
                      <a:round/>
                      <a:headEnd type="none" w="med" len="med"/>
                      <a:tailEnd type="none" w="med" len="med"/>
                    </a:lnT>
                    <a:lnB w="12700" cap="flat" cmpd="sng" algn="ctr">
                      <a:solidFill>
                        <a:srgbClr val="C0C0BC"/>
                      </a:solidFill>
                      <a:prstDash val="solid"/>
                      <a:round/>
                      <a:headEnd type="none" w="med" len="med"/>
                      <a:tailEnd type="none" w="med" len="med"/>
                    </a:lnB>
                    <a:solidFill>
                      <a:srgbClr val="F1F1EC"/>
                    </a:solidFill>
                  </a:tcPr>
                </a:tc>
              </a:tr>
              <a:tr h="545902">
                <a:tc>
                  <a:txBody>
                    <a:bodyPr/>
                    <a:lstStyle/>
                    <a:p>
                      <a:pPr indent="0" marL="0">
                        <a:lnSpc>
                          <a:spcPts val="1680"/>
                        </a:lnSpc>
                        <a:buNone/>
                      </a:pPr>
                      <a:r>
                        <a:rPr lang="en-US" sz="1200" dirty="0">
                          <a:solidFill>
                            <a:srgbClr val="0F0F12"/>
                          </a:solidFill>
                          <a:latin typeface="Golos Text" pitchFamily="34" charset="0"/>
                          <a:ea typeface="Golos Text" pitchFamily="34" charset="-122"/>
                          <a:cs typeface="Golos Text" pitchFamily="34" charset="-120"/>
                        </a:rPr>
                        <a:t>Конспект, разделы и подразделы, оглавление</a:t>
                      </a:r>
                      <a:endParaRPr lang="en-US" sz="1200" dirty="0">
                        <a:latin typeface="Golos Text" charset="0"/>
                        <a:ea typeface="Golos Text" charset="0"/>
                        <a:cs typeface="Golos Text" charset="0"/>
                      </a:endParaRPr>
                    </a:p>
                  </a:txBody>
                  <a:tcPr marL="53340" marR="53340" marT="53340" marB="53340" anchor="t">
                    <a:lnL w="12700" cap="flat" cmpd="sng" algn="ctr">
                      <a:solidFill>
                        <a:srgbClr val="C7C7C5"/>
                      </a:solidFill>
                      <a:prstDash val="solid"/>
                      <a:round/>
                      <a:headEnd type="none" w="med" len="med"/>
                      <a:tailEnd type="none" w="med" len="med"/>
                    </a:lnL>
                    <a:lnR w="12700" cap="flat" cmpd="sng" algn="ctr">
                      <a:solidFill>
                        <a:srgbClr val="C7C7C5"/>
                      </a:solidFill>
                      <a:prstDash val="solid"/>
                      <a:round/>
                      <a:headEnd type="none" w="med" len="med"/>
                      <a:tailEnd type="none" w="med" len="med"/>
                    </a:lnR>
                    <a:lnT w="12700" cap="flat" cmpd="sng" algn="ctr">
                      <a:solidFill>
                        <a:srgbClr val="C0C0BC"/>
                      </a:solidFill>
                      <a:prstDash val="solid"/>
                      <a:round/>
                      <a:headEnd type="none" w="med" len="med"/>
                      <a:tailEnd type="none" w="med" len="med"/>
                    </a:lnT>
                    <a:lnB w="12700" cap="flat" cmpd="sng" algn="ctr">
                      <a:solidFill>
                        <a:srgbClr val="C7C7C5"/>
                      </a:solidFill>
                      <a:prstDash val="solid"/>
                      <a:round/>
                      <a:headEnd type="none" w="med" len="med"/>
                      <a:tailEnd type="none" w="med" len="med"/>
                    </a:lnB>
                  </a:tcPr>
                </a:tc>
                <a:tc>
                  <a:txBody>
                    <a:bodyPr/>
                    <a:lstStyle/>
                    <a:p>
                      <a:pPr indent="0" marL="0">
                        <a:lnSpc>
                          <a:spcPts val="1680"/>
                        </a:lnSpc>
                        <a:buNone/>
                      </a:pPr>
                      <a:r>
                        <a:rPr lang="en-US" sz="1200" dirty="0">
                          <a:solidFill>
                            <a:srgbClr val="0F0F12"/>
                          </a:solidFill>
                          <a:latin typeface="Golos Text" pitchFamily="34" charset="0"/>
                          <a:ea typeface="Golos Text" pitchFamily="34" charset="-122"/>
                          <a:cs typeface="Golos Text" pitchFamily="34" charset="-120"/>
                        </a:rPr>
                        <a:t>LLM по частям лекции, оглавление с таймкодами</a:t>
                      </a:r>
                      <a:endParaRPr lang="en-US" sz="1200" dirty="0">
                        <a:latin typeface="Golos Text" charset="0"/>
                        <a:ea typeface="Golos Text" charset="0"/>
                        <a:cs typeface="Golos Text" charset="0"/>
                      </a:endParaRPr>
                    </a:p>
                  </a:txBody>
                  <a:tcPr marL="53340" marR="53340" marT="53340" marB="53340" anchor="t">
                    <a:lnL w="12700" cap="flat" cmpd="sng" algn="ctr">
                      <a:solidFill>
                        <a:srgbClr val="C7C7C5"/>
                      </a:solidFill>
                      <a:prstDash val="solid"/>
                      <a:round/>
                      <a:headEnd type="none" w="med" len="med"/>
                      <a:tailEnd type="none" w="med" len="med"/>
                    </a:lnL>
                    <a:lnR w="12700" cap="flat" cmpd="sng" algn="ctr">
                      <a:solidFill>
                        <a:srgbClr val="C7C7C5"/>
                      </a:solidFill>
                      <a:prstDash val="solid"/>
                      <a:round/>
                      <a:headEnd type="none" w="med" len="med"/>
                      <a:tailEnd type="none" w="med" len="med"/>
                    </a:lnR>
                    <a:lnT w="12700" cap="flat" cmpd="sng" algn="ctr">
                      <a:solidFill>
                        <a:srgbClr val="C0C0BC"/>
                      </a:solidFill>
                      <a:prstDash val="solid"/>
                      <a:round/>
                      <a:headEnd type="none" w="med" len="med"/>
                      <a:tailEnd type="none" w="med" len="med"/>
                    </a:lnT>
                    <a:lnB w="12700" cap="flat" cmpd="sng" algn="ctr">
                      <a:solidFill>
                        <a:srgbClr val="C7C7C5"/>
                      </a:solidFill>
                      <a:prstDash val="solid"/>
                      <a:round/>
                      <a:headEnd type="none" w="med" len="med"/>
                      <a:tailEnd type="none" w="med" len="med"/>
                    </a:lnB>
                  </a:tcPr>
                </a:tc>
              </a:tr>
            </a:tbl>
          </a:graphicData>
        </a:graphic>
      </p:graphicFrame>
      <p:sp>
        <p:nvSpPr>
          <p:cNvPr id="5" name="Text 2"/>
          <p:cNvSpPr/>
          <p:nvPr/>
        </p:nvSpPr>
        <p:spPr>
          <a:xfrm>
            <a:off x="8204200" y="1912541"/>
            <a:ext cx="3270250" cy="288230"/>
          </a:xfrm>
          <a:prstGeom prst="rect">
            <a:avLst/>
          </a:prstGeom>
          <a:noFill/>
          <a:ln/>
        </p:spPr>
        <p:txBody>
          <a:bodyPr wrap="square" lIns="0" tIns="0" rIns="0" bIns="0" rtlCol="0" anchor="t">
            <a:normAutofit/>
          </a:bodyPr>
          <a:lstStyle/>
          <a:p>
            <a:pPr algn="l" indent="0" marL="0">
              <a:lnSpc>
                <a:spcPts val="2070"/>
              </a:lnSpc>
              <a:buNone/>
            </a:pPr>
            <a:r>
              <a:rPr lang="en-US" sz="1800" b="1" dirty="0">
                <a:solidFill>
                  <a:srgbClr val="0F0F12"/>
                </a:solidFill>
                <a:latin typeface="Inter Tight" pitchFamily="34" charset="0"/>
                <a:ea typeface="Inter Tight" pitchFamily="34" charset="-122"/>
                <a:cs typeface="Inter Tight" pitchFamily="34" charset="-120"/>
              </a:rPr>
              <a:t>Доп. фишки из ТЗ</a:t>
            </a:r>
            <a:endParaRPr lang="en-US" sz="1800" dirty="0"/>
          </a:p>
        </p:txBody>
      </p:sp>
      <p:sp>
        <p:nvSpPr>
          <p:cNvPr id="6" name="Shape 3"/>
          <p:cNvSpPr/>
          <p:nvPr/>
        </p:nvSpPr>
        <p:spPr>
          <a:xfrm>
            <a:off x="8204200" y="2283321"/>
            <a:ext cx="3175000" cy="0"/>
          </a:xfrm>
          <a:prstGeom prst="line">
            <a:avLst/>
          </a:prstGeom>
          <a:noFill/>
          <a:ln w="12700">
            <a:solidFill>
              <a:srgbClr val="0F0F12"/>
            </a:solidFill>
            <a:prstDash val="solid"/>
          </a:ln>
        </p:spPr>
      </p:sp>
      <p:pic>
        <p:nvPicPr>
          <p:cNvPr id="7" name="Image 0" descr="Check">    </p:cNvPr>
          <p:cNvPicPr>
            <a:picLocks noChangeAspect="1"/>
          </p:cNvPicPr>
          <p:nvPr/>
        </p:nvPicPr>
        <p:blipFill>
          <a:blip r:embed="rId1"/>
          <a:srcRect l="0" r="0" t="0" b="0"/>
          <a:stretch/>
        </p:blipFill>
        <p:spPr>
          <a:xfrm>
            <a:off x="8204200" y="2401391"/>
            <a:ext cx="203200" cy="203200"/>
          </a:xfrm>
          <a:prstGeom prst="rect">
            <a:avLst/>
          </a:prstGeom>
        </p:spPr>
      </p:pic>
      <p:sp>
        <p:nvSpPr>
          <p:cNvPr id="8" name="Text 4"/>
          <p:cNvSpPr/>
          <p:nvPr/>
        </p:nvSpPr>
        <p:spPr>
          <a:xfrm>
            <a:off x="8509000" y="2378571"/>
            <a:ext cx="1626989"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0F0F12"/>
                </a:solidFill>
                <a:latin typeface="Golos Text" pitchFamily="34" charset="0"/>
                <a:ea typeface="Golos Text" pitchFamily="34" charset="-122"/>
                <a:cs typeface="Golos Text" pitchFamily="34" charset="-120"/>
              </a:rPr>
              <a:t>Поиск по курсу</a:t>
            </a:r>
            <a:endParaRPr lang="en-US" sz="1400" dirty="0"/>
          </a:p>
        </p:txBody>
      </p:sp>
      <p:sp>
        <p:nvSpPr>
          <p:cNvPr id="9" name="Shape 5"/>
          <p:cNvSpPr/>
          <p:nvPr/>
        </p:nvSpPr>
        <p:spPr>
          <a:xfrm>
            <a:off x="8204200" y="2735362"/>
            <a:ext cx="3175000" cy="0"/>
          </a:xfrm>
          <a:prstGeom prst="line">
            <a:avLst/>
          </a:prstGeom>
          <a:noFill/>
          <a:ln w="12700">
            <a:solidFill>
              <a:srgbClr val="0F0F12"/>
            </a:solidFill>
            <a:prstDash val="solid"/>
          </a:ln>
        </p:spPr>
      </p:sp>
      <p:pic>
        <p:nvPicPr>
          <p:cNvPr id="10" name="Image 1" descr="Check">    </p:cNvPr>
          <p:cNvPicPr>
            <a:picLocks noChangeAspect="1"/>
          </p:cNvPicPr>
          <p:nvPr/>
        </p:nvPicPr>
        <p:blipFill>
          <a:blip r:embed="rId2"/>
          <a:srcRect l="0" r="0" t="0" b="0"/>
          <a:stretch/>
        </p:blipFill>
        <p:spPr>
          <a:xfrm>
            <a:off x="8204200" y="2853432"/>
            <a:ext cx="203200" cy="203200"/>
          </a:xfrm>
          <a:prstGeom prst="rect">
            <a:avLst/>
          </a:prstGeom>
        </p:spPr>
      </p:pic>
      <p:sp>
        <p:nvSpPr>
          <p:cNvPr id="11" name="Text 6"/>
          <p:cNvSpPr/>
          <p:nvPr/>
        </p:nvSpPr>
        <p:spPr>
          <a:xfrm>
            <a:off x="8509000" y="2830612"/>
            <a:ext cx="1492568"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0F0F12"/>
                </a:solidFill>
                <a:latin typeface="Golos Text" pitchFamily="34" charset="0"/>
                <a:ea typeface="Golos Text" pitchFamily="34" charset="-122"/>
                <a:cs typeface="Golos Text" pitchFamily="34" charset="-120"/>
              </a:rPr>
              <a:t>Чат по лекции</a:t>
            </a:r>
            <a:endParaRPr lang="en-US" sz="1400" dirty="0"/>
          </a:p>
        </p:txBody>
      </p:sp>
      <p:sp>
        <p:nvSpPr>
          <p:cNvPr id="12" name="Shape 7"/>
          <p:cNvSpPr/>
          <p:nvPr/>
        </p:nvSpPr>
        <p:spPr>
          <a:xfrm>
            <a:off x="8204200" y="3187402"/>
            <a:ext cx="3175000" cy="0"/>
          </a:xfrm>
          <a:prstGeom prst="line">
            <a:avLst/>
          </a:prstGeom>
          <a:noFill/>
          <a:ln w="12700">
            <a:solidFill>
              <a:srgbClr val="0F0F12"/>
            </a:solidFill>
            <a:prstDash val="solid"/>
          </a:ln>
        </p:spPr>
      </p:sp>
      <p:pic>
        <p:nvPicPr>
          <p:cNvPr id="13" name="Image 2" descr="Check">    </p:cNvPr>
          <p:cNvPicPr>
            <a:picLocks noChangeAspect="1"/>
          </p:cNvPicPr>
          <p:nvPr/>
        </p:nvPicPr>
        <p:blipFill>
          <a:blip r:embed="rId3"/>
          <a:srcRect l="0" r="0" t="0" b="0"/>
          <a:stretch/>
        </p:blipFill>
        <p:spPr>
          <a:xfrm>
            <a:off x="8204200" y="3305473"/>
            <a:ext cx="203200" cy="203200"/>
          </a:xfrm>
          <a:prstGeom prst="rect">
            <a:avLst/>
          </a:prstGeom>
        </p:spPr>
      </p:pic>
      <p:sp>
        <p:nvSpPr>
          <p:cNvPr id="14" name="Text 8"/>
          <p:cNvSpPr/>
          <p:nvPr/>
        </p:nvSpPr>
        <p:spPr>
          <a:xfrm>
            <a:off x="8509000" y="3282652"/>
            <a:ext cx="2693789"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0F0F12"/>
                </a:solidFill>
                <a:latin typeface="Golos Text" pitchFamily="34" charset="0"/>
                <a:ea typeface="Golos Text" pitchFamily="34" charset="-122"/>
                <a:cs typeface="Golos Text" pitchFamily="34" charset="-120"/>
              </a:rPr>
              <a:t>Термины и энциклопедия</a:t>
            </a:r>
            <a:endParaRPr lang="en-US" sz="1400" dirty="0"/>
          </a:p>
        </p:txBody>
      </p:sp>
      <p:sp>
        <p:nvSpPr>
          <p:cNvPr id="15" name="Shape 9"/>
          <p:cNvSpPr/>
          <p:nvPr/>
        </p:nvSpPr>
        <p:spPr>
          <a:xfrm>
            <a:off x="8204200" y="3639443"/>
            <a:ext cx="3175000" cy="0"/>
          </a:xfrm>
          <a:prstGeom prst="line">
            <a:avLst/>
          </a:prstGeom>
          <a:noFill/>
          <a:ln w="12700">
            <a:solidFill>
              <a:srgbClr val="0F0F12"/>
            </a:solidFill>
            <a:prstDash val="solid"/>
          </a:ln>
        </p:spPr>
      </p:sp>
      <p:pic>
        <p:nvPicPr>
          <p:cNvPr id="16" name="Image 3" descr="Check">    </p:cNvPr>
          <p:cNvPicPr>
            <a:picLocks noChangeAspect="1"/>
          </p:cNvPicPr>
          <p:nvPr/>
        </p:nvPicPr>
        <p:blipFill>
          <a:blip r:embed="rId4"/>
          <a:srcRect l="0" r="0" t="0" b="0"/>
          <a:stretch/>
        </p:blipFill>
        <p:spPr>
          <a:xfrm>
            <a:off x="8204200" y="3757513"/>
            <a:ext cx="203200" cy="203200"/>
          </a:xfrm>
          <a:prstGeom prst="rect">
            <a:avLst/>
          </a:prstGeom>
        </p:spPr>
      </p:pic>
      <p:sp>
        <p:nvSpPr>
          <p:cNvPr id="17" name="Text 10"/>
          <p:cNvSpPr/>
          <p:nvPr/>
        </p:nvSpPr>
        <p:spPr>
          <a:xfrm>
            <a:off x="8509000" y="3734693"/>
            <a:ext cx="1923455"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0F0F12"/>
                </a:solidFill>
                <a:latin typeface="Golos Text" pitchFamily="34" charset="0"/>
                <a:ea typeface="Golos Text" pitchFamily="34" charset="-122"/>
                <a:cs typeface="Golos Text" pitchFamily="34" charset="-120"/>
              </a:rPr>
              <a:t>Импорт по ссылке</a:t>
            </a:r>
            <a:endParaRPr lang="en-US" sz="1400" dirty="0"/>
          </a:p>
        </p:txBody>
      </p:sp>
      <p:sp>
        <p:nvSpPr>
          <p:cNvPr id="18" name="Shape 11"/>
          <p:cNvSpPr/>
          <p:nvPr/>
        </p:nvSpPr>
        <p:spPr>
          <a:xfrm>
            <a:off x="8204200" y="4091484"/>
            <a:ext cx="3175000" cy="0"/>
          </a:xfrm>
          <a:prstGeom prst="line">
            <a:avLst/>
          </a:prstGeom>
          <a:noFill/>
          <a:ln w="12700">
            <a:solidFill>
              <a:srgbClr val="0F0F12"/>
            </a:solidFill>
            <a:prstDash val="solid"/>
          </a:ln>
        </p:spPr>
      </p:sp>
      <p:pic>
        <p:nvPicPr>
          <p:cNvPr id="19" name="Image 4" descr="Check">    </p:cNvPr>
          <p:cNvPicPr>
            <a:picLocks noChangeAspect="1"/>
          </p:cNvPicPr>
          <p:nvPr/>
        </p:nvPicPr>
        <p:blipFill>
          <a:blip r:embed="rId5"/>
          <a:srcRect l="0" r="0" t="0" b="0"/>
          <a:stretch/>
        </p:blipFill>
        <p:spPr>
          <a:xfrm>
            <a:off x="8204200" y="4209554"/>
            <a:ext cx="203200" cy="203200"/>
          </a:xfrm>
          <a:prstGeom prst="rect">
            <a:avLst/>
          </a:prstGeom>
        </p:spPr>
      </p:pic>
      <p:sp>
        <p:nvSpPr>
          <p:cNvPr id="20" name="Text 12"/>
          <p:cNvSpPr/>
          <p:nvPr/>
        </p:nvSpPr>
        <p:spPr>
          <a:xfrm>
            <a:off x="8509000" y="4186734"/>
            <a:ext cx="1725097"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0F0F12"/>
                </a:solidFill>
                <a:latin typeface="Golos Text" pitchFamily="34" charset="0"/>
                <a:ea typeface="Golos Text" pitchFamily="34" charset="-122"/>
                <a:cs typeface="Golos Text" pitchFamily="34" charset="-120"/>
              </a:rPr>
              <a:t>Личный кабинет</a:t>
            </a:r>
            <a:endParaRPr lang="en-US" sz="1400" dirty="0"/>
          </a:p>
        </p:txBody>
      </p:sp>
      <p:sp>
        <p:nvSpPr>
          <p:cNvPr id="21" name="Shape 13"/>
          <p:cNvSpPr/>
          <p:nvPr/>
        </p:nvSpPr>
        <p:spPr>
          <a:xfrm>
            <a:off x="8204200" y="4543524"/>
            <a:ext cx="3175000" cy="0"/>
          </a:xfrm>
          <a:prstGeom prst="line">
            <a:avLst/>
          </a:prstGeom>
          <a:noFill/>
          <a:ln w="12700">
            <a:solidFill>
              <a:srgbClr val="0F0F12"/>
            </a:solidFill>
            <a:prstDash val="solid"/>
          </a:ln>
        </p:spPr>
      </p:sp>
      <p:pic>
        <p:nvPicPr>
          <p:cNvPr id="22" name="Image 5" descr="Check">    </p:cNvPr>
          <p:cNvPicPr>
            <a:picLocks noChangeAspect="1"/>
          </p:cNvPicPr>
          <p:nvPr/>
        </p:nvPicPr>
        <p:blipFill>
          <a:blip r:embed="rId6"/>
          <a:srcRect l="0" r="0" t="0" b="0"/>
          <a:stretch/>
        </p:blipFill>
        <p:spPr>
          <a:xfrm>
            <a:off x="8204200" y="4661595"/>
            <a:ext cx="203200" cy="203200"/>
          </a:xfrm>
          <a:prstGeom prst="rect">
            <a:avLst/>
          </a:prstGeom>
        </p:spPr>
      </p:pic>
      <p:sp>
        <p:nvSpPr>
          <p:cNvPr id="23" name="Text 14"/>
          <p:cNvSpPr/>
          <p:nvPr/>
        </p:nvSpPr>
        <p:spPr>
          <a:xfrm>
            <a:off x="8509000" y="4638774"/>
            <a:ext cx="2443043"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0F0F12"/>
                </a:solidFill>
                <a:latin typeface="Golos Text" pitchFamily="34" charset="0"/>
                <a:ea typeface="Golos Text" pitchFamily="34" charset="-122"/>
                <a:cs typeface="Golos Text" pitchFamily="34" charset="-120"/>
              </a:rPr>
              <a:t>Офлайн: без интернета</a:t>
            </a:r>
            <a:endParaRPr lang="en-US" sz="1400" dirty="0"/>
          </a:p>
        </p:txBody>
      </p:sp>
      <p:sp>
        <p:nvSpPr>
          <p:cNvPr id="24" name="Text 15"/>
          <p:cNvSpPr/>
          <p:nvPr/>
        </p:nvSpPr>
        <p:spPr>
          <a:xfrm>
            <a:off x="812800" y="6238280"/>
            <a:ext cx="2999303"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6B6B70"/>
                </a:solidFill>
                <a:latin typeface="JetBrains Mono" pitchFamily="49" charset="0"/>
                <a:ea typeface="JetBrains Mono" pitchFamily="49" charset="-122"/>
                <a:cs typeface="JetBrains Mono" pitchFamily="49" charset="-120"/>
              </a:rPr>
              <a:t>LECTIO · КИБЕРРЫВОК 2026</a:t>
            </a:r>
            <a:endParaRPr lang="en-US" sz="1200" dirty="0"/>
          </a:p>
        </p:txBody>
      </p:sp>
      <p:sp>
        <p:nvSpPr>
          <p:cNvPr id="25" name="Text 16"/>
          <p:cNvSpPr/>
          <p:nvPr/>
        </p:nvSpPr>
        <p:spPr>
          <a:xfrm>
            <a:off x="11145441" y="6238280"/>
            <a:ext cx="233759"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B70"/>
                </a:solidFill>
                <a:latin typeface="JetBrains Mono" pitchFamily="49" charset="0"/>
                <a:ea typeface="JetBrains Mono" pitchFamily="49" charset="-122"/>
                <a:cs typeface="JetBrains Mono" pitchFamily="49" charset="-120"/>
              </a:rPr>
              <a:t>07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0F12"/>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9D9DFF"/>
                </a:solidFill>
                <a:latin typeface="JetBrains Mono" pitchFamily="49" charset="0"/>
                <a:ea typeface="JetBrains Mono" pitchFamily="49" charset="-122"/>
                <a:cs typeface="JetBrains Mono" pitchFamily="49" charset="-120"/>
              </a:rPr>
              <a:t>ПРЕИМУЩЕСТВА И ПРАКТИЧЕСКАЯ ЦЕННОСТЬ</a:t>
            </a:r>
            <a:endParaRPr lang="en-US" sz="1200" dirty="0"/>
          </a:p>
        </p:txBody>
      </p:sp>
      <p:sp>
        <p:nvSpPr>
          <p:cNvPr id="3" name="Text 1"/>
          <p:cNvSpPr/>
          <p:nvPr>
            <p:ph type="title"/>
          </p:nvPr>
        </p:nvSpPr>
        <p:spPr>
          <a:xfrm>
            <a:off x="812800" y="1178520"/>
            <a:ext cx="10883392" cy="505420"/>
          </a:xfrm>
          <a:prstGeom prst="rect">
            <a:avLst/>
          </a:prstGeom>
          <a:noFill/>
          <a:ln/>
        </p:spPr>
        <p:txBody>
          <a:bodyPr wrap="square" lIns="0" tIns="0" rIns="0" bIns="0" rtlCol="0" anchor="t">
            <a:normAutofit/>
          </a:bodyPr>
          <a:lstStyle/>
          <a:p>
            <a:pPr algn="l" indent="0" marL="0">
              <a:lnSpc>
                <a:spcPts val="3780"/>
              </a:lnSpc>
              <a:buNone/>
            </a:pPr>
            <a:r>
              <a:rPr lang="en-US" sz="3600" b="1" i="0" spc="-150" kern="0" dirty="0">
                <a:solidFill>
                  <a:srgbClr val="FAFAF7"/>
                </a:solidFill>
                <a:latin typeface="Inter Tight" pitchFamily="34" charset="0"/>
                <a:ea typeface="Inter Tight" pitchFamily="34" charset="-122"/>
                <a:cs typeface="Inter Tight" pitchFamily="34" charset="-120"/>
              </a:rPr>
              <a:t>Чем Lectio отличается от аналогов</a:t>
            </a:r>
            <a:endParaRPr lang="en-US" sz="3600" dirty="0"/>
          </a:p>
        </p:txBody>
      </p:sp>
      <p:sp>
        <p:nvSpPr>
          <p:cNvPr id="4" name="Shape 2"/>
          <p:cNvSpPr/>
          <p:nvPr/>
        </p:nvSpPr>
        <p:spPr>
          <a:xfrm>
            <a:off x="812800" y="1972866"/>
            <a:ext cx="3352800" cy="0"/>
          </a:xfrm>
          <a:prstGeom prst="line">
            <a:avLst/>
          </a:prstGeom>
          <a:noFill/>
          <a:ln w="19050">
            <a:solidFill>
              <a:srgbClr val="FAFAF7"/>
            </a:solidFill>
            <a:prstDash val="solid"/>
          </a:ln>
        </p:spPr>
      </p:sp>
      <p:sp>
        <p:nvSpPr>
          <p:cNvPr id="5" name="Text 3"/>
          <p:cNvSpPr/>
          <p:nvPr/>
        </p:nvSpPr>
        <p:spPr>
          <a:xfrm>
            <a:off x="812800" y="2134791"/>
            <a:ext cx="345338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D9DFF"/>
                </a:solidFill>
                <a:latin typeface="JetBrains Mono" pitchFamily="49" charset="0"/>
                <a:ea typeface="JetBrains Mono" pitchFamily="49" charset="-122"/>
                <a:cs typeface="JetBrains Mono" pitchFamily="49" charset="-120"/>
              </a:rPr>
              <a:t>против субтитров YouTube</a:t>
            </a:r>
            <a:endParaRPr lang="en-US" sz="1200" dirty="0"/>
          </a:p>
        </p:txBody>
      </p:sp>
      <p:sp>
        <p:nvSpPr>
          <p:cNvPr id="6" name="Text 4"/>
          <p:cNvSpPr/>
          <p:nvPr/>
        </p:nvSpPr>
        <p:spPr>
          <a:xfrm>
            <a:off x="812800" y="2424311"/>
            <a:ext cx="3453384" cy="771922"/>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E4E4EA"/>
                </a:solidFill>
                <a:latin typeface="Golos Text" pitchFamily="34" charset="0"/>
                <a:ea typeface="Golos Text" pitchFamily="34" charset="-122"/>
                <a:cs typeface="Golos Text" pitchFamily="34" charset="-120"/>
              </a:rPr>
              <a:t>Ищем по смыслу и сразу по всем лекциям курса, а не точные слова внутри одного видео.</a:t>
            </a:r>
            <a:endParaRPr lang="en-US" sz="1400" dirty="0"/>
          </a:p>
        </p:txBody>
      </p:sp>
      <p:sp>
        <p:nvSpPr>
          <p:cNvPr id="7" name="Shape 5"/>
          <p:cNvSpPr/>
          <p:nvPr/>
        </p:nvSpPr>
        <p:spPr>
          <a:xfrm>
            <a:off x="4419600" y="1972866"/>
            <a:ext cx="3352800" cy="0"/>
          </a:xfrm>
          <a:prstGeom prst="line">
            <a:avLst/>
          </a:prstGeom>
          <a:noFill/>
          <a:ln w="19050">
            <a:solidFill>
              <a:srgbClr val="FAFAF7"/>
            </a:solidFill>
            <a:prstDash val="solid"/>
          </a:ln>
        </p:spPr>
      </p:sp>
      <p:sp>
        <p:nvSpPr>
          <p:cNvPr id="8" name="Text 6"/>
          <p:cNvSpPr/>
          <p:nvPr/>
        </p:nvSpPr>
        <p:spPr>
          <a:xfrm>
            <a:off x="4419600" y="2134791"/>
            <a:ext cx="345338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D9DFF"/>
                </a:solidFill>
                <a:latin typeface="JetBrains Mono" pitchFamily="49" charset="0"/>
                <a:ea typeface="JetBrains Mono" pitchFamily="49" charset="-122"/>
                <a:cs typeface="JetBrains Mono" pitchFamily="49" charset="-120"/>
              </a:rPr>
              <a:t>против облачных AI-сервисов</a:t>
            </a:r>
            <a:endParaRPr lang="en-US" sz="1200" dirty="0"/>
          </a:p>
        </p:txBody>
      </p:sp>
      <p:sp>
        <p:nvSpPr>
          <p:cNvPr id="9" name="Text 7"/>
          <p:cNvSpPr/>
          <p:nvPr/>
        </p:nvSpPr>
        <p:spPr>
          <a:xfrm>
            <a:off x="4419600" y="2424311"/>
            <a:ext cx="3453384" cy="771922"/>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E4E4EA"/>
                </a:solidFill>
                <a:latin typeface="Golos Text" pitchFamily="34" charset="0"/>
                <a:ea typeface="Golos Text" pitchFamily="34" charset="-122"/>
                <a:cs typeface="Golos Text" pitchFamily="34" charset="-120"/>
              </a:rPr>
              <a:t>Всё работает у вуза: лекции и вопросы студентов не уходят наружу, нет подписок и лимитов.</a:t>
            </a:r>
            <a:endParaRPr lang="en-US" sz="1400" dirty="0"/>
          </a:p>
        </p:txBody>
      </p:sp>
      <p:sp>
        <p:nvSpPr>
          <p:cNvPr id="10" name="Shape 8"/>
          <p:cNvSpPr/>
          <p:nvPr/>
        </p:nvSpPr>
        <p:spPr>
          <a:xfrm>
            <a:off x="8026400" y="1972866"/>
            <a:ext cx="3352800" cy="0"/>
          </a:xfrm>
          <a:prstGeom prst="line">
            <a:avLst/>
          </a:prstGeom>
          <a:noFill/>
          <a:ln w="19050">
            <a:solidFill>
              <a:srgbClr val="FAFAF7"/>
            </a:solidFill>
            <a:prstDash val="solid"/>
          </a:ln>
        </p:spPr>
      </p:sp>
      <p:sp>
        <p:nvSpPr>
          <p:cNvPr id="11" name="Text 9"/>
          <p:cNvSpPr/>
          <p:nvPr/>
        </p:nvSpPr>
        <p:spPr>
          <a:xfrm>
            <a:off x="8026400" y="2134791"/>
            <a:ext cx="345338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D9DFF"/>
                </a:solidFill>
                <a:latin typeface="JetBrains Mono" pitchFamily="49" charset="0"/>
                <a:ea typeface="JetBrains Mono" pitchFamily="49" charset="-122"/>
                <a:cs typeface="JetBrains Mono" pitchFamily="49" charset="-120"/>
              </a:rPr>
              <a:t>против записи в LMS</a:t>
            </a:r>
            <a:endParaRPr lang="en-US" sz="1200" dirty="0"/>
          </a:p>
        </p:txBody>
      </p:sp>
      <p:sp>
        <p:nvSpPr>
          <p:cNvPr id="12" name="Text 10"/>
          <p:cNvSpPr/>
          <p:nvPr/>
        </p:nvSpPr>
        <p:spPr>
          <a:xfrm>
            <a:off x="8026400" y="2424311"/>
            <a:ext cx="3453384" cy="771922"/>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E4E4EA"/>
                </a:solidFill>
                <a:latin typeface="Golos Text" pitchFamily="34" charset="0"/>
                <a:ea typeface="Golos Text" pitchFamily="34" charset="-122"/>
                <a:cs typeface="Golos Text" pitchFamily="34" charset="-120"/>
              </a:rPr>
              <a:t>Оглавление, конспект, тест и статистика по группе появляются сами, без работы преподавателя.</a:t>
            </a:r>
            <a:endParaRPr lang="en-US" sz="1400" dirty="0"/>
          </a:p>
        </p:txBody>
      </p:sp>
      <p:sp>
        <p:nvSpPr>
          <p:cNvPr id="13" name="Text 11"/>
          <p:cNvSpPr/>
          <p:nvPr/>
        </p:nvSpPr>
        <p:spPr>
          <a:xfrm>
            <a:off x="812800" y="3475633"/>
            <a:ext cx="3453384" cy="635000"/>
          </a:xfrm>
          <a:prstGeom prst="rect">
            <a:avLst/>
          </a:prstGeom>
          <a:noFill/>
          <a:ln/>
        </p:spPr>
        <p:txBody>
          <a:bodyPr wrap="square" lIns="0" tIns="0" rIns="0" bIns="0" rtlCol="0" anchor="t">
            <a:normAutofit/>
          </a:bodyPr>
          <a:lstStyle/>
          <a:p>
            <a:pPr algn="l" indent="0" marL="0">
              <a:lnSpc>
                <a:spcPts val="4800"/>
              </a:lnSpc>
              <a:buNone/>
            </a:pPr>
            <a:r>
              <a:rPr lang="en-US" sz="4800" b="1" spc="-200" kern="0" dirty="0">
                <a:solidFill>
                  <a:srgbClr val="FAFAF7"/>
                </a:solidFill>
                <a:latin typeface="Inter Tight" pitchFamily="34" charset="0"/>
                <a:ea typeface="Inter Tight" pitchFamily="34" charset="-122"/>
                <a:cs typeface="Inter Tight" pitchFamily="34" charset="-120"/>
              </a:rPr>
              <a:t>14 мин</a:t>
            </a:r>
            <a:endParaRPr lang="en-US" sz="4800" dirty="0"/>
          </a:p>
        </p:txBody>
      </p:sp>
      <p:sp>
        <p:nvSpPr>
          <p:cNvPr id="14" name="Text 12"/>
          <p:cNvSpPr/>
          <p:nvPr/>
        </p:nvSpPr>
        <p:spPr>
          <a:xfrm>
            <a:off x="812800" y="4136033"/>
            <a:ext cx="3453384"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C9C9D1"/>
                </a:solidFill>
                <a:latin typeface="Golos Text" pitchFamily="34" charset="0"/>
                <a:ea typeface="Golos Text" pitchFamily="34" charset="-122"/>
                <a:cs typeface="Golos Text" pitchFamily="34" charset="-120"/>
              </a:rPr>
              <a:t>на лекцию 1 ч 25 мин целиком — GTX 1660 Super, 6 ГБ</a:t>
            </a:r>
            <a:endParaRPr lang="en-US" sz="1300" dirty="0"/>
          </a:p>
        </p:txBody>
      </p:sp>
      <p:sp>
        <p:nvSpPr>
          <p:cNvPr id="15" name="Text 13"/>
          <p:cNvSpPr/>
          <p:nvPr/>
        </p:nvSpPr>
        <p:spPr>
          <a:xfrm>
            <a:off x="4419600" y="3475633"/>
            <a:ext cx="3453384" cy="635000"/>
          </a:xfrm>
          <a:prstGeom prst="rect">
            <a:avLst/>
          </a:prstGeom>
          <a:noFill/>
          <a:ln/>
        </p:spPr>
        <p:txBody>
          <a:bodyPr wrap="square" lIns="0" tIns="0" rIns="0" bIns="0" rtlCol="0" anchor="t">
            <a:normAutofit/>
          </a:bodyPr>
          <a:lstStyle/>
          <a:p>
            <a:pPr algn="l" indent="0" marL="0">
              <a:lnSpc>
                <a:spcPts val="4800"/>
              </a:lnSpc>
              <a:buNone/>
            </a:pPr>
            <a:r>
              <a:rPr lang="en-US" sz="4800" b="1" spc="-200" kern="0" dirty="0">
                <a:solidFill>
                  <a:srgbClr val="FAFAF7"/>
                </a:solidFill>
                <a:latin typeface="Inter Tight" pitchFamily="34" charset="0"/>
                <a:ea typeface="Inter Tight" pitchFamily="34" charset="-122"/>
                <a:cs typeface="Inter Tight" pitchFamily="34" charset="-120"/>
              </a:rPr>
              <a:t>17×</a:t>
            </a:r>
            <a:endParaRPr lang="en-US" sz="4800" dirty="0"/>
          </a:p>
        </p:txBody>
      </p:sp>
      <p:sp>
        <p:nvSpPr>
          <p:cNvPr id="16" name="Text 14"/>
          <p:cNvSpPr/>
          <p:nvPr/>
        </p:nvSpPr>
        <p:spPr>
          <a:xfrm>
            <a:off x="4419600" y="4136033"/>
            <a:ext cx="3453384"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C9C9D1"/>
                </a:solidFill>
                <a:latin typeface="Golos Text" pitchFamily="34" charset="0"/>
                <a:ea typeface="Golos Text" pitchFamily="34" charset="-122"/>
                <a:cs typeface="Golos Text" pitchFamily="34" charset="-120"/>
              </a:rPr>
              <a:t>быстрее реального времени идёт расшифровка</a:t>
            </a:r>
            <a:endParaRPr lang="en-US" sz="1300" dirty="0"/>
          </a:p>
        </p:txBody>
      </p:sp>
      <p:sp>
        <p:nvSpPr>
          <p:cNvPr id="17" name="Text 15"/>
          <p:cNvSpPr/>
          <p:nvPr/>
        </p:nvSpPr>
        <p:spPr>
          <a:xfrm>
            <a:off x="8026400" y="3475633"/>
            <a:ext cx="3453384" cy="635000"/>
          </a:xfrm>
          <a:prstGeom prst="rect">
            <a:avLst/>
          </a:prstGeom>
          <a:noFill/>
          <a:ln/>
        </p:spPr>
        <p:txBody>
          <a:bodyPr wrap="square" lIns="0" tIns="0" rIns="0" bIns="0" rtlCol="0" anchor="t">
            <a:normAutofit/>
          </a:bodyPr>
          <a:lstStyle/>
          <a:p>
            <a:pPr algn="l" indent="0" marL="0">
              <a:lnSpc>
                <a:spcPts val="4800"/>
              </a:lnSpc>
              <a:buNone/>
            </a:pPr>
            <a:r>
              <a:rPr lang="en-US" sz="4800" b="1" spc="-200" kern="0" dirty="0">
                <a:solidFill>
                  <a:srgbClr val="FAFAF7"/>
                </a:solidFill>
                <a:latin typeface="Inter Tight" pitchFamily="34" charset="0"/>
                <a:ea typeface="Inter Tight" pitchFamily="34" charset="-122"/>
                <a:cs typeface="Inter Tight" pitchFamily="34" charset="-120"/>
              </a:rPr>
              <a:t>0</a:t>
            </a:r>
            <a:endParaRPr lang="en-US" sz="4800" dirty="0"/>
          </a:p>
        </p:txBody>
      </p:sp>
      <p:sp>
        <p:nvSpPr>
          <p:cNvPr id="18" name="Text 16"/>
          <p:cNvSpPr/>
          <p:nvPr/>
        </p:nvSpPr>
        <p:spPr>
          <a:xfrm>
            <a:off x="8026400" y="4136033"/>
            <a:ext cx="3453384"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C9C9D1"/>
                </a:solidFill>
                <a:latin typeface="Golos Text" pitchFamily="34" charset="0"/>
                <a:ea typeface="Golos Text" pitchFamily="34" charset="-122"/>
                <a:cs typeface="Golos Text" pitchFamily="34" charset="-120"/>
              </a:rPr>
              <a:t>обращений к облачным AI-сервисам</a:t>
            </a:r>
            <a:endParaRPr lang="en-US" sz="1300" dirty="0"/>
          </a:p>
        </p:txBody>
      </p:sp>
      <p:sp>
        <p:nvSpPr>
          <p:cNvPr id="19" name="Text 17"/>
          <p:cNvSpPr/>
          <p:nvPr/>
        </p:nvSpPr>
        <p:spPr>
          <a:xfrm>
            <a:off x="812800" y="6238280"/>
            <a:ext cx="2999303"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9A9AA3"/>
                </a:solidFill>
                <a:latin typeface="JetBrains Mono" pitchFamily="49" charset="0"/>
                <a:ea typeface="JetBrains Mono" pitchFamily="49" charset="-122"/>
                <a:cs typeface="JetBrains Mono" pitchFamily="49" charset="-120"/>
              </a:rPr>
              <a:t>LECTIO · КИБЕРРЫВОК 2026</a:t>
            </a:r>
            <a:endParaRPr lang="en-US" sz="1200" dirty="0"/>
          </a:p>
        </p:txBody>
      </p:sp>
      <p:sp>
        <p:nvSpPr>
          <p:cNvPr id="20" name="Text 18"/>
          <p:cNvSpPr/>
          <p:nvPr/>
        </p:nvSpPr>
        <p:spPr>
          <a:xfrm>
            <a:off x="11145441" y="6238280"/>
            <a:ext cx="233759"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9A9AA3"/>
                </a:solidFill>
                <a:latin typeface="JetBrains Mono" pitchFamily="49" charset="0"/>
                <a:ea typeface="JetBrains Mono" pitchFamily="49" charset="-122"/>
                <a:cs typeface="JetBrains Mono" pitchFamily="49" charset="-120"/>
              </a:rPr>
              <a:t>08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2B2BFF"/>
                </a:solidFill>
                <a:latin typeface="JetBrains Mono" pitchFamily="49" charset="0"/>
                <a:ea typeface="JetBrains Mono" pitchFamily="49" charset="-122"/>
                <a:cs typeface="JetBrains Mono" pitchFamily="49" charset="-120"/>
              </a:rPr>
              <a:t>ПЕРСПЕКТИВЫ И ИТОГ</a:t>
            </a:r>
            <a:endParaRPr lang="en-US" sz="1200" dirty="0"/>
          </a:p>
        </p:txBody>
      </p:sp>
      <p:sp>
        <p:nvSpPr>
          <p:cNvPr id="3" name="Text 1"/>
          <p:cNvSpPr/>
          <p:nvPr>
            <p:ph type="title"/>
          </p:nvPr>
        </p:nvSpPr>
        <p:spPr>
          <a:xfrm>
            <a:off x="812800" y="1178520"/>
            <a:ext cx="10883392" cy="505420"/>
          </a:xfrm>
          <a:prstGeom prst="rect">
            <a:avLst/>
          </a:prstGeom>
          <a:noFill/>
          <a:ln/>
        </p:spPr>
        <p:txBody>
          <a:bodyPr wrap="square" lIns="0" tIns="0" rIns="0" bIns="0" rtlCol="0" anchor="t">
            <a:normAutofit/>
          </a:bodyPr>
          <a:lstStyle/>
          <a:p>
            <a:pPr algn="l" indent="0" marL="0">
              <a:lnSpc>
                <a:spcPts val="3780"/>
              </a:lnSpc>
              <a:buNone/>
            </a:pPr>
            <a:r>
              <a:rPr lang="en-US" sz="3600" b="1" i="0" spc="-150" kern="0" dirty="0">
                <a:solidFill>
                  <a:srgbClr val="0F0F12"/>
                </a:solidFill>
                <a:latin typeface="Inter Tight" pitchFamily="34" charset="0"/>
                <a:ea typeface="Inter Tight" pitchFamily="34" charset="-122"/>
                <a:cs typeface="Inter Tight" pitchFamily="34" charset="-120"/>
              </a:rPr>
              <a:t>Куда развивать Lectio</a:t>
            </a:r>
            <a:endParaRPr lang="en-US" sz="3600" dirty="0"/>
          </a:p>
        </p:txBody>
      </p:sp>
      <p:sp>
        <p:nvSpPr>
          <p:cNvPr id="4" name="Shape 2"/>
          <p:cNvSpPr/>
          <p:nvPr/>
        </p:nvSpPr>
        <p:spPr>
          <a:xfrm>
            <a:off x="812800" y="2023666"/>
            <a:ext cx="3318867" cy="0"/>
          </a:xfrm>
          <a:prstGeom prst="line">
            <a:avLst/>
          </a:prstGeom>
          <a:noFill/>
          <a:ln w="19050">
            <a:solidFill>
              <a:srgbClr val="0F0F12"/>
            </a:solidFill>
            <a:prstDash val="solid"/>
          </a:ln>
        </p:spPr>
      </p:sp>
      <p:sp>
        <p:nvSpPr>
          <p:cNvPr id="5" name="Text 3"/>
          <p:cNvSpPr/>
          <p:nvPr/>
        </p:nvSpPr>
        <p:spPr>
          <a:xfrm>
            <a:off x="812800" y="2185591"/>
            <a:ext cx="3418433" cy="317500"/>
          </a:xfrm>
          <a:prstGeom prst="rect">
            <a:avLst/>
          </a:prstGeom>
          <a:noFill/>
          <a:ln/>
        </p:spPr>
        <p:txBody>
          <a:bodyPr wrap="square" lIns="0" tIns="0" rIns="0" bIns="0" rtlCol="0" anchor="t">
            <a:normAutofit/>
          </a:bodyPr>
          <a:lstStyle/>
          <a:p>
            <a:pPr algn="l" indent="0" marL="0">
              <a:lnSpc>
                <a:spcPts val="2300"/>
              </a:lnSpc>
              <a:buNone/>
            </a:pPr>
            <a:r>
              <a:rPr lang="en-US" sz="2000" b="1" dirty="0">
                <a:solidFill>
                  <a:srgbClr val="0F0F12"/>
                </a:solidFill>
                <a:latin typeface="Inter Tight" pitchFamily="34" charset="0"/>
                <a:ea typeface="Inter Tight" pitchFamily="34" charset="-122"/>
                <a:cs typeface="Inter Tight" pitchFamily="34" charset="-120"/>
              </a:rPr>
              <a:t>Интеграция с LMS</a:t>
            </a:r>
            <a:endParaRPr lang="en-US" sz="2000" dirty="0"/>
          </a:p>
        </p:txBody>
      </p:sp>
      <p:sp>
        <p:nvSpPr>
          <p:cNvPr id="6" name="Text 4"/>
          <p:cNvSpPr/>
          <p:nvPr/>
        </p:nvSpPr>
        <p:spPr>
          <a:xfrm>
            <a:off x="812800" y="2553891"/>
            <a:ext cx="3418433"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4A50"/>
                </a:solidFill>
                <a:latin typeface="Golos Text" pitchFamily="34" charset="0"/>
                <a:ea typeface="Golos Text" pitchFamily="34" charset="-122"/>
                <a:cs typeface="Golos Text" pitchFamily="34" charset="-120"/>
              </a:rPr>
              <a:t>Moodle и вузовские системы: лекции курса и оценки за тесты.</a:t>
            </a:r>
            <a:endParaRPr lang="en-US" sz="1400" dirty="0"/>
          </a:p>
        </p:txBody>
      </p:sp>
      <p:sp>
        <p:nvSpPr>
          <p:cNvPr id="7" name="Shape 5"/>
          <p:cNvSpPr/>
          <p:nvPr/>
        </p:nvSpPr>
        <p:spPr>
          <a:xfrm>
            <a:off x="4436467" y="2023666"/>
            <a:ext cx="3318966" cy="0"/>
          </a:xfrm>
          <a:prstGeom prst="line">
            <a:avLst/>
          </a:prstGeom>
          <a:noFill/>
          <a:ln w="19050">
            <a:solidFill>
              <a:srgbClr val="0F0F12"/>
            </a:solidFill>
            <a:prstDash val="solid"/>
          </a:ln>
        </p:spPr>
      </p:sp>
      <p:sp>
        <p:nvSpPr>
          <p:cNvPr id="8" name="Text 6"/>
          <p:cNvSpPr/>
          <p:nvPr/>
        </p:nvSpPr>
        <p:spPr>
          <a:xfrm>
            <a:off x="4436467" y="2185591"/>
            <a:ext cx="3418535" cy="317500"/>
          </a:xfrm>
          <a:prstGeom prst="rect">
            <a:avLst/>
          </a:prstGeom>
          <a:noFill/>
          <a:ln/>
        </p:spPr>
        <p:txBody>
          <a:bodyPr wrap="square" lIns="0" tIns="0" rIns="0" bIns="0" rtlCol="0" anchor="t">
            <a:normAutofit/>
          </a:bodyPr>
          <a:lstStyle/>
          <a:p>
            <a:pPr algn="l" indent="0" marL="0">
              <a:lnSpc>
                <a:spcPts val="2300"/>
              </a:lnSpc>
              <a:buNone/>
            </a:pPr>
            <a:r>
              <a:rPr lang="en-US" sz="2000" b="1" dirty="0">
                <a:solidFill>
                  <a:srgbClr val="0F0F12"/>
                </a:solidFill>
                <a:latin typeface="Inter Tight" pitchFamily="34" charset="0"/>
                <a:ea typeface="Inter Tight" pitchFamily="34" charset="-122"/>
                <a:cs typeface="Inter Tight" pitchFamily="34" charset="-120"/>
              </a:rPr>
              <a:t>Сервер без GPU</a:t>
            </a:r>
            <a:endParaRPr lang="en-US" sz="2000" dirty="0"/>
          </a:p>
        </p:txBody>
      </p:sp>
      <p:sp>
        <p:nvSpPr>
          <p:cNvPr id="9" name="Text 7"/>
          <p:cNvSpPr/>
          <p:nvPr/>
        </p:nvSpPr>
        <p:spPr>
          <a:xfrm>
            <a:off x="4436467" y="2553891"/>
            <a:ext cx="3418535" cy="771922"/>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4A50"/>
                </a:solidFill>
                <a:latin typeface="Golos Text" pitchFamily="34" charset="0"/>
                <a:ea typeface="Golos Text" pitchFamily="34" charset="-122"/>
                <a:cs typeface="Golos Text" pitchFamily="34" charset="-120"/>
              </a:rPr>
              <a:t>Облачная расшифровка и модель посильнее — для вузов без видеокарт.</a:t>
            </a:r>
            <a:endParaRPr lang="en-US" sz="1400" dirty="0"/>
          </a:p>
        </p:txBody>
      </p:sp>
      <p:sp>
        <p:nvSpPr>
          <p:cNvPr id="10" name="Shape 8"/>
          <p:cNvSpPr/>
          <p:nvPr/>
        </p:nvSpPr>
        <p:spPr>
          <a:xfrm>
            <a:off x="8060234" y="2023666"/>
            <a:ext cx="3318966" cy="0"/>
          </a:xfrm>
          <a:prstGeom prst="line">
            <a:avLst/>
          </a:prstGeom>
          <a:noFill/>
          <a:ln w="19050">
            <a:solidFill>
              <a:srgbClr val="0F0F12"/>
            </a:solidFill>
            <a:prstDash val="solid"/>
          </a:ln>
        </p:spPr>
      </p:sp>
      <p:sp>
        <p:nvSpPr>
          <p:cNvPr id="11" name="Text 9"/>
          <p:cNvSpPr/>
          <p:nvPr/>
        </p:nvSpPr>
        <p:spPr>
          <a:xfrm>
            <a:off x="8060234" y="2185591"/>
            <a:ext cx="3418535" cy="317500"/>
          </a:xfrm>
          <a:prstGeom prst="rect">
            <a:avLst/>
          </a:prstGeom>
          <a:noFill/>
          <a:ln/>
        </p:spPr>
        <p:txBody>
          <a:bodyPr wrap="square" lIns="0" tIns="0" rIns="0" bIns="0" rtlCol="0" anchor="t">
            <a:normAutofit/>
          </a:bodyPr>
          <a:lstStyle/>
          <a:p>
            <a:pPr algn="l" indent="0" marL="0">
              <a:lnSpc>
                <a:spcPts val="2300"/>
              </a:lnSpc>
              <a:buNone/>
            </a:pPr>
            <a:r>
              <a:rPr lang="en-US" sz="2000" b="1" dirty="0">
                <a:solidFill>
                  <a:srgbClr val="0F0F12"/>
                </a:solidFill>
                <a:latin typeface="Inter Tight" pitchFamily="34" charset="0"/>
                <a:ea typeface="Inter Tight" pitchFamily="34" charset="-122"/>
                <a:cs typeface="Inter Tight" pitchFamily="34" charset="-120"/>
              </a:rPr>
              <a:t>Целые курсы</a:t>
            </a:r>
            <a:endParaRPr lang="en-US" sz="2000" dirty="0"/>
          </a:p>
        </p:txBody>
      </p:sp>
      <p:sp>
        <p:nvSpPr>
          <p:cNvPr id="12" name="Text 10"/>
          <p:cNvSpPr/>
          <p:nvPr/>
        </p:nvSpPr>
        <p:spPr>
          <a:xfrm>
            <a:off x="8060234" y="2553891"/>
            <a:ext cx="3418535"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4A50"/>
                </a:solidFill>
                <a:latin typeface="Golos Text" pitchFamily="34" charset="0"/>
                <a:ea typeface="Golos Text" pitchFamily="34" charset="-122"/>
                <a:cs typeface="Golos Text" pitchFamily="34" charset="-120"/>
              </a:rPr>
              <a:t>Импорт плейлиста или канала одной ссылкой.</a:t>
            </a:r>
            <a:endParaRPr lang="en-US" sz="1400" dirty="0"/>
          </a:p>
        </p:txBody>
      </p:sp>
      <p:sp>
        <p:nvSpPr>
          <p:cNvPr id="13" name="Shape 11"/>
          <p:cNvSpPr/>
          <p:nvPr/>
        </p:nvSpPr>
        <p:spPr>
          <a:xfrm>
            <a:off x="812800" y="3563938"/>
            <a:ext cx="3318867" cy="0"/>
          </a:xfrm>
          <a:prstGeom prst="line">
            <a:avLst/>
          </a:prstGeom>
          <a:noFill/>
          <a:ln w="19050">
            <a:solidFill>
              <a:srgbClr val="0F0F12"/>
            </a:solidFill>
            <a:prstDash val="solid"/>
          </a:ln>
        </p:spPr>
      </p:sp>
      <p:sp>
        <p:nvSpPr>
          <p:cNvPr id="14" name="Text 12"/>
          <p:cNvSpPr/>
          <p:nvPr/>
        </p:nvSpPr>
        <p:spPr>
          <a:xfrm>
            <a:off x="812800" y="3725863"/>
            <a:ext cx="3418433" cy="317500"/>
          </a:xfrm>
          <a:prstGeom prst="rect">
            <a:avLst/>
          </a:prstGeom>
          <a:noFill/>
          <a:ln/>
        </p:spPr>
        <p:txBody>
          <a:bodyPr wrap="square" lIns="0" tIns="0" rIns="0" bIns="0" rtlCol="0" anchor="t">
            <a:normAutofit/>
          </a:bodyPr>
          <a:lstStyle/>
          <a:p>
            <a:pPr algn="l" indent="0" marL="0">
              <a:lnSpc>
                <a:spcPts val="2300"/>
              </a:lnSpc>
              <a:buNone/>
            </a:pPr>
            <a:r>
              <a:rPr lang="en-US" sz="2000" b="1" dirty="0">
                <a:solidFill>
                  <a:srgbClr val="0F0F12"/>
                </a:solidFill>
                <a:latin typeface="Inter Tight" pitchFamily="34" charset="0"/>
                <a:ea typeface="Inter Tight" pitchFamily="34" charset="-122"/>
                <a:cs typeface="Inter Tight" pitchFamily="34" charset="-120"/>
              </a:rPr>
              <a:t>Повторения</a:t>
            </a:r>
            <a:endParaRPr lang="en-US" sz="2000" dirty="0"/>
          </a:p>
        </p:txBody>
      </p:sp>
      <p:sp>
        <p:nvSpPr>
          <p:cNvPr id="15" name="Text 13"/>
          <p:cNvSpPr/>
          <p:nvPr/>
        </p:nvSpPr>
        <p:spPr>
          <a:xfrm>
            <a:off x="812800" y="4094163"/>
            <a:ext cx="3418433"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4A50"/>
                </a:solidFill>
                <a:latin typeface="Golos Text" pitchFamily="34" charset="0"/>
                <a:ea typeface="Golos Text" pitchFamily="34" charset="-122"/>
                <a:cs typeface="Golos Text" pitchFamily="34" charset="-120"/>
              </a:rPr>
              <a:t>Интервальные повторения по вопросам, где студент ошибся.</a:t>
            </a:r>
            <a:endParaRPr lang="en-US" sz="1400" dirty="0"/>
          </a:p>
        </p:txBody>
      </p:sp>
      <p:sp>
        <p:nvSpPr>
          <p:cNvPr id="16" name="Shape 14"/>
          <p:cNvSpPr/>
          <p:nvPr/>
        </p:nvSpPr>
        <p:spPr>
          <a:xfrm>
            <a:off x="4436467" y="3563938"/>
            <a:ext cx="3318966" cy="0"/>
          </a:xfrm>
          <a:prstGeom prst="line">
            <a:avLst/>
          </a:prstGeom>
          <a:noFill/>
          <a:ln w="19050">
            <a:solidFill>
              <a:srgbClr val="0F0F12"/>
            </a:solidFill>
            <a:prstDash val="solid"/>
          </a:ln>
        </p:spPr>
      </p:sp>
      <p:sp>
        <p:nvSpPr>
          <p:cNvPr id="17" name="Text 15"/>
          <p:cNvSpPr/>
          <p:nvPr/>
        </p:nvSpPr>
        <p:spPr>
          <a:xfrm>
            <a:off x="4436467" y="3725863"/>
            <a:ext cx="3418535" cy="317500"/>
          </a:xfrm>
          <a:prstGeom prst="rect">
            <a:avLst/>
          </a:prstGeom>
          <a:noFill/>
          <a:ln/>
        </p:spPr>
        <p:txBody>
          <a:bodyPr wrap="square" lIns="0" tIns="0" rIns="0" bIns="0" rtlCol="0" anchor="t">
            <a:normAutofit/>
          </a:bodyPr>
          <a:lstStyle/>
          <a:p>
            <a:pPr algn="l" indent="0" marL="0">
              <a:lnSpc>
                <a:spcPts val="2300"/>
              </a:lnSpc>
              <a:buNone/>
            </a:pPr>
            <a:r>
              <a:rPr lang="en-US" sz="2000" b="1" dirty="0">
                <a:solidFill>
                  <a:srgbClr val="0F0F12"/>
                </a:solidFill>
                <a:latin typeface="Inter Tight" pitchFamily="34" charset="0"/>
                <a:ea typeface="Inter Tight" pitchFamily="34" charset="-122"/>
                <a:cs typeface="Inter Tight" pitchFamily="34" charset="-120"/>
              </a:rPr>
              <a:t>Доска в кадре</a:t>
            </a:r>
            <a:endParaRPr lang="en-US" sz="2000" dirty="0"/>
          </a:p>
        </p:txBody>
      </p:sp>
      <p:sp>
        <p:nvSpPr>
          <p:cNvPr id="18" name="Text 16"/>
          <p:cNvSpPr/>
          <p:nvPr/>
        </p:nvSpPr>
        <p:spPr>
          <a:xfrm>
            <a:off x="4436467" y="4094163"/>
            <a:ext cx="3418535"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4A50"/>
                </a:solidFill>
                <a:latin typeface="Golos Text" pitchFamily="34" charset="0"/>
                <a:ea typeface="Golos Text" pitchFamily="34" charset="-122"/>
                <a:cs typeface="Golos Text" pitchFamily="34" charset="-120"/>
              </a:rPr>
              <a:t>Распознавание формул и схем с доски — в поиск и конспект.</a:t>
            </a:r>
            <a:endParaRPr lang="en-US" sz="1400" dirty="0"/>
          </a:p>
        </p:txBody>
      </p:sp>
      <p:sp>
        <p:nvSpPr>
          <p:cNvPr id="19" name="Shape 17"/>
          <p:cNvSpPr/>
          <p:nvPr/>
        </p:nvSpPr>
        <p:spPr>
          <a:xfrm>
            <a:off x="8060234" y="3563938"/>
            <a:ext cx="3318966" cy="0"/>
          </a:xfrm>
          <a:prstGeom prst="line">
            <a:avLst/>
          </a:prstGeom>
          <a:noFill/>
          <a:ln w="19050">
            <a:solidFill>
              <a:srgbClr val="0F0F12"/>
            </a:solidFill>
            <a:prstDash val="solid"/>
          </a:ln>
        </p:spPr>
      </p:sp>
      <p:sp>
        <p:nvSpPr>
          <p:cNvPr id="20" name="Text 18"/>
          <p:cNvSpPr/>
          <p:nvPr/>
        </p:nvSpPr>
        <p:spPr>
          <a:xfrm>
            <a:off x="8060234" y="3725863"/>
            <a:ext cx="3418535" cy="317500"/>
          </a:xfrm>
          <a:prstGeom prst="rect">
            <a:avLst/>
          </a:prstGeom>
          <a:noFill/>
          <a:ln/>
        </p:spPr>
        <p:txBody>
          <a:bodyPr wrap="square" lIns="0" tIns="0" rIns="0" bIns="0" rtlCol="0" anchor="t">
            <a:normAutofit/>
          </a:bodyPr>
          <a:lstStyle/>
          <a:p>
            <a:pPr algn="l" indent="0" marL="0">
              <a:lnSpc>
                <a:spcPts val="2300"/>
              </a:lnSpc>
              <a:buNone/>
            </a:pPr>
            <a:r>
              <a:rPr lang="en-US" sz="2000" b="1" dirty="0">
                <a:solidFill>
                  <a:srgbClr val="0F0F12"/>
                </a:solidFill>
                <a:latin typeface="Inter Tight" pitchFamily="34" charset="0"/>
                <a:ea typeface="Inter Tight" pitchFamily="34" charset="-122"/>
                <a:cs typeface="Inter Tight" pitchFamily="34" charset="-120"/>
              </a:rPr>
              <a:t>Экспорт</a:t>
            </a:r>
            <a:endParaRPr lang="en-US" sz="2000" dirty="0"/>
          </a:p>
        </p:txBody>
      </p:sp>
      <p:sp>
        <p:nvSpPr>
          <p:cNvPr id="21" name="Text 19"/>
          <p:cNvSpPr/>
          <p:nvPr/>
        </p:nvSpPr>
        <p:spPr>
          <a:xfrm>
            <a:off x="8060234" y="4094163"/>
            <a:ext cx="3418535"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4A50"/>
                </a:solidFill>
                <a:latin typeface="Golos Text" pitchFamily="34" charset="0"/>
                <a:ea typeface="Golos Text" pitchFamily="34" charset="-122"/>
                <a:cs typeface="Golos Text" pitchFamily="34" charset="-120"/>
              </a:rPr>
              <a:t>Конспект в Markdown и Obsidian одной кнопкой.</a:t>
            </a:r>
            <a:endParaRPr lang="en-US" sz="1400" dirty="0"/>
          </a:p>
        </p:txBody>
      </p:sp>
      <p:sp>
        <p:nvSpPr>
          <p:cNvPr id="22" name="Shape 20"/>
          <p:cNvSpPr/>
          <p:nvPr/>
        </p:nvSpPr>
        <p:spPr>
          <a:xfrm>
            <a:off x="812800" y="4947444"/>
            <a:ext cx="10566400" cy="612775"/>
          </a:xfrm>
          <a:prstGeom prst="rect">
            <a:avLst/>
          </a:prstGeom>
          <a:solidFill>
            <a:srgbClr val="0F0F12"/>
          </a:solidFill>
          <a:ln/>
        </p:spPr>
      </p:sp>
      <p:sp>
        <p:nvSpPr>
          <p:cNvPr id="23" name="Text 21"/>
          <p:cNvSpPr/>
          <p:nvPr/>
        </p:nvSpPr>
        <p:spPr>
          <a:xfrm>
            <a:off x="1066800" y="5147171"/>
            <a:ext cx="492820" cy="238720"/>
          </a:xfrm>
          <a:prstGeom prst="rect">
            <a:avLst/>
          </a:prstGeom>
          <a:noFill/>
          <a:ln/>
        </p:spPr>
        <p:txBody>
          <a:bodyPr wrap="none" lIns="0" tIns="0" rIns="0" bIns="0" rtlCol="0" anchor="t">
            <a:normAutofit/>
          </a:bodyPr>
          <a:lstStyle/>
          <a:p>
            <a:pPr algn="l" indent="0" marL="0">
              <a:lnSpc>
                <a:spcPts val="1680"/>
              </a:lnSpc>
              <a:buNone/>
            </a:pPr>
            <a:r>
              <a:rPr lang="en-US" sz="1200" spc="150" kern="0" dirty="0">
                <a:solidFill>
                  <a:srgbClr val="9D9DFF"/>
                </a:solidFill>
                <a:latin typeface="JetBrains Mono" pitchFamily="49" charset="0"/>
                <a:ea typeface="JetBrains Mono" pitchFamily="49" charset="-122"/>
                <a:cs typeface="JetBrains Mono" pitchFamily="49" charset="-120"/>
              </a:rPr>
              <a:t>ИТОГ</a:t>
            </a:r>
            <a:endParaRPr lang="en-US" sz="1200" dirty="0"/>
          </a:p>
        </p:txBody>
      </p:sp>
      <p:sp>
        <p:nvSpPr>
          <p:cNvPr id="24" name="Text 22"/>
          <p:cNvSpPr/>
          <p:nvPr/>
        </p:nvSpPr>
        <p:spPr>
          <a:xfrm>
            <a:off x="1712020" y="5125244"/>
            <a:ext cx="8845748"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FAFAF7"/>
                </a:solidFill>
                <a:latin typeface="Golos Text" pitchFamily="34" charset="0"/>
                <a:ea typeface="Golos Text" pitchFamily="34" charset="-122"/>
                <a:cs typeface="Golos Text" pitchFamily="34" charset="-120"/>
              </a:rPr>
              <a:t>Рабочий прототип: все пункты ТЗ, поиск по смыслу, локально на обычном ПК.</a:t>
            </a:r>
            <a:endParaRPr lang="en-US" sz="1500" dirty="0"/>
          </a:p>
        </p:txBody>
      </p:sp>
      <p:sp>
        <p:nvSpPr>
          <p:cNvPr id="25" name="Text 23"/>
          <p:cNvSpPr/>
          <p:nvPr/>
        </p:nvSpPr>
        <p:spPr>
          <a:xfrm>
            <a:off x="812800" y="6238280"/>
            <a:ext cx="2999303"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6B6B70"/>
                </a:solidFill>
                <a:latin typeface="JetBrains Mono" pitchFamily="49" charset="0"/>
                <a:ea typeface="JetBrains Mono" pitchFamily="49" charset="-122"/>
                <a:cs typeface="JetBrains Mono" pitchFamily="49" charset="-120"/>
              </a:rPr>
              <a:t>LECTIO · КИБЕРРЫВОК 2026</a:t>
            </a:r>
            <a:endParaRPr lang="en-US" sz="1200" dirty="0"/>
          </a:p>
        </p:txBody>
      </p:sp>
      <p:sp>
        <p:nvSpPr>
          <p:cNvPr id="26" name="Text 24"/>
          <p:cNvSpPr/>
          <p:nvPr/>
        </p:nvSpPr>
        <p:spPr>
          <a:xfrm>
            <a:off x="11145441" y="6238280"/>
            <a:ext cx="233759"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B70"/>
                </a:solidFill>
                <a:latin typeface="JetBrains Mono" pitchFamily="49" charset="0"/>
                <a:ea typeface="JetBrains Mono" pitchFamily="49" charset="-122"/>
                <a:cs typeface="JetBrains Mono" pitchFamily="49" charset="-120"/>
              </a:rPr>
              <a:t>09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2B2BF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FAFAF7"/>
                </a:solidFill>
                <a:latin typeface="JetBrains Mono" pitchFamily="49" charset="0"/>
                <a:ea typeface="JetBrains Mono" pitchFamily="49" charset="-122"/>
                <a:cs typeface="JetBrains Mono" pitchFamily="49" charset="-120"/>
              </a:rPr>
              <a:t>LECTIO · КИБЕРРЫВОК 2026</a:t>
            </a:r>
            <a:endParaRPr lang="en-US" sz="1200" dirty="0"/>
          </a:p>
        </p:txBody>
      </p:sp>
      <p:sp>
        <p:nvSpPr>
          <p:cNvPr id="3" name="Text 1"/>
          <p:cNvSpPr/>
          <p:nvPr>
            <p:ph type="title"/>
          </p:nvPr>
        </p:nvSpPr>
        <p:spPr>
          <a:xfrm>
            <a:off x="812800" y="2120999"/>
            <a:ext cx="10883392" cy="1231900"/>
          </a:xfrm>
          <a:prstGeom prst="rect">
            <a:avLst/>
          </a:prstGeom>
          <a:noFill/>
          <a:ln/>
        </p:spPr>
        <p:txBody>
          <a:bodyPr wrap="square" lIns="0" tIns="0" rIns="0" bIns="0" rtlCol="0" anchor="t">
            <a:normAutofit/>
          </a:bodyPr>
          <a:lstStyle/>
          <a:p>
            <a:pPr algn="l" indent="0" marL="0">
              <a:lnSpc>
                <a:spcPts val="9500"/>
              </a:lnSpc>
              <a:buNone/>
            </a:pPr>
            <a:r>
              <a:rPr lang="en-US" sz="10000" b="1" i="0" spc="-400" kern="0" dirty="0">
                <a:solidFill>
                  <a:srgbClr val="FAFAF7"/>
                </a:solidFill>
                <a:latin typeface="Inter Tight" pitchFamily="34" charset="0"/>
                <a:ea typeface="Inter Tight" pitchFamily="34" charset="-122"/>
                <a:cs typeface="Inter Tight" pitchFamily="34" charset="-120"/>
              </a:rPr>
              <a:t>Спасибо!</a:t>
            </a:r>
            <a:endParaRPr lang="en-US" sz="10000" dirty="0"/>
          </a:p>
        </p:txBody>
      </p:sp>
      <p:sp>
        <p:nvSpPr>
          <p:cNvPr id="4" name="Text 2"/>
          <p:cNvSpPr/>
          <p:nvPr/>
        </p:nvSpPr>
        <p:spPr>
          <a:xfrm>
            <a:off x="812800" y="3530699"/>
            <a:ext cx="8502650" cy="406400"/>
          </a:xfrm>
          <a:prstGeom prst="rect">
            <a:avLst/>
          </a:prstGeom>
          <a:noFill/>
          <a:ln/>
        </p:spPr>
        <p:txBody>
          <a:bodyPr wrap="square" lIns="0" tIns="0" rIns="0" bIns="0" rtlCol="0" anchor="t">
            <a:normAutofit/>
          </a:bodyPr>
          <a:lstStyle/>
          <a:p>
            <a:pPr algn="l" indent="0" marL="0">
              <a:lnSpc>
                <a:spcPts val="3000"/>
              </a:lnSpc>
              <a:buNone/>
            </a:pPr>
            <a:r>
              <a:rPr lang="en-US" sz="2400" dirty="0">
                <a:solidFill>
                  <a:srgbClr val="FAFAF7"/>
                </a:solidFill>
                <a:latin typeface="Golos Text" pitchFamily="34" charset="0"/>
                <a:ea typeface="Golos Text" pitchFamily="34" charset="-122"/>
                <a:cs typeface="Golos Text" pitchFamily="34" charset="-120"/>
              </a:rPr>
              <a:t>Готовы ответить на вопросы.</a:t>
            </a:r>
            <a:endParaRPr lang="en-US" sz="2400" dirty="0"/>
          </a:p>
        </p:txBody>
      </p:sp>
      <p:sp>
        <p:nvSpPr>
          <p:cNvPr id="5" name="Shape 3"/>
          <p:cNvSpPr/>
          <p:nvPr/>
        </p:nvSpPr>
        <p:spPr>
          <a:xfrm>
            <a:off x="812800" y="5012829"/>
            <a:ext cx="10566400" cy="0"/>
          </a:xfrm>
          <a:prstGeom prst="line">
            <a:avLst/>
          </a:prstGeom>
          <a:noFill/>
          <a:ln w="12700">
            <a:solidFill>
              <a:srgbClr val="FAFAF7"/>
            </a:solidFill>
            <a:prstDash val="solid"/>
          </a:ln>
        </p:spPr>
      </p:sp>
      <p:sp>
        <p:nvSpPr>
          <p:cNvPr id="6" name="Text 4"/>
          <p:cNvSpPr/>
          <p:nvPr/>
        </p:nvSpPr>
        <p:spPr>
          <a:xfrm>
            <a:off x="812800" y="5222379"/>
            <a:ext cx="2976949" cy="345380"/>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FAFAF7"/>
                </a:solidFill>
                <a:latin typeface="Inter Tight" pitchFamily="34" charset="0"/>
                <a:ea typeface="Inter Tight" pitchFamily="34" charset="-122"/>
                <a:cs typeface="Inter Tight" pitchFamily="34" charset="-120"/>
              </a:rPr>
              <a:t>Команда «ветмо»</a:t>
            </a:r>
            <a:endParaRPr lang="en-US" sz="1800" dirty="0"/>
          </a:p>
        </p:txBody>
      </p:sp>
      <p:sp>
        <p:nvSpPr>
          <p:cNvPr id="7" name="Text 5"/>
          <p:cNvSpPr/>
          <p:nvPr/>
        </p:nvSpPr>
        <p:spPr>
          <a:xfrm>
            <a:off x="812800" y="5593159"/>
            <a:ext cx="3468291"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FAFAF7"/>
                </a:solidFill>
                <a:latin typeface="Golos Text" pitchFamily="34" charset="0"/>
                <a:ea typeface="Golos Text" pitchFamily="34" charset="-122"/>
                <a:cs typeface="Golos Text" pitchFamily="34" charset="-120"/>
              </a:rPr>
              <a:t>Юзьков Алексей · Буданов Антон</a:t>
            </a:r>
            <a:endParaRPr lang="en-US" sz="1400" dirty="0"/>
          </a:p>
        </p:txBody>
      </p:sp>
      <p:sp>
        <p:nvSpPr>
          <p:cNvPr id="8" name="Text 6"/>
          <p:cNvSpPr/>
          <p:nvPr/>
        </p:nvSpPr>
        <p:spPr>
          <a:xfrm>
            <a:off x="7721481" y="5557540"/>
            <a:ext cx="3657719" cy="309860"/>
          </a:xfrm>
          <a:prstGeom prst="rect">
            <a:avLst/>
          </a:prstGeom>
          <a:noFill/>
          <a:ln/>
        </p:spPr>
        <p:txBody>
          <a:bodyPr wrap="square" lIns="0" tIns="0" rIns="0" bIns="0" rtlCol="0" anchor="t">
            <a:normAutofit/>
          </a:bodyPr>
          <a:lstStyle/>
          <a:p>
            <a:pPr algn="r" indent="0" marL="0">
              <a:lnSpc>
                <a:spcPts val="2240"/>
              </a:lnSpc>
              <a:buNone/>
            </a:pPr>
            <a:r>
              <a:rPr lang="en-US" sz="1600" u="sng" dirty="0">
                <a:solidFill>
                  <a:srgbClr val="FAFAF7"/>
                </a:solidFill>
                <a:latin typeface="JetBrains Mono" pitchFamily="49" charset="0"/>
                <a:ea typeface="JetBrains Mono" pitchFamily="49" charset="-122"/>
                <a:cs typeface="JetBrains Mono" pitchFamily="49" charset="-120"/>
                <a:hlinkClick r:id="rId1" invalidUrl="" action="" tgtFrame="" tooltip="" history="1" highlightClick="0" endSnd="0">
                  <a:extLst>
                    <a:ext uri="{A12FA001-AC4F-418D-AE19-62706E023703}">
                      <ahyp:hlinkClr xmlns:ahyp="http://schemas.microsoft.com/office/drawing/2018/hyperlinkcolor" val="tx"/>
                    </a:ext>
                  </a:extLst>
                </a:hlinkClick>
              </a:rPr>
              <a:t>github.com/anxi0uz/lectio</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1F1EC"/>
        </a:solidFill>
      </p:bgPr>
    </p:bg>
    <p:spTree>
      <p:nvGrpSpPr>
        <p:cNvPr id="1" name=""/>
        <p:cNvGrpSpPr/>
        <p:nvPr/>
      </p:nvGrpSpPr>
      <p:grpSpPr>
        <a:xfrm>
          <a:off x="0" y="0"/>
          <a:ext cx="0" cy="0"/>
          <a:chOff x="0" y="0"/>
          <a:chExt cx="0" cy="0"/>
        </a:xfrm>
      </p:grpSpPr>
      <p:sp>
        <p:nvSpPr>
          <p:cNvPr id="2" name="Text 0"/>
          <p:cNvSpPr/>
          <p:nvPr/>
        </p:nvSpPr>
        <p:spPr>
          <a:xfrm>
            <a:off x="812800" y="232797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2B2BFF"/>
                </a:solidFill>
                <a:latin typeface="JetBrains Mono" pitchFamily="49" charset="0"/>
                <a:ea typeface="JetBrains Mono" pitchFamily="49" charset="-122"/>
                <a:cs typeface="JetBrains Mono" pitchFamily="49" charset="-120"/>
              </a:rPr>
              <a:t>ПРИЛОЖЕНИЕ</a:t>
            </a:r>
            <a:endParaRPr lang="en-US" sz="1200" dirty="0"/>
          </a:p>
        </p:txBody>
      </p:sp>
      <p:sp>
        <p:nvSpPr>
          <p:cNvPr id="3" name="Text 1"/>
          <p:cNvSpPr/>
          <p:nvPr>
            <p:ph type="title"/>
          </p:nvPr>
        </p:nvSpPr>
        <p:spPr>
          <a:xfrm>
            <a:off x="812800" y="2744490"/>
            <a:ext cx="10883392" cy="787400"/>
          </a:xfrm>
          <a:prstGeom prst="rect">
            <a:avLst/>
          </a:prstGeom>
          <a:noFill/>
          <a:ln/>
        </p:spPr>
        <p:txBody>
          <a:bodyPr wrap="square" lIns="0" tIns="0" rIns="0" bIns="0" rtlCol="0" anchor="t">
            <a:normAutofit/>
          </a:bodyPr>
          <a:lstStyle/>
          <a:p>
            <a:pPr algn="l" indent="0" marL="0">
              <a:lnSpc>
                <a:spcPts val="6000"/>
              </a:lnSpc>
              <a:buNone/>
            </a:pPr>
            <a:r>
              <a:rPr lang="en-US" sz="6000" b="1" i="0" spc="-250" kern="0" dirty="0">
                <a:solidFill>
                  <a:srgbClr val="0F0F12"/>
                </a:solidFill>
                <a:latin typeface="Inter Tight" pitchFamily="34" charset="0"/>
                <a:ea typeface="Inter Tight" pitchFamily="34" charset="-122"/>
                <a:cs typeface="Inter Tight" pitchFamily="34" charset="-120"/>
              </a:rPr>
              <a:t>Скриншоты продукта</a:t>
            </a:r>
            <a:endParaRPr lang="en-US" sz="6000" dirty="0"/>
          </a:p>
        </p:txBody>
      </p:sp>
      <p:sp>
        <p:nvSpPr>
          <p:cNvPr id="4" name="Text 2"/>
          <p:cNvSpPr/>
          <p:nvPr/>
        </p:nvSpPr>
        <p:spPr>
          <a:xfrm>
            <a:off x="812800" y="3709690"/>
            <a:ext cx="7848600" cy="642541"/>
          </a:xfrm>
          <a:prstGeom prst="rect">
            <a:avLst/>
          </a:prstGeom>
          <a:noFill/>
          <a:ln/>
        </p:spPr>
        <p:txBody>
          <a:bodyPr wrap="square" lIns="0" tIns="0" rIns="0" bIns="0" rtlCol="0" anchor="t">
            <a:normAutofit/>
          </a:bodyPr>
          <a:lstStyle/>
          <a:p>
            <a:pPr algn="l" indent="0" marL="0">
              <a:lnSpc>
                <a:spcPts val="2430"/>
              </a:lnSpc>
              <a:buNone/>
            </a:pPr>
            <a:r>
              <a:rPr lang="en-US" sz="1800" dirty="0">
                <a:solidFill>
                  <a:srgbClr val="4A4A50"/>
                </a:solidFill>
                <a:latin typeface="Golos Text" pitchFamily="34" charset="0"/>
                <a:ea typeface="Golos Text" pitchFamily="34" charset="-122"/>
                <a:cs typeface="Golos Text" pitchFamily="34" charset="-120"/>
              </a:rPr>
              <a:t>Поиск, плеер, конспект, чат, тест со статистикой и личный кабинет — для вопросов жюри.</a:t>
            </a:r>
            <a:endParaRPr lang="en-US" sz="1800" dirty="0"/>
          </a:p>
        </p:txBody>
      </p:sp>
      <p:sp>
        <p:nvSpPr>
          <p:cNvPr id="5" name="Text 3"/>
          <p:cNvSpPr/>
          <p:nvPr/>
        </p:nvSpPr>
        <p:spPr>
          <a:xfrm>
            <a:off x="812800" y="6238280"/>
            <a:ext cx="2999303"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6B6B70"/>
                </a:solidFill>
                <a:latin typeface="JetBrains Mono" pitchFamily="49" charset="0"/>
                <a:ea typeface="JetBrains Mono" pitchFamily="49" charset="-122"/>
                <a:cs typeface="JetBrains Mono" pitchFamily="49" charset="-120"/>
              </a:rPr>
              <a:t>LECTIO · КИБЕРРЫВОК 2026</a:t>
            </a:r>
            <a:endParaRPr lang="en-US" sz="1200" dirty="0"/>
          </a:p>
        </p:txBody>
      </p:sp>
      <p:sp>
        <p:nvSpPr>
          <p:cNvPr id="6" name="Text 4"/>
          <p:cNvSpPr/>
          <p:nvPr/>
        </p:nvSpPr>
        <p:spPr>
          <a:xfrm>
            <a:off x="11145441" y="6238280"/>
            <a:ext cx="233759"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B70"/>
                </a:solidFill>
                <a:latin typeface="JetBrains Mono" pitchFamily="49" charset="0"/>
                <a:ea typeface="JetBrains Mono" pitchFamily="49" charset="-122"/>
                <a:cs typeface="JetBrains Mono" pitchFamily="49" charset="-120"/>
              </a:rPr>
              <a:t>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2B2BFF"/>
                </a:solidFill>
                <a:latin typeface="JetBrains Mono" pitchFamily="49" charset="0"/>
                <a:ea typeface="JetBrains Mono" pitchFamily="49" charset="-122"/>
                <a:cs typeface="JetBrains Mono" pitchFamily="49" charset="-120"/>
              </a:rPr>
              <a:t>ПРИЛОЖЕНИЕ · СМЫСЛОВОЙ ПОИСК</a:t>
            </a:r>
            <a:endParaRPr lang="en-US" sz="1200" dirty="0"/>
          </a:p>
        </p:txBody>
      </p:sp>
      <p:sp>
        <p:nvSpPr>
          <p:cNvPr id="3" name="Text 1"/>
          <p:cNvSpPr/>
          <p:nvPr>
            <p:ph type="title"/>
          </p:nvPr>
        </p:nvSpPr>
        <p:spPr>
          <a:xfrm>
            <a:off x="812800" y="1178520"/>
            <a:ext cx="10883392" cy="505420"/>
          </a:xfrm>
          <a:prstGeom prst="rect">
            <a:avLst/>
          </a:prstGeom>
          <a:noFill/>
          <a:ln/>
        </p:spPr>
        <p:txBody>
          <a:bodyPr wrap="square" lIns="0" tIns="0" rIns="0" bIns="0" rtlCol="0" anchor="t">
            <a:normAutofit/>
          </a:bodyPr>
          <a:lstStyle/>
          <a:p>
            <a:pPr algn="l" indent="0" marL="0">
              <a:lnSpc>
                <a:spcPts val="3780"/>
              </a:lnSpc>
              <a:buNone/>
            </a:pPr>
            <a:r>
              <a:rPr lang="en-US" sz="3600" b="1" i="0" spc="-150" kern="0" dirty="0">
                <a:solidFill>
                  <a:srgbClr val="0F0F12"/>
                </a:solidFill>
                <a:latin typeface="Inter Tight" pitchFamily="34" charset="0"/>
                <a:ea typeface="Inter Tight" pitchFamily="34" charset="-122"/>
                <a:cs typeface="Inter Tight" pitchFamily="34" charset="-120"/>
              </a:rPr>
              <a:t>Ищет по смыслу, а не по словам</a:t>
            </a:r>
            <a:endParaRPr lang="en-US" sz="3600" dirty="0"/>
          </a:p>
        </p:txBody>
      </p:sp>
      <p:pic>
        <p:nvPicPr>
          <p:cNvPr id="4" name="Image 0" descr="Поиск Lectio: русский запрос «как учиться с помощью нейросетей» первым находит английскую лекцию How I Use AI to Learn Things на 8:05">    </p:cNvPr>
          <p:cNvPicPr>
            <a:picLocks noChangeAspect="1"/>
          </p:cNvPicPr>
          <p:nvPr/>
        </p:nvPicPr>
        <p:blipFill>
          <a:blip r:embed="rId1"/>
          <a:srcRect l="0" r="0" t="131" b="131"/>
          <a:stretch/>
        </p:blipFill>
        <p:spPr>
          <a:xfrm>
            <a:off x="825500" y="1976041"/>
            <a:ext cx="6451600" cy="3619500"/>
          </a:xfrm>
          <a:prstGeom prst="rect">
            <a:avLst/>
          </a:prstGeom>
        </p:spPr>
      </p:pic>
      <p:sp>
        <p:nvSpPr>
          <p:cNvPr id="5" name="Shape 2"/>
          <p:cNvSpPr/>
          <p:nvPr/>
        </p:nvSpPr>
        <p:spPr>
          <a:xfrm>
            <a:off x="819150" y="1969691"/>
            <a:ext cx="6464300" cy="3632200"/>
          </a:xfrm>
          <a:prstGeom prst="rect">
            <a:avLst/>
          </a:prstGeom>
          <a:noFill/>
          <a:ln w="12700">
            <a:solidFill>
              <a:srgbClr val="0F0F12"/>
            </a:solidFill>
            <a:prstDash val="solid"/>
          </a:ln>
        </p:spPr>
      </p:sp>
      <p:sp>
        <p:nvSpPr>
          <p:cNvPr id="6" name="Shape 3"/>
          <p:cNvSpPr/>
          <p:nvPr/>
        </p:nvSpPr>
        <p:spPr>
          <a:xfrm>
            <a:off x="7645400" y="1969691"/>
            <a:ext cx="3733800" cy="0"/>
          </a:xfrm>
          <a:prstGeom prst="line">
            <a:avLst/>
          </a:prstGeom>
          <a:noFill/>
          <a:ln w="12700">
            <a:solidFill>
              <a:srgbClr val="0F0F12"/>
            </a:solidFill>
            <a:prstDash val="solid"/>
          </a:ln>
        </p:spPr>
      </p:sp>
      <p:sp>
        <p:nvSpPr>
          <p:cNvPr id="7" name="Text 4"/>
          <p:cNvSpPr/>
          <p:nvPr/>
        </p:nvSpPr>
        <p:spPr>
          <a:xfrm>
            <a:off x="7645400" y="2103041"/>
            <a:ext cx="3845814" cy="288230"/>
          </a:xfrm>
          <a:prstGeom prst="rect">
            <a:avLst/>
          </a:prstGeom>
          <a:noFill/>
          <a:ln/>
        </p:spPr>
        <p:txBody>
          <a:bodyPr wrap="square" lIns="0" tIns="0" rIns="0" bIns="0" rtlCol="0" anchor="t">
            <a:normAutofit/>
          </a:bodyPr>
          <a:lstStyle/>
          <a:p>
            <a:pPr algn="l" indent="0" marL="0">
              <a:lnSpc>
                <a:spcPts val="2070"/>
              </a:lnSpc>
              <a:buNone/>
            </a:pPr>
            <a:r>
              <a:rPr lang="en-US" sz="1800" b="1" dirty="0">
                <a:solidFill>
                  <a:srgbClr val="0F0F12"/>
                </a:solidFill>
                <a:latin typeface="Inter Tight" pitchFamily="34" charset="0"/>
                <a:ea typeface="Inter Tight" pitchFamily="34" charset="-122"/>
                <a:cs typeface="Inter Tight" pitchFamily="34" charset="-120"/>
              </a:rPr>
              <a:t>Гибрид двух поисков</a:t>
            </a:r>
            <a:endParaRPr lang="en-US" sz="1800" dirty="0"/>
          </a:p>
        </p:txBody>
      </p:sp>
      <p:sp>
        <p:nvSpPr>
          <p:cNvPr id="8" name="Text 5"/>
          <p:cNvSpPr/>
          <p:nvPr/>
        </p:nvSpPr>
        <p:spPr>
          <a:xfrm>
            <a:off x="7645400" y="2416671"/>
            <a:ext cx="3845814" cy="71864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4A50"/>
                </a:solidFill>
                <a:latin typeface="Golos Text" pitchFamily="34" charset="0"/>
                <a:ea typeface="Golos Text" pitchFamily="34" charset="-122"/>
                <a:cs typeface="Golos Text" pitchFamily="34" charset="-120"/>
              </a:rPr>
              <a:t>Векторы ловят перефразировки, полнотекст — точные термины. Результаты сливаются через RRF.</a:t>
            </a:r>
            <a:endParaRPr lang="en-US" sz="1300" dirty="0"/>
          </a:p>
        </p:txBody>
      </p:sp>
      <p:sp>
        <p:nvSpPr>
          <p:cNvPr id="9" name="Shape 6"/>
          <p:cNvSpPr/>
          <p:nvPr/>
        </p:nvSpPr>
        <p:spPr>
          <a:xfrm>
            <a:off x="7645400" y="3294063"/>
            <a:ext cx="3733800" cy="0"/>
          </a:xfrm>
          <a:prstGeom prst="line">
            <a:avLst/>
          </a:prstGeom>
          <a:noFill/>
          <a:ln w="12700">
            <a:solidFill>
              <a:srgbClr val="0F0F12"/>
            </a:solidFill>
            <a:prstDash val="solid"/>
          </a:ln>
        </p:spPr>
      </p:sp>
      <p:sp>
        <p:nvSpPr>
          <p:cNvPr id="10" name="Text 7"/>
          <p:cNvSpPr/>
          <p:nvPr/>
        </p:nvSpPr>
        <p:spPr>
          <a:xfrm>
            <a:off x="7645400" y="3427413"/>
            <a:ext cx="3845814" cy="288230"/>
          </a:xfrm>
          <a:prstGeom prst="rect">
            <a:avLst/>
          </a:prstGeom>
          <a:noFill/>
          <a:ln/>
        </p:spPr>
        <p:txBody>
          <a:bodyPr wrap="square" lIns="0" tIns="0" rIns="0" bIns="0" rtlCol="0" anchor="t">
            <a:normAutofit/>
          </a:bodyPr>
          <a:lstStyle/>
          <a:p>
            <a:pPr algn="l" indent="0" marL="0">
              <a:lnSpc>
                <a:spcPts val="2070"/>
              </a:lnSpc>
              <a:buNone/>
            </a:pPr>
            <a:r>
              <a:rPr lang="en-US" sz="1800" b="1" dirty="0">
                <a:solidFill>
                  <a:srgbClr val="0F0F12"/>
                </a:solidFill>
                <a:latin typeface="Inter Tight" pitchFamily="34" charset="0"/>
                <a:ea typeface="Inter Tight" pitchFamily="34" charset="-122"/>
                <a:cs typeface="Inter Tight" pitchFamily="34" charset="-120"/>
              </a:rPr>
              <a:t>Между языками</a:t>
            </a:r>
            <a:endParaRPr lang="en-US" sz="1800" dirty="0"/>
          </a:p>
        </p:txBody>
      </p:sp>
      <p:sp>
        <p:nvSpPr>
          <p:cNvPr id="11" name="Text 8"/>
          <p:cNvSpPr/>
          <p:nvPr/>
        </p:nvSpPr>
        <p:spPr>
          <a:xfrm>
            <a:off x="7645400" y="3741043"/>
            <a:ext cx="3845814"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4A50"/>
                </a:solidFill>
                <a:latin typeface="Golos Text" pitchFamily="34" charset="0"/>
                <a:ea typeface="Golos Text" pitchFamily="34" charset="-122"/>
                <a:cs typeface="Golos Text" pitchFamily="34" charset="-120"/>
              </a:rPr>
              <a:t>Запрос по-русски первым нашёл английскую лекцию — на скриншоте.</a:t>
            </a:r>
            <a:endParaRPr lang="en-US" sz="1300" dirty="0"/>
          </a:p>
        </p:txBody>
      </p:sp>
      <p:sp>
        <p:nvSpPr>
          <p:cNvPr id="12" name="Shape 9"/>
          <p:cNvSpPr/>
          <p:nvPr/>
        </p:nvSpPr>
        <p:spPr>
          <a:xfrm>
            <a:off x="7645400" y="4387354"/>
            <a:ext cx="3733800" cy="0"/>
          </a:xfrm>
          <a:prstGeom prst="line">
            <a:avLst/>
          </a:prstGeom>
          <a:noFill/>
          <a:ln w="12700">
            <a:solidFill>
              <a:srgbClr val="0F0F12"/>
            </a:solidFill>
            <a:prstDash val="solid"/>
          </a:ln>
        </p:spPr>
      </p:sp>
      <p:sp>
        <p:nvSpPr>
          <p:cNvPr id="13" name="Text 10"/>
          <p:cNvSpPr/>
          <p:nvPr/>
        </p:nvSpPr>
        <p:spPr>
          <a:xfrm>
            <a:off x="7645400" y="4520704"/>
            <a:ext cx="3845814" cy="288230"/>
          </a:xfrm>
          <a:prstGeom prst="rect">
            <a:avLst/>
          </a:prstGeom>
          <a:noFill/>
          <a:ln/>
        </p:spPr>
        <p:txBody>
          <a:bodyPr wrap="square" lIns="0" tIns="0" rIns="0" bIns="0" rtlCol="0" anchor="t">
            <a:normAutofit/>
          </a:bodyPr>
          <a:lstStyle/>
          <a:p>
            <a:pPr algn="l" indent="0" marL="0">
              <a:lnSpc>
                <a:spcPts val="2070"/>
              </a:lnSpc>
              <a:buNone/>
            </a:pPr>
            <a:r>
              <a:rPr lang="en-US" sz="1800" b="1" dirty="0">
                <a:solidFill>
                  <a:srgbClr val="0F0F12"/>
                </a:solidFill>
                <a:latin typeface="Inter Tight" pitchFamily="34" charset="0"/>
                <a:ea typeface="Inter Tight" pitchFamily="34" charset="-122"/>
                <a:cs typeface="Inter Tight" pitchFamily="34" charset="-120"/>
              </a:rPr>
              <a:t>Сразу к секунде</a:t>
            </a:r>
            <a:endParaRPr lang="en-US" sz="1800" dirty="0"/>
          </a:p>
        </p:txBody>
      </p:sp>
      <p:sp>
        <p:nvSpPr>
          <p:cNvPr id="14" name="Text 11"/>
          <p:cNvSpPr/>
          <p:nvPr/>
        </p:nvSpPr>
        <p:spPr>
          <a:xfrm>
            <a:off x="7645400" y="4834334"/>
            <a:ext cx="3845814"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4A50"/>
                </a:solidFill>
                <a:latin typeface="Golos Text" pitchFamily="34" charset="0"/>
                <a:ea typeface="Golos Text" pitchFamily="34" charset="-122"/>
                <a:cs typeface="Golos Text" pitchFamily="34" charset="-120"/>
              </a:rPr>
              <a:t>Таймкод и переход в плеер. Везде, по курсу или внутри лекции.</a:t>
            </a:r>
            <a:endParaRPr lang="en-US" sz="1300" dirty="0"/>
          </a:p>
        </p:txBody>
      </p:sp>
      <p:sp>
        <p:nvSpPr>
          <p:cNvPr id="15" name="Text 12"/>
          <p:cNvSpPr/>
          <p:nvPr/>
        </p:nvSpPr>
        <p:spPr>
          <a:xfrm>
            <a:off x="812800" y="6238280"/>
            <a:ext cx="2999303"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6B6B70"/>
                </a:solidFill>
                <a:latin typeface="JetBrains Mono" pitchFamily="49" charset="0"/>
                <a:ea typeface="JetBrains Mono" pitchFamily="49" charset="-122"/>
                <a:cs typeface="JetBrains Mono" pitchFamily="49" charset="-120"/>
              </a:rPr>
              <a:t>LECTIO · КИБЕРРЫВОК 2026</a:t>
            </a:r>
            <a:endParaRPr lang="en-US" sz="1200" dirty="0"/>
          </a:p>
        </p:txBody>
      </p:sp>
      <p:sp>
        <p:nvSpPr>
          <p:cNvPr id="16" name="Text 13"/>
          <p:cNvSpPr/>
          <p:nvPr/>
        </p:nvSpPr>
        <p:spPr>
          <a:xfrm>
            <a:off x="11145441" y="6238280"/>
            <a:ext cx="233759"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B70"/>
                </a:solidFill>
                <a:latin typeface="JetBrains Mono" pitchFamily="49" charset="0"/>
                <a:ea typeface="JetBrains Mono" pitchFamily="49" charset="-122"/>
                <a:cs typeface="JetBrains Mono" pitchFamily="49" charset="-120"/>
              </a:rPr>
              <a:t>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1F1EC"/>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2B2BFF"/>
                </a:solidFill>
                <a:latin typeface="JetBrains Mono" pitchFamily="49" charset="0"/>
                <a:ea typeface="JetBrains Mono" pitchFamily="49" charset="-122"/>
                <a:cs typeface="JetBrains Mono" pitchFamily="49" charset="-120"/>
              </a:rPr>
              <a:t>ПРИЛОЖЕНИЕ · ПЛЕЕР</a:t>
            </a:r>
            <a:endParaRPr lang="en-US" sz="1200" dirty="0"/>
          </a:p>
        </p:txBody>
      </p:sp>
      <p:sp>
        <p:nvSpPr>
          <p:cNvPr id="3" name="Text 1"/>
          <p:cNvSpPr/>
          <p:nvPr>
            <p:ph type="title"/>
          </p:nvPr>
        </p:nvSpPr>
        <p:spPr>
          <a:xfrm>
            <a:off x="812800" y="1178520"/>
            <a:ext cx="10883392" cy="505420"/>
          </a:xfrm>
          <a:prstGeom prst="rect">
            <a:avLst/>
          </a:prstGeom>
          <a:noFill/>
          <a:ln/>
        </p:spPr>
        <p:txBody>
          <a:bodyPr wrap="square" lIns="0" tIns="0" rIns="0" bIns="0" rtlCol="0" anchor="t">
            <a:normAutofit/>
          </a:bodyPr>
          <a:lstStyle/>
          <a:p>
            <a:pPr algn="l" indent="0" marL="0">
              <a:lnSpc>
                <a:spcPts val="3780"/>
              </a:lnSpc>
              <a:buNone/>
            </a:pPr>
            <a:r>
              <a:rPr lang="en-US" sz="3600" b="1" i="0" spc="-150" kern="0" dirty="0">
                <a:solidFill>
                  <a:srgbClr val="0F0F12"/>
                </a:solidFill>
                <a:latin typeface="Inter Tight" pitchFamily="34" charset="0"/>
                <a:ea typeface="Inter Tight" pitchFamily="34" charset="-122"/>
                <a:cs typeface="Inter Tight" pitchFamily="34" charset="-120"/>
              </a:rPr>
              <a:t>Видео, синхронное с текстом</a:t>
            </a:r>
            <a:endParaRPr lang="en-US" sz="3600" dirty="0"/>
          </a:p>
        </p:txBody>
      </p:sp>
      <p:pic>
        <p:nvPicPr>
          <p:cNvPr id="4" name="Image 0" descr="Страница лекции: плеер с субтитрами, блок «Сейчас говорит» с бегущей расшифровкой и чат «Спросите лекцию»">    </p:cNvPr>
          <p:cNvPicPr>
            <a:picLocks noChangeAspect="1"/>
          </p:cNvPicPr>
          <p:nvPr/>
        </p:nvPicPr>
        <p:blipFill>
          <a:blip r:embed="rId1"/>
          <a:srcRect l="0" r="0" t="130" b="130"/>
          <a:stretch/>
        </p:blipFill>
        <p:spPr>
          <a:xfrm>
            <a:off x="825500" y="1925241"/>
            <a:ext cx="8229600" cy="3898900"/>
          </a:xfrm>
          <a:prstGeom prst="rect">
            <a:avLst/>
          </a:prstGeom>
        </p:spPr>
      </p:pic>
      <p:sp>
        <p:nvSpPr>
          <p:cNvPr id="5" name="Shape 2"/>
          <p:cNvSpPr/>
          <p:nvPr/>
        </p:nvSpPr>
        <p:spPr>
          <a:xfrm>
            <a:off x="819150" y="1918891"/>
            <a:ext cx="8242300" cy="3911600"/>
          </a:xfrm>
          <a:prstGeom prst="rect">
            <a:avLst/>
          </a:prstGeom>
          <a:noFill/>
          <a:ln w="12700">
            <a:solidFill>
              <a:srgbClr val="0F0F12"/>
            </a:solidFill>
            <a:prstDash val="solid"/>
          </a:ln>
        </p:spPr>
      </p:sp>
      <p:sp>
        <p:nvSpPr>
          <p:cNvPr id="6" name="Shape 3"/>
          <p:cNvSpPr/>
          <p:nvPr/>
        </p:nvSpPr>
        <p:spPr>
          <a:xfrm>
            <a:off x="9372600" y="1918891"/>
            <a:ext cx="2006600" cy="0"/>
          </a:xfrm>
          <a:prstGeom prst="line">
            <a:avLst/>
          </a:prstGeom>
          <a:noFill/>
          <a:ln w="12700">
            <a:solidFill>
              <a:srgbClr val="0F0F12"/>
            </a:solidFill>
            <a:prstDash val="solid"/>
          </a:ln>
        </p:spPr>
      </p:sp>
      <p:sp>
        <p:nvSpPr>
          <p:cNvPr id="7" name="Text 4"/>
          <p:cNvSpPr/>
          <p:nvPr/>
        </p:nvSpPr>
        <p:spPr>
          <a:xfrm>
            <a:off x="9372600" y="2026841"/>
            <a:ext cx="2066798" cy="505420"/>
          </a:xfrm>
          <a:prstGeom prst="rect">
            <a:avLst/>
          </a:prstGeom>
          <a:noFill/>
          <a:ln/>
        </p:spPr>
        <p:txBody>
          <a:bodyPr wrap="square" lIns="0" tIns="0" rIns="0" bIns="0" rtlCol="0" anchor="t">
            <a:normAutofit/>
          </a:bodyPr>
          <a:lstStyle/>
          <a:p>
            <a:pPr algn="l" indent="0" marL="0">
              <a:lnSpc>
                <a:spcPts val="1890"/>
              </a:lnSpc>
              <a:buNone/>
            </a:pPr>
            <a:r>
              <a:rPr lang="en-US" sz="1400" b="1" dirty="0">
                <a:solidFill>
                  <a:srgbClr val="0F0F12"/>
                </a:solidFill>
                <a:latin typeface="Golos Text" pitchFamily="34" charset="0"/>
                <a:ea typeface="Golos Text" pitchFamily="34" charset="-122"/>
                <a:cs typeface="Golos Text" pitchFamily="34" charset="-120"/>
              </a:rPr>
              <a:t>Субтитры</a:t>
            </a:r>
            <a:r>
              <a:rPr lang="en-US" sz="1400" dirty="0">
                <a:solidFill>
                  <a:srgbClr val="0F0F12"/>
                </a:solidFill>
                <a:latin typeface="Golos Text" pitchFamily="34" charset="0"/>
                <a:ea typeface="Golos Text" pitchFamily="34" charset="-122"/>
                <a:cs typeface="Golos Text" pitchFamily="34" charset="-120"/>
              </a:rPr>
              <a:t> поверх видео</a:t>
            </a:r>
            <a:endParaRPr lang="en-US" sz="1400" dirty="0"/>
          </a:p>
        </p:txBody>
      </p:sp>
      <p:sp>
        <p:nvSpPr>
          <p:cNvPr id="8" name="Shape 5"/>
          <p:cNvSpPr/>
          <p:nvPr/>
        </p:nvSpPr>
        <p:spPr>
          <a:xfrm>
            <a:off x="9372600" y="2665611"/>
            <a:ext cx="2006600" cy="0"/>
          </a:xfrm>
          <a:prstGeom prst="line">
            <a:avLst/>
          </a:prstGeom>
          <a:noFill/>
          <a:ln w="12700">
            <a:solidFill>
              <a:srgbClr val="0F0F12"/>
            </a:solidFill>
            <a:prstDash val="solid"/>
          </a:ln>
        </p:spPr>
      </p:sp>
      <p:sp>
        <p:nvSpPr>
          <p:cNvPr id="9" name="Text 6"/>
          <p:cNvSpPr/>
          <p:nvPr/>
        </p:nvSpPr>
        <p:spPr>
          <a:xfrm>
            <a:off x="9372600" y="2773561"/>
            <a:ext cx="2066798" cy="505420"/>
          </a:xfrm>
          <a:prstGeom prst="rect">
            <a:avLst/>
          </a:prstGeom>
          <a:noFill/>
          <a:ln/>
        </p:spPr>
        <p:txBody>
          <a:bodyPr wrap="square" lIns="0" tIns="0" rIns="0" bIns="0" rtlCol="0" anchor="t">
            <a:normAutofit/>
          </a:bodyPr>
          <a:lstStyle/>
          <a:p>
            <a:pPr algn="l" indent="0" marL="0">
              <a:lnSpc>
                <a:spcPts val="1890"/>
              </a:lnSpc>
              <a:buNone/>
            </a:pPr>
            <a:r>
              <a:rPr lang="en-US" sz="1400" b="1" dirty="0">
                <a:solidFill>
                  <a:srgbClr val="0F0F12"/>
                </a:solidFill>
                <a:latin typeface="Golos Text" pitchFamily="34" charset="0"/>
                <a:ea typeface="Golos Text" pitchFamily="34" charset="-122"/>
                <a:cs typeface="Golos Text" pitchFamily="34" charset="-120"/>
              </a:rPr>
              <a:t>Клик по реплике</a:t>
            </a:r>
            <a:r>
              <a:rPr lang="en-US" sz="1400" dirty="0">
                <a:solidFill>
                  <a:srgbClr val="0F0F12"/>
                </a:solidFill>
                <a:latin typeface="Golos Text" pitchFamily="34" charset="0"/>
                <a:ea typeface="Golos Text" pitchFamily="34" charset="-122"/>
                <a:cs typeface="Golos Text" pitchFamily="34" charset="-120"/>
              </a:rPr>
              <a:t> — перемотка</a:t>
            </a:r>
            <a:endParaRPr lang="en-US" sz="1400" dirty="0"/>
          </a:p>
        </p:txBody>
      </p:sp>
      <p:sp>
        <p:nvSpPr>
          <p:cNvPr id="10" name="Shape 7"/>
          <p:cNvSpPr/>
          <p:nvPr/>
        </p:nvSpPr>
        <p:spPr>
          <a:xfrm>
            <a:off x="9372600" y="3412331"/>
            <a:ext cx="2006600" cy="0"/>
          </a:xfrm>
          <a:prstGeom prst="line">
            <a:avLst/>
          </a:prstGeom>
          <a:noFill/>
          <a:ln w="12700">
            <a:solidFill>
              <a:srgbClr val="0F0F12"/>
            </a:solidFill>
            <a:prstDash val="solid"/>
          </a:ln>
        </p:spPr>
      </p:sp>
      <p:sp>
        <p:nvSpPr>
          <p:cNvPr id="11" name="Text 8"/>
          <p:cNvSpPr/>
          <p:nvPr/>
        </p:nvSpPr>
        <p:spPr>
          <a:xfrm>
            <a:off x="9372600" y="3520281"/>
            <a:ext cx="2066798" cy="505420"/>
          </a:xfrm>
          <a:prstGeom prst="rect">
            <a:avLst/>
          </a:prstGeom>
          <a:noFill/>
          <a:ln/>
        </p:spPr>
        <p:txBody>
          <a:bodyPr wrap="square" lIns="0" tIns="0" rIns="0" bIns="0" rtlCol="0" anchor="t">
            <a:normAutofit/>
          </a:bodyPr>
          <a:lstStyle/>
          <a:p>
            <a:pPr algn="l" indent="0" marL="0">
              <a:lnSpc>
                <a:spcPts val="1890"/>
              </a:lnSpc>
              <a:buNone/>
            </a:pPr>
            <a:r>
              <a:rPr lang="en-US" sz="1400" b="1" dirty="0">
                <a:solidFill>
                  <a:srgbClr val="0F0F12"/>
                </a:solidFill>
                <a:latin typeface="Golos Text" pitchFamily="34" charset="0"/>
                <a:ea typeface="Golos Text" pitchFamily="34" charset="-122"/>
                <a:cs typeface="Golos Text" pitchFamily="34" charset="-120"/>
              </a:rPr>
              <a:t>Главы и закладки</a:t>
            </a:r>
            <a:r>
              <a:rPr lang="en-US" sz="1400" dirty="0">
                <a:solidFill>
                  <a:srgbClr val="0F0F12"/>
                </a:solidFill>
                <a:latin typeface="Golos Text" pitchFamily="34" charset="0"/>
                <a:ea typeface="Golos Text" pitchFamily="34" charset="-122"/>
                <a:cs typeface="Golos Text" pitchFamily="34" charset="-120"/>
              </a:rPr>
              <a:t> на шкале</a:t>
            </a:r>
            <a:endParaRPr lang="en-US" sz="1400" dirty="0"/>
          </a:p>
        </p:txBody>
      </p:sp>
      <p:sp>
        <p:nvSpPr>
          <p:cNvPr id="12" name="Shape 9"/>
          <p:cNvSpPr/>
          <p:nvPr/>
        </p:nvSpPr>
        <p:spPr>
          <a:xfrm>
            <a:off x="9372600" y="4159052"/>
            <a:ext cx="2006600" cy="0"/>
          </a:xfrm>
          <a:prstGeom prst="line">
            <a:avLst/>
          </a:prstGeom>
          <a:noFill/>
          <a:ln w="12700">
            <a:solidFill>
              <a:srgbClr val="0F0F12"/>
            </a:solidFill>
            <a:prstDash val="solid"/>
          </a:ln>
        </p:spPr>
      </p:sp>
      <p:sp>
        <p:nvSpPr>
          <p:cNvPr id="13" name="Text 10"/>
          <p:cNvSpPr/>
          <p:nvPr/>
        </p:nvSpPr>
        <p:spPr>
          <a:xfrm>
            <a:off x="9372600" y="4267002"/>
            <a:ext cx="2066798" cy="505420"/>
          </a:xfrm>
          <a:prstGeom prst="rect">
            <a:avLst/>
          </a:prstGeom>
          <a:noFill/>
          <a:ln/>
        </p:spPr>
        <p:txBody>
          <a:bodyPr wrap="square" lIns="0" tIns="0" rIns="0" bIns="0" rtlCol="0" anchor="t">
            <a:normAutofit/>
          </a:bodyPr>
          <a:lstStyle/>
          <a:p>
            <a:pPr algn="l" indent="0" marL="0">
              <a:lnSpc>
                <a:spcPts val="1890"/>
              </a:lnSpc>
              <a:buNone/>
            </a:pPr>
            <a:r>
              <a:rPr lang="en-US" sz="1400" b="1" dirty="0">
                <a:solidFill>
                  <a:srgbClr val="0F0F12"/>
                </a:solidFill>
                <a:latin typeface="Golos Text" pitchFamily="34" charset="0"/>
                <a:ea typeface="Golos Text" pitchFamily="34" charset="-122"/>
                <a:cs typeface="Golos Text" pitchFamily="34" charset="-120"/>
              </a:rPr>
              <a:t>Ссылка</a:t>
            </a:r>
            <a:r>
              <a:rPr lang="en-US" sz="1400" dirty="0">
                <a:solidFill>
                  <a:srgbClr val="0F0F12"/>
                </a:solidFill>
                <a:latin typeface="Golos Text" pitchFamily="34" charset="0"/>
                <a:ea typeface="Golos Text" pitchFamily="34" charset="-122"/>
                <a:cs typeface="Golos Text" pitchFamily="34" charset="-120"/>
              </a:rPr>
              <a:t> на момент видео</a:t>
            </a:r>
            <a:endParaRPr lang="en-US" sz="1400" dirty="0"/>
          </a:p>
        </p:txBody>
      </p:sp>
      <p:sp>
        <p:nvSpPr>
          <p:cNvPr id="14" name="Text 11"/>
          <p:cNvSpPr/>
          <p:nvPr/>
        </p:nvSpPr>
        <p:spPr>
          <a:xfrm>
            <a:off x="812800" y="6238280"/>
            <a:ext cx="2999303"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6B6B70"/>
                </a:solidFill>
                <a:latin typeface="JetBrains Mono" pitchFamily="49" charset="0"/>
                <a:ea typeface="JetBrains Mono" pitchFamily="49" charset="-122"/>
                <a:cs typeface="JetBrains Mono" pitchFamily="49" charset="-120"/>
              </a:rPr>
              <a:t>LECTIO · КИБЕРРЫВОК 2026</a:t>
            </a:r>
            <a:endParaRPr lang="en-US" sz="1200" dirty="0"/>
          </a:p>
        </p:txBody>
      </p:sp>
      <p:sp>
        <p:nvSpPr>
          <p:cNvPr id="15" name="Text 12"/>
          <p:cNvSpPr/>
          <p:nvPr/>
        </p:nvSpPr>
        <p:spPr>
          <a:xfrm>
            <a:off x="11145441" y="6238280"/>
            <a:ext cx="233759"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B70"/>
                </a:solidFill>
                <a:latin typeface="JetBrains Mono" pitchFamily="49" charset="0"/>
                <a:ea typeface="JetBrains Mono" pitchFamily="49" charset="-122"/>
                <a:cs typeface="JetBrains Mono" pitchFamily="49" charset="-120"/>
              </a:rPr>
              <a:t>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2B2BFF"/>
                </a:solidFill>
                <a:latin typeface="JetBrains Mono" pitchFamily="49" charset="0"/>
                <a:ea typeface="JetBrains Mono" pitchFamily="49" charset="-122"/>
                <a:cs typeface="JetBrains Mono" pitchFamily="49" charset="-120"/>
              </a:rPr>
              <a:t>ПРИЛОЖЕНИЕ · КОНСПЕКТ</a:t>
            </a:r>
            <a:endParaRPr lang="en-US" sz="1200" dirty="0"/>
          </a:p>
        </p:txBody>
      </p:sp>
      <p:sp>
        <p:nvSpPr>
          <p:cNvPr id="3" name="Text 1"/>
          <p:cNvSpPr/>
          <p:nvPr>
            <p:ph type="title"/>
          </p:nvPr>
        </p:nvSpPr>
        <p:spPr>
          <a:xfrm>
            <a:off x="812800" y="1178520"/>
            <a:ext cx="10883392" cy="505420"/>
          </a:xfrm>
          <a:prstGeom prst="rect">
            <a:avLst/>
          </a:prstGeom>
          <a:noFill/>
          <a:ln/>
        </p:spPr>
        <p:txBody>
          <a:bodyPr wrap="square" lIns="0" tIns="0" rIns="0" bIns="0" rtlCol="0" anchor="t">
            <a:normAutofit/>
          </a:bodyPr>
          <a:lstStyle/>
          <a:p>
            <a:pPr algn="l" indent="0" marL="0">
              <a:lnSpc>
                <a:spcPts val="3780"/>
              </a:lnSpc>
              <a:buNone/>
            </a:pPr>
            <a:r>
              <a:rPr lang="en-US" sz="3600" b="1" i="0" spc="-150" kern="0" dirty="0">
                <a:solidFill>
                  <a:srgbClr val="0F0F12"/>
                </a:solidFill>
                <a:latin typeface="Inter Tight" pitchFamily="34" charset="0"/>
                <a:ea typeface="Inter Tight" pitchFamily="34" charset="-122"/>
                <a:cs typeface="Inter Tight" pitchFamily="34" charset="-120"/>
              </a:rPr>
              <a:t>Лекция с оглавлением, как у книги</a:t>
            </a:r>
            <a:endParaRPr lang="en-US" sz="3600" dirty="0"/>
          </a:p>
        </p:txBody>
      </p:sp>
      <p:sp>
        <p:nvSpPr>
          <p:cNvPr id="4" name="Text 2"/>
          <p:cNvSpPr/>
          <p:nvPr/>
        </p:nvSpPr>
        <p:spPr>
          <a:xfrm>
            <a:off x="812800" y="1912541"/>
            <a:ext cx="45783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4A50"/>
                </a:solidFill>
                <a:latin typeface="JetBrains Mono" pitchFamily="49" charset="0"/>
                <a:ea typeface="JetBrains Mono" pitchFamily="49" charset="-122"/>
                <a:cs typeface="JetBrains Mono" pitchFamily="49" charset="-120"/>
              </a:rPr>
              <a:t>Разделы и подразделы</a:t>
            </a:r>
            <a:endParaRPr lang="en-US" sz="1200" dirty="0"/>
          </a:p>
        </p:txBody>
      </p:sp>
      <p:pic>
        <p:nvPicPr>
          <p:cNvPr id="5" name="Image 0" descr="Оглавление лекции: два раздела с подразделами и таймкодами, текущий раздел выделен синим">    </p:cNvPr>
          <p:cNvPicPr>
            <a:picLocks noChangeAspect="1"/>
          </p:cNvPicPr>
          <p:nvPr/>
        </p:nvPicPr>
        <p:blipFill>
          <a:blip r:embed="rId1"/>
          <a:srcRect l="0" r="0" t="77" b="77"/>
          <a:stretch/>
        </p:blipFill>
        <p:spPr>
          <a:xfrm>
            <a:off x="825500" y="2214761"/>
            <a:ext cx="4419600" cy="3454400"/>
          </a:xfrm>
          <a:prstGeom prst="rect">
            <a:avLst/>
          </a:prstGeom>
        </p:spPr>
      </p:pic>
      <p:sp>
        <p:nvSpPr>
          <p:cNvPr id="6" name="Shape 3"/>
          <p:cNvSpPr/>
          <p:nvPr/>
        </p:nvSpPr>
        <p:spPr>
          <a:xfrm>
            <a:off x="819150" y="2208411"/>
            <a:ext cx="4432300" cy="3467100"/>
          </a:xfrm>
          <a:prstGeom prst="rect">
            <a:avLst/>
          </a:prstGeom>
          <a:noFill/>
          <a:ln w="12700">
            <a:solidFill>
              <a:srgbClr val="0F0F12"/>
            </a:solidFill>
            <a:prstDash val="solid"/>
          </a:ln>
        </p:spPr>
      </p:sp>
      <p:sp>
        <p:nvSpPr>
          <p:cNvPr id="7" name="Text 4"/>
          <p:cNvSpPr/>
          <p:nvPr/>
        </p:nvSpPr>
        <p:spPr>
          <a:xfrm>
            <a:off x="5511800" y="1912541"/>
            <a:ext cx="378040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4A50"/>
                </a:solidFill>
                <a:latin typeface="JetBrains Mono" pitchFamily="49" charset="0"/>
                <a:ea typeface="JetBrains Mono" pitchFamily="49" charset="-122"/>
                <a:cs typeface="JetBrains Mono" pitchFamily="49" charset="-120"/>
              </a:rPr>
              <a:t>Конспект с формулами</a:t>
            </a:r>
            <a:endParaRPr lang="en-US" sz="1200" dirty="0"/>
          </a:p>
        </p:txBody>
      </p:sp>
      <p:pic>
        <p:nvPicPr>
          <p:cNvPr id="8" name="Image 1" descr="Конспект лекции: о чём лекция, главное, формула теоремы Пифагора">    </p:cNvPr>
          <p:cNvPicPr>
            <a:picLocks noChangeAspect="1"/>
          </p:cNvPicPr>
          <p:nvPr/>
        </p:nvPicPr>
        <p:blipFill>
          <a:blip r:embed="rId2"/>
          <a:srcRect l="45" r="45" t="0" b="0"/>
          <a:stretch/>
        </p:blipFill>
        <p:spPr>
          <a:xfrm>
            <a:off x="5524500" y="2214761"/>
            <a:ext cx="3644900" cy="3454400"/>
          </a:xfrm>
          <a:prstGeom prst="rect">
            <a:avLst/>
          </a:prstGeom>
        </p:spPr>
      </p:pic>
      <p:sp>
        <p:nvSpPr>
          <p:cNvPr id="9" name="Shape 5"/>
          <p:cNvSpPr/>
          <p:nvPr/>
        </p:nvSpPr>
        <p:spPr>
          <a:xfrm>
            <a:off x="5518150" y="2208411"/>
            <a:ext cx="3657600" cy="3467100"/>
          </a:xfrm>
          <a:prstGeom prst="rect">
            <a:avLst/>
          </a:prstGeom>
          <a:noFill/>
          <a:ln w="12700">
            <a:solidFill>
              <a:srgbClr val="0F0F12"/>
            </a:solidFill>
            <a:prstDash val="solid"/>
          </a:ln>
        </p:spPr>
      </p:sp>
      <p:sp>
        <p:nvSpPr>
          <p:cNvPr id="10" name="Shape 6"/>
          <p:cNvSpPr/>
          <p:nvPr/>
        </p:nvSpPr>
        <p:spPr>
          <a:xfrm>
            <a:off x="9436100" y="2223691"/>
            <a:ext cx="1943100" cy="0"/>
          </a:xfrm>
          <a:prstGeom prst="line">
            <a:avLst/>
          </a:prstGeom>
          <a:noFill/>
          <a:ln w="12700">
            <a:solidFill>
              <a:srgbClr val="0F0F12"/>
            </a:solidFill>
            <a:prstDash val="solid"/>
          </a:ln>
        </p:spPr>
      </p:sp>
      <p:sp>
        <p:nvSpPr>
          <p:cNvPr id="11" name="Text 7"/>
          <p:cNvSpPr/>
          <p:nvPr/>
        </p:nvSpPr>
        <p:spPr>
          <a:xfrm>
            <a:off x="9436100" y="2331641"/>
            <a:ext cx="2001393"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0F0F12"/>
                </a:solidFill>
                <a:latin typeface="Golos Text" pitchFamily="34" charset="0"/>
                <a:ea typeface="Golos Text" pitchFamily="34" charset="-122"/>
                <a:cs typeface="Golos Text" pitchFamily="34" charset="-120"/>
              </a:rPr>
              <a:t>Клик по разделу — переход в видео</a:t>
            </a:r>
            <a:endParaRPr lang="en-US" sz="1300" dirty="0"/>
          </a:p>
        </p:txBody>
      </p:sp>
      <p:sp>
        <p:nvSpPr>
          <p:cNvPr id="12" name="Shape 8"/>
          <p:cNvSpPr/>
          <p:nvPr/>
        </p:nvSpPr>
        <p:spPr>
          <a:xfrm>
            <a:off x="9436100" y="2952552"/>
            <a:ext cx="1943100" cy="0"/>
          </a:xfrm>
          <a:prstGeom prst="line">
            <a:avLst/>
          </a:prstGeom>
          <a:noFill/>
          <a:ln w="12700">
            <a:solidFill>
              <a:srgbClr val="0F0F12"/>
            </a:solidFill>
            <a:prstDash val="solid"/>
          </a:ln>
        </p:spPr>
      </p:sp>
      <p:sp>
        <p:nvSpPr>
          <p:cNvPr id="13" name="Text 9"/>
          <p:cNvSpPr/>
          <p:nvPr/>
        </p:nvSpPr>
        <p:spPr>
          <a:xfrm>
            <a:off x="9436100" y="3060502"/>
            <a:ext cx="2001393"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0F0F12"/>
                </a:solidFill>
                <a:latin typeface="Golos Text" pitchFamily="34" charset="0"/>
                <a:ea typeface="Golos Text" pitchFamily="34" charset="-122"/>
                <a:cs typeface="Golos Text" pitchFamily="34" charset="-120"/>
              </a:rPr>
              <a:t>Термины с моментом, где их объяснили</a:t>
            </a:r>
            <a:endParaRPr lang="en-US" sz="1300" dirty="0"/>
          </a:p>
        </p:txBody>
      </p:sp>
      <p:sp>
        <p:nvSpPr>
          <p:cNvPr id="14" name="Shape 10"/>
          <p:cNvSpPr/>
          <p:nvPr/>
        </p:nvSpPr>
        <p:spPr>
          <a:xfrm>
            <a:off x="9436100" y="3681413"/>
            <a:ext cx="1943100" cy="0"/>
          </a:xfrm>
          <a:prstGeom prst="line">
            <a:avLst/>
          </a:prstGeom>
          <a:noFill/>
          <a:ln w="12700">
            <a:solidFill>
              <a:srgbClr val="0F0F12"/>
            </a:solidFill>
            <a:prstDash val="solid"/>
          </a:ln>
        </p:spPr>
      </p:sp>
      <p:sp>
        <p:nvSpPr>
          <p:cNvPr id="15" name="Text 11"/>
          <p:cNvSpPr/>
          <p:nvPr/>
        </p:nvSpPr>
        <p:spPr>
          <a:xfrm>
            <a:off x="9436100" y="3789363"/>
            <a:ext cx="2001393" cy="71864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0F0F12"/>
                </a:solidFill>
                <a:latin typeface="Golos Text" pitchFamily="34" charset="0"/>
                <a:ea typeface="Golos Text" pitchFamily="34" charset="-122"/>
                <a:cs typeface="Golos Text" pitchFamily="34" charset="-120"/>
              </a:rPr>
              <a:t>Энциклопедия терминов по всем лекциям</a:t>
            </a:r>
            <a:endParaRPr lang="en-US" sz="1300" dirty="0"/>
          </a:p>
        </p:txBody>
      </p:sp>
      <p:sp>
        <p:nvSpPr>
          <p:cNvPr id="16" name="Text 12"/>
          <p:cNvSpPr/>
          <p:nvPr/>
        </p:nvSpPr>
        <p:spPr>
          <a:xfrm>
            <a:off x="812800" y="6238280"/>
            <a:ext cx="2999303"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6B6B70"/>
                </a:solidFill>
                <a:latin typeface="JetBrains Mono" pitchFamily="49" charset="0"/>
                <a:ea typeface="JetBrains Mono" pitchFamily="49" charset="-122"/>
                <a:cs typeface="JetBrains Mono" pitchFamily="49" charset="-120"/>
              </a:rPr>
              <a:t>LECTIO · КИБЕРРЫВОК 2026</a:t>
            </a:r>
            <a:endParaRPr lang="en-US" sz="1200" dirty="0"/>
          </a:p>
        </p:txBody>
      </p:sp>
      <p:sp>
        <p:nvSpPr>
          <p:cNvPr id="17" name="Text 13"/>
          <p:cNvSpPr/>
          <p:nvPr/>
        </p:nvSpPr>
        <p:spPr>
          <a:xfrm>
            <a:off x="11145441" y="6238280"/>
            <a:ext cx="233759"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B70"/>
                </a:solidFill>
                <a:latin typeface="JetBrains Mono" pitchFamily="49" charset="0"/>
                <a:ea typeface="JetBrains Mono" pitchFamily="49" charset="-122"/>
                <a:cs typeface="JetBrains Mono" pitchFamily="49" charset="-120"/>
              </a:rPr>
              <a:t>14</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1F1EC"/>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2B2BFF"/>
                </a:solidFill>
                <a:latin typeface="JetBrains Mono" pitchFamily="49" charset="0"/>
                <a:ea typeface="JetBrains Mono" pitchFamily="49" charset="-122"/>
                <a:cs typeface="JetBrains Mono" pitchFamily="49" charset="-120"/>
              </a:rPr>
              <a:t>ПРИЛОЖЕНИЕ · ЧАТ</a:t>
            </a:r>
            <a:endParaRPr lang="en-US" sz="1200" dirty="0"/>
          </a:p>
        </p:txBody>
      </p:sp>
      <p:sp>
        <p:nvSpPr>
          <p:cNvPr id="3" name="Text 1"/>
          <p:cNvSpPr/>
          <p:nvPr>
            <p:ph type="title"/>
          </p:nvPr>
        </p:nvSpPr>
        <p:spPr>
          <a:xfrm>
            <a:off x="812800" y="1178520"/>
            <a:ext cx="10883392" cy="505420"/>
          </a:xfrm>
          <a:prstGeom prst="rect">
            <a:avLst/>
          </a:prstGeom>
          <a:noFill/>
          <a:ln/>
        </p:spPr>
        <p:txBody>
          <a:bodyPr wrap="square" lIns="0" tIns="0" rIns="0" bIns="0" rtlCol="0" anchor="t">
            <a:normAutofit/>
          </a:bodyPr>
          <a:lstStyle/>
          <a:p>
            <a:pPr algn="l" indent="0" marL="0">
              <a:lnSpc>
                <a:spcPts val="3780"/>
              </a:lnSpc>
              <a:buNone/>
            </a:pPr>
            <a:r>
              <a:rPr lang="en-US" sz="3600" b="1" i="0" spc="-150" kern="0" dirty="0">
                <a:solidFill>
                  <a:srgbClr val="0F0F12"/>
                </a:solidFill>
                <a:latin typeface="Inter Tight" pitchFamily="34" charset="0"/>
                <a:ea typeface="Inter Tight" pitchFamily="34" charset="-122"/>
                <a:cs typeface="Inter Tight" pitchFamily="34" charset="-120"/>
              </a:rPr>
              <a:t>Спросите лекцию — ответ со ссылкой</a:t>
            </a:r>
            <a:endParaRPr lang="en-US" sz="3600" dirty="0"/>
          </a:p>
        </p:txBody>
      </p:sp>
      <p:sp>
        <p:nvSpPr>
          <p:cNvPr id="4" name="Shape 2"/>
          <p:cNvSpPr/>
          <p:nvPr/>
        </p:nvSpPr>
        <p:spPr>
          <a:xfrm>
            <a:off x="812800" y="1918891"/>
            <a:ext cx="3829050" cy="0"/>
          </a:xfrm>
          <a:prstGeom prst="line">
            <a:avLst/>
          </a:prstGeom>
          <a:noFill/>
          <a:ln w="12700">
            <a:solidFill>
              <a:srgbClr val="0F0F12"/>
            </a:solidFill>
            <a:prstDash val="solid"/>
          </a:ln>
        </p:spPr>
      </p:sp>
      <p:sp>
        <p:nvSpPr>
          <p:cNvPr id="5" name="Text 3"/>
          <p:cNvSpPr/>
          <p:nvPr/>
        </p:nvSpPr>
        <p:spPr>
          <a:xfrm>
            <a:off x="812800" y="2052241"/>
            <a:ext cx="3943922" cy="288230"/>
          </a:xfrm>
          <a:prstGeom prst="rect">
            <a:avLst/>
          </a:prstGeom>
          <a:noFill/>
          <a:ln/>
        </p:spPr>
        <p:txBody>
          <a:bodyPr wrap="square" lIns="0" tIns="0" rIns="0" bIns="0" rtlCol="0" anchor="t">
            <a:normAutofit/>
          </a:bodyPr>
          <a:lstStyle/>
          <a:p>
            <a:pPr algn="l" indent="0" marL="0">
              <a:lnSpc>
                <a:spcPts val="2070"/>
              </a:lnSpc>
              <a:buNone/>
            </a:pPr>
            <a:r>
              <a:rPr lang="en-US" sz="1800" b="1" dirty="0">
                <a:solidFill>
                  <a:srgbClr val="0F0F12"/>
                </a:solidFill>
                <a:latin typeface="Inter Tight" pitchFamily="34" charset="0"/>
                <a:ea typeface="Inter Tight" pitchFamily="34" charset="-122"/>
                <a:cs typeface="Inter Tight" pitchFamily="34" charset="-120"/>
              </a:rPr>
              <a:t>Только по лекции</a:t>
            </a:r>
            <a:endParaRPr lang="en-US" sz="1800" dirty="0"/>
          </a:p>
        </p:txBody>
      </p:sp>
      <p:sp>
        <p:nvSpPr>
          <p:cNvPr id="6" name="Text 4"/>
          <p:cNvSpPr/>
          <p:nvPr/>
        </p:nvSpPr>
        <p:spPr>
          <a:xfrm>
            <a:off x="812800" y="2365871"/>
            <a:ext cx="3943922" cy="71864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4A50"/>
                </a:solidFill>
                <a:latin typeface="Golos Text" pitchFamily="34" charset="0"/>
                <a:ea typeface="Golos Text" pitchFamily="34" charset="-122"/>
                <a:cs typeface="Golos Text" pitchFamily="34" charset="-120"/>
              </a:rPr>
              <a:t>Сначала поиск, потом 6 найденных фрагментов идут модели. Ответ не берётся из воздуха.</a:t>
            </a:r>
            <a:endParaRPr lang="en-US" sz="1300" dirty="0"/>
          </a:p>
        </p:txBody>
      </p:sp>
      <p:sp>
        <p:nvSpPr>
          <p:cNvPr id="7" name="Shape 5"/>
          <p:cNvSpPr/>
          <p:nvPr/>
        </p:nvSpPr>
        <p:spPr>
          <a:xfrm>
            <a:off x="4946650" y="1918891"/>
            <a:ext cx="3829050" cy="0"/>
          </a:xfrm>
          <a:prstGeom prst="line">
            <a:avLst/>
          </a:prstGeom>
          <a:noFill/>
          <a:ln w="12700">
            <a:solidFill>
              <a:srgbClr val="0F0F12"/>
            </a:solidFill>
            <a:prstDash val="solid"/>
          </a:ln>
        </p:spPr>
      </p:sp>
      <p:sp>
        <p:nvSpPr>
          <p:cNvPr id="8" name="Text 6"/>
          <p:cNvSpPr/>
          <p:nvPr/>
        </p:nvSpPr>
        <p:spPr>
          <a:xfrm>
            <a:off x="4946650" y="2052241"/>
            <a:ext cx="3943922" cy="288230"/>
          </a:xfrm>
          <a:prstGeom prst="rect">
            <a:avLst/>
          </a:prstGeom>
          <a:noFill/>
          <a:ln/>
        </p:spPr>
        <p:txBody>
          <a:bodyPr wrap="square" lIns="0" tIns="0" rIns="0" bIns="0" rtlCol="0" anchor="t">
            <a:normAutofit/>
          </a:bodyPr>
          <a:lstStyle/>
          <a:p>
            <a:pPr algn="l" indent="0" marL="0">
              <a:lnSpc>
                <a:spcPts val="2070"/>
              </a:lnSpc>
              <a:buNone/>
            </a:pPr>
            <a:r>
              <a:rPr lang="en-US" sz="1800" b="1" dirty="0">
                <a:solidFill>
                  <a:srgbClr val="0F0F12"/>
                </a:solidFill>
                <a:latin typeface="Inter Tight" pitchFamily="34" charset="0"/>
                <a:ea typeface="Inter Tight" pitchFamily="34" charset="-122"/>
                <a:cs typeface="Inter Tight" pitchFamily="34" charset="-120"/>
              </a:rPr>
              <a:t>Источники</a:t>
            </a:r>
            <a:endParaRPr lang="en-US" sz="1800" dirty="0"/>
          </a:p>
        </p:txBody>
      </p:sp>
      <p:sp>
        <p:nvSpPr>
          <p:cNvPr id="9" name="Text 7"/>
          <p:cNvSpPr/>
          <p:nvPr/>
        </p:nvSpPr>
        <p:spPr>
          <a:xfrm>
            <a:off x="4946650" y="2365871"/>
            <a:ext cx="3943922"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4A50"/>
                </a:solidFill>
                <a:latin typeface="Golos Text" pitchFamily="34" charset="0"/>
                <a:ea typeface="Golos Text" pitchFamily="34" charset="-122"/>
                <a:cs typeface="Golos Text" pitchFamily="34" charset="-120"/>
              </a:rPr>
              <a:t>Каждое утверждение со ссылкой [n]: таймкод, раздел, цитата. Клик — перемотка.</a:t>
            </a:r>
            <a:endParaRPr lang="en-US" sz="1300" dirty="0"/>
          </a:p>
        </p:txBody>
      </p:sp>
      <p:sp>
        <p:nvSpPr>
          <p:cNvPr id="10" name="Shape 8"/>
          <p:cNvSpPr/>
          <p:nvPr/>
        </p:nvSpPr>
        <p:spPr>
          <a:xfrm>
            <a:off x="812800" y="3268663"/>
            <a:ext cx="3829050" cy="0"/>
          </a:xfrm>
          <a:prstGeom prst="line">
            <a:avLst/>
          </a:prstGeom>
          <a:noFill/>
          <a:ln w="12700">
            <a:solidFill>
              <a:srgbClr val="0F0F12"/>
            </a:solidFill>
            <a:prstDash val="solid"/>
          </a:ln>
        </p:spPr>
      </p:sp>
      <p:sp>
        <p:nvSpPr>
          <p:cNvPr id="11" name="Text 9"/>
          <p:cNvSpPr/>
          <p:nvPr/>
        </p:nvSpPr>
        <p:spPr>
          <a:xfrm>
            <a:off x="812800" y="3402013"/>
            <a:ext cx="3943922" cy="288230"/>
          </a:xfrm>
          <a:prstGeom prst="rect">
            <a:avLst/>
          </a:prstGeom>
          <a:noFill/>
          <a:ln/>
        </p:spPr>
        <p:txBody>
          <a:bodyPr wrap="square" lIns="0" tIns="0" rIns="0" bIns="0" rtlCol="0" anchor="t">
            <a:normAutofit/>
          </a:bodyPr>
          <a:lstStyle/>
          <a:p>
            <a:pPr algn="l" indent="0" marL="0">
              <a:lnSpc>
                <a:spcPts val="2070"/>
              </a:lnSpc>
              <a:buNone/>
            </a:pPr>
            <a:r>
              <a:rPr lang="en-US" sz="1800" b="1" dirty="0">
                <a:solidFill>
                  <a:srgbClr val="0F0F12"/>
                </a:solidFill>
                <a:latin typeface="Inter Tight" pitchFamily="34" charset="0"/>
                <a:ea typeface="Inter Tight" pitchFamily="34" charset="-122"/>
                <a:cs typeface="Inter Tight" pitchFamily="34" charset="-120"/>
              </a:rPr>
              <a:t>Печатается сразу</a:t>
            </a:r>
            <a:endParaRPr lang="en-US" sz="1800" dirty="0"/>
          </a:p>
        </p:txBody>
      </p:sp>
      <p:sp>
        <p:nvSpPr>
          <p:cNvPr id="12" name="Text 10"/>
          <p:cNvSpPr/>
          <p:nvPr/>
        </p:nvSpPr>
        <p:spPr>
          <a:xfrm>
            <a:off x="812800" y="3715643"/>
            <a:ext cx="3943922"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4A50"/>
                </a:solidFill>
                <a:latin typeface="Golos Text" pitchFamily="34" charset="0"/>
                <a:ea typeface="Golos Text" pitchFamily="34" charset="-122"/>
                <a:cs typeface="Golos Text" pitchFamily="34" charset="-120"/>
              </a:rPr>
              <a:t>Ответ приходит потоком, слово за словом, а не после паузы.</a:t>
            </a:r>
            <a:endParaRPr lang="en-US" sz="1300" dirty="0"/>
          </a:p>
        </p:txBody>
      </p:sp>
      <p:sp>
        <p:nvSpPr>
          <p:cNvPr id="13" name="Shape 11"/>
          <p:cNvSpPr/>
          <p:nvPr/>
        </p:nvSpPr>
        <p:spPr>
          <a:xfrm>
            <a:off x="4946650" y="3268663"/>
            <a:ext cx="3829050" cy="0"/>
          </a:xfrm>
          <a:prstGeom prst="line">
            <a:avLst/>
          </a:prstGeom>
          <a:noFill/>
          <a:ln w="12700">
            <a:solidFill>
              <a:srgbClr val="0F0F12"/>
            </a:solidFill>
            <a:prstDash val="solid"/>
          </a:ln>
        </p:spPr>
      </p:sp>
      <p:sp>
        <p:nvSpPr>
          <p:cNvPr id="14" name="Text 12"/>
          <p:cNvSpPr/>
          <p:nvPr/>
        </p:nvSpPr>
        <p:spPr>
          <a:xfrm>
            <a:off x="4946650" y="3402013"/>
            <a:ext cx="3943922" cy="288230"/>
          </a:xfrm>
          <a:prstGeom prst="rect">
            <a:avLst/>
          </a:prstGeom>
          <a:noFill/>
          <a:ln/>
        </p:spPr>
        <p:txBody>
          <a:bodyPr wrap="square" lIns="0" tIns="0" rIns="0" bIns="0" rtlCol="0" anchor="t">
            <a:normAutofit/>
          </a:bodyPr>
          <a:lstStyle/>
          <a:p>
            <a:pPr algn="l" indent="0" marL="0">
              <a:lnSpc>
                <a:spcPts val="2070"/>
              </a:lnSpc>
              <a:buNone/>
            </a:pPr>
            <a:r>
              <a:rPr lang="en-US" sz="1800" b="1" dirty="0">
                <a:solidFill>
                  <a:srgbClr val="0F0F12"/>
                </a:solidFill>
                <a:latin typeface="Inter Tight" pitchFamily="34" charset="0"/>
                <a:ea typeface="Inter Tight" pitchFamily="34" charset="-122"/>
                <a:cs typeface="Inter Tight" pitchFamily="34" charset="-120"/>
              </a:rPr>
              <a:t>Свои подсказки</a:t>
            </a:r>
            <a:endParaRPr lang="en-US" sz="1800" dirty="0"/>
          </a:p>
        </p:txBody>
      </p:sp>
      <p:sp>
        <p:nvSpPr>
          <p:cNvPr id="15" name="Text 13"/>
          <p:cNvSpPr/>
          <p:nvPr/>
        </p:nvSpPr>
        <p:spPr>
          <a:xfrm>
            <a:off x="4946650" y="3715643"/>
            <a:ext cx="3943922"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4A50"/>
                </a:solidFill>
                <a:latin typeface="Golos Text" pitchFamily="34" charset="0"/>
                <a:ea typeface="Golos Text" pitchFamily="34" charset="-122"/>
                <a:cs typeface="Golos Text" pitchFamily="34" charset="-120"/>
              </a:rPr>
              <a:t>У каждой лекции — свои вопросы-подсказки, составленные по её конспекту.</a:t>
            </a:r>
            <a:endParaRPr lang="en-US" sz="1300" dirty="0"/>
          </a:p>
        </p:txBody>
      </p:sp>
      <p:pic>
        <p:nvPicPr>
          <p:cNvPr id="16" name="Image 0" descr="Чат «Спросите лекцию»: вопрос, ответ модели со ссылкой [2] и источник на 4:22 с цитатой">    </p:cNvPr>
          <p:cNvPicPr>
            <a:picLocks noChangeAspect="1"/>
          </p:cNvPicPr>
          <p:nvPr/>
        </p:nvPicPr>
        <p:blipFill>
          <a:blip r:embed="rId1"/>
          <a:srcRect l="238" r="238" t="0" b="0"/>
          <a:stretch/>
        </p:blipFill>
        <p:spPr>
          <a:xfrm>
            <a:off x="9296400" y="1925241"/>
            <a:ext cx="2070100" cy="3784600"/>
          </a:xfrm>
          <a:prstGeom prst="rect">
            <a:avLst/>
          </a:prstGeom>
        </p:spPr>
      </p:pic>
      <p:sp>
        <p:nvSpPr>
          <p:cNvPr id="17" name="Shape 14"/>
          <p:cNvSpPr/>
          <p:nvPr/>
        </p:nvSpPr>
        <p:spPr>
          <a:xfrm>
            <a:off x="9290050" y="1918891"/>
            <a:ext cx="2082800" cy="3797300"/>
          </a:xfrm>
          <a:prstGeom prst="rect">
            <a:avLst/>
          </a:prstGeom>
          <a:noFill/>
          <a:ln w="12700">
            <a:solidFill>
              <a:srgbClr val="0F0F12"/>
            </a:solidFill>
            <a:prstDash val="solid"/>
          </a:ln>
        </p:spPr>
      </p:sp>
      <p:sp>
        <p:nvSpPr>
          <p:cNvPr id="18" name="Text 15"/>
          <p:cNvSpPr/>
          <p:nvPr/>
        </p:nvSpPr>
        <p:spPr>
          <a:xfrm>
            <a:off x="812800" y="6238280"/>
            <a:ext cx="2999303"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6B6B70"/>
                </a:solidFill>
                <a:latin typeface="JetBrains Mono" pitchFamily="49" charset="0"/>
                <a:ea typeface="JetBrains Mono" pitchFamily="49" charset="-122"/>
                <a:cs typeface="JetBrains Mono" pitchFamily="49" charset="-120"/>
              </a:rPr>
              <a:t>LECTIO · КИБЕРРЫВОК 2026</a:t>
            </a:r>
            <a:endParaRPr lang="en-US" sz="1200" dirty="0"/>
          </a:p>
        </p:txBody>
      </p:sp>
      <p:sp>
        <p:nvSpPr>
          <p:cNvPr id="19" name="Text 16"/>
          <p:cNvSpPr/>
          <p:nvPr/>
        </p:nvSpPr>
        <p:spPr>
          <a:xfrm>
            <a:off x="11145441" y="6238280"/>
            <a:ext cx="233759"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B70"/>
                </a:solidFill>
                <a:latin typeface="JetBrains Mono" pitchFamily="49" charset="0"/>
                <a:ea typeface="JetBrains Mono" pitchFamily="49" charset="-122"/>
                <a:cs typeface="JetBrains Mono" pitchFamily="49" charset="-120"/>
              </a:rPr>
              <a:t>15</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2B2BFF"/>
                </a:solidFill>
                <a:latin typeface="JetBrains Mono" pitchFamily="49" charset="0"/>
                <a:ea typeface="JetBrains Mono" pitchFamily="49" charset="-122"/>
                <a:cs typeface="JetBrains Mono" pitchFamily="49" charset="-120"/>
              </a:rPr>
              <a:t>ПРИЛОЖЕНИЕ · ТЕСТ</a:t>
            </a:r>
            <a:endParaRPr lang="en-US" sz="1200" dirty="0"/>
          </a:p>
        </p:txBody>
      </p:sp>
      <p:sp>
        <p:nvSpPr>
          <p:cNvPr id="3" name="Text 1"/>
          <p:cNvSpPr/>
          <p:nvPr>
            <p:ph type="title"/>
          </p:nvPr>
        </p:nvSpPr>
        <p:spPr>
          <a:xfrm>
            <a:off x="812800" y="1178520"/>
            <a:ext cx="10883392" cy="505420"/>
          </a:xfrm>
          <a:prstGeom prst="rect">
            <a:avLst/>
          </a:prstGeom>
          <a:noFill/>
          <a:ln/>
        </p:spPr>
        <p:txBody>
          <a:bodyPr wrap="square" lIns="0" tIns="0" rIns="0" bIns="0" rtlCol="0" anchor="t">
            <a:normAutofit/>
          </a:bodyPr>
          <a:lstStyle/>
          <a:p>
            <a:pPr algn="l" indent="0" marL="0">
              <a:lnSpc>
                <a:spcPts val="3780"/>
              </a:lnSpc>
              <a:buNone/>
            </a:pPr>
            <a:r>
              <a:rPr lang="en-US" sz="3600" b="1" i="0" spc="-150" kern="0" dirty="0">
                <a:solidFill>
                  <a:srgbClr val="0F0F12"/>
                </a:solidFill>
                <a:latin typeface="Inter Tight" pitchFamily="34" charset="0"/>
                <a:ea typeface="Inter Tight" pitchFamily="34" charset="-122"/>
                <a:cs typeface="Inter Tight" pitchFamily="34" charset="-120"/>
              </a:rPr>
              <a:t>Тест: проверить себя и найти пробелы</a:t>
            </a:r>
            <a:endParaRPr lang="en-US" sz="3600" dirty="0"/>
          </a:p>
        </p:txBody>
      </p:sp>
      <p:sp>
        <p:nvSpPr>
          <p:cNvPr id="4" name="Text 2"/>
          <p:cNvSpPr/>
          <p:nvPr/>
        </p:nvSpPr>
        <p:spPr>
          <a:xfrm>
            <a:off x="812800" y="1912541"/>
            <a:ext cx="337489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4A50"/>
                </a:solidFill>
                <a:latin typeface="JetBrains Mono" pitchFamily="49" charset="0"/>
                <a:ea typeface="JetBrains Mono" pitchFamily="49" charset="-122"/>
                <a:cs typeface="JetBrains Mono" pitchFamily="49" charset="-120"/>
              </a:rPr>
              <a:t>Студент</a:t>
            </a:r>
            <a:endParaRPr lang="en-US" sz="1200" dirty="0"/>
          </a:p>
        </p:txBody>
      </p:sp>
      <p:pic>
        <p:nvPicPr>
          <p:cNvPr id="5" name="Image 0" descr="Тест глазами студента: результат 4 из 6, верные ответы отмечены, пояснение и ссылка «ответ на 0:36»">    </p:cNvPr>
          <p:cNvPicPr>
            <a:picLocks noChangeAspect="1"/>
          </p:cNvPicPr>
          <p:nvPr/>
        </p:nvPicPr>
        <p:blipFill>
          <a:blip r:embed="rId1"/>
          <a:srcRect l="18" r="18" t="0" b="0"/>
          <a:stretch/>
        </p:blipFill>
        <p:spPr>
          <a:xfrm>
            <a:off x="825500" y="2214761"/>
            <a:ext cx="3251200" cy="3460750"/>
          </a:xfrm>
          <a:prstGeom prst="rect">
            <a:avLst/>
          </a:prstGeom>
        </p:spPr>
      </p:pic>
      <p:sp>
        <p:nvSpPr>
          <p:cNvPr id="6" name="Shape 3"/>
          <p:cNvSpPr/>
          <p:nvPr/>
        </p:nvSpPr>
        <p:spPr>
          <a:xfrm>
            <a:off x="819150" y="2208411"/>
            <a:ext cx="3263900" cy="3473450"/>
          </a:xfrm>
          <a:prstGeom prst="rect">
            <a:avLst/>
          </a:prstGeom>
          <a:noFill/>
          <a:ln w="12700">
            <a:solidFill>
              <a:srgbClr val="0F0F12"/>
            </a:solidFill>
            <a:prstDash val="solid"/>
          </a:ln>
        </p:spPr>
      </p:sp>
      <p:sp>
        <p:nvSpPr>
          <p:cNvPr id="7" name="Text 4"/>
          <p:cNvSpPr/>
          <p:nvPr/>
        </p:nvSpPr>
        <p:spPr>
          <a:xfrm>
            <a:off x="4343400" y="1912541"/>
            <a:ext cx="311327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4A50"/>
                </a:solidFill>
                <a:latin typeface="JetBrains Mono" pitchFamily="49" charset="0"/>
                <a:ea typeface="JetBrains Mono" pitchFamily="49" charset="-122"/>
                <a:cs typeface="JetBrains Mono" pitchFamily="49" charset="-120"/>
              </a:rPr>
              <a:t>Преподаватель</a:t>
            </a:r>
            <a:endParaRPr lang="en-US" sz="1200" dirty="0"/>
          </a:p>
        </p:txBody>
      </p:sp>
      <p:pic>
        <p:nvPicPr>
          <p:cNvPr id="8" name="Image 1" descr="Статистика преподавателя: просмотры, лайки, процент верных ответов и распределение ответов по каждому вопросу">    </p:cNvPr>
          <p:cNvPicPr>
            <a:picLocks noChangeAspect="1"/>
          </p:cNvPicPr>
          <p:nvPr/>
        </p:nvPicPr>
        <p:blipFill>
          <a:blip r:embed="rId2"/>
          <a:srcRect l="100" r="100" t="0" b="0"/>
          <a:stretch/>
        </p:blipFill>
        <p:spPr>
          <a:xfrm>
            <a:off x="4356100" y="2214761"/>
            <a:ext cx="2997200" cy="3460750"/>
          </a:xfrm>
          <a:prstGeom prst="rect">
            <a:avLst/>
          </a:prstGeom>
        </p:spPr>
      </p:pic>
      <p:sp>
        <p:nvSpPr>
          <p:cNvPr id="9" name="Shape 5"/>
          <p:cNvSpPr/>
          <p:nvPr/>
        </p:nvSpPr>
        <p:spPr>
          <a:xfrm>
            <a:off x="4349750" y="2208411"/>
            <a:ext cx="3009900" cy="3473450"/>
          </a:xfrm>
          <a:prstGeom prst="rect">
            <a:avLst/>
          </a:prstGeom>
          <a:noFill/>
          <a:ln w="12700">
            <a:solidFill>
              <a:srgbClr val="0F0F12"/>
            </a:solidFill>
            <a:prstDash val="solid"/>
          </a:ln>
        </p:spPr>
      </p:sp>
      <p:sp>
        <p:nvSpPr>
          <p:cNvPr id="10" name="Shape 6"/>
          <p:cNvSpPr/>
          <p:nvPr/>
        </p:nvSpPr>
        <p:spPr>
          <a:xfrm>
            <a:off x="7620000" y="2223691"/>
            <a:ext cx="3759200" cy="0"/>
          </a:xfrm>
          <a:prstGeom prst="line">
            <a:avLst/>
          </a:prstGeom>
          <a:noFill/>
          <a:ln w="12700">
            <a:solidFill>
              <a:srgbClr val="0F0F12"/>
            </a:solidFill>
            <a:prstDash val="solid"/>
          </a:ln>
        </p:spPr>
      </p:sp>
      <p:sp>
        <p:nvSpPr>
          <p:cNvPr id="11" name="Text 7"/>
          <p:cNvSpPr/>
          <p:nvPr/>
        </p:nvSpPr>
        <p:spPr>
          <a:xfrm>
            <a:off x="7620000" y="2331641"/>
            <a:ext cx="3871976" cy="71864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0F0F12"/>
                </a:solidFill>
                <a:latin typeface="Golos Text" pitchFamily="34" charset="0"/>
                <a:ea typeface="Golos Text" pitchFamily="34" charset="-122"/>
                <a:cs typeface="Golos Text" pitchFamily="34" charset="-120"/>
              </a:rPr>
              <a:t>Модель составляет 6 вопросов по расшифровке; преподаватель запускает один раз — тест общий для всех</a:t>
            </a:r>
            <a:endParaRPr lang="en-US" sz="1300" dirty="0"/>
          </a:p>
        </p:txBody>
      </p:sp>
      <p:sp>
        <p:nvSpPr>
          <p:cNvPr id="12" name="Shape 8"/>
          <p:cNvSpPr/>
          <p:nvPr/>
        </p:nvSpPr>
        <p:spPr>
          <a:xfrm>
            <a:off x="7620000" y="3183632"/>
            <a:ext cx="3759200" cy="0"/>
          </a:xfrm>
          <a:prstGeom prst="line">
            <a:avLst/>
          </a:prstGeom>
          <a:noFill/>
          <a:ln w="12700">
            <a:solidFill>
              <a:srgbClr val="0F0F12"/>
            </a:solidFill>
            <a:prstDash val="solid"/>
          </a:ln>
        </p:spPr>
      </p:sp>
      <p:sp>
        <p:nvSpPr>
          <p:cNvPr id="13" name="Text 9"/>
          <p:cNvSpPr/>
          <p:nvPr/>
        </p:nvSpPr>
        <p:spPr>
          <a:xfrm>
            <a:off x="7620000" y="3291582"/>
            <a:ext cx="3871976"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0F0F12"/>
                </a:solidFill>
                <a:latin typeface="Golos Text" pitchFamily="34" charset="0"/>
                <a:ea typeface="Golos Text" pitchFamily="34" charset="-122"/>
                <a:cs typeface="Golos Text" pitchFamily="34" charset="-120"/>
              </a:rPr>
              <a:t>После ответа — пояснение и «ответ на 1:10» в видео</a:t>
            </a:r>
            <a:endParaRPr lang="en-US" sz="1300" dirty="0"/>
          </a:p>
        </p:txBody>
      </p:sp>
      <p:sp>
        <p:nvSpPr>
          <p:cNvPr id="14" name="Shape 10"/>
          <p:cNvSpPr/>
          <p:nvPr/>
        </p:nvSpPr>
        <p:spPr>
          <a:xfrm>
            <a:off x="7620000" y="3912493"/>
            <a:ext cx="3759200" cy="0"/>
          </a:xfrm>
          <a:prstGeom prst="line">
            <a:avLst/>
          </a:prstGeom>
          <a:noFill/>
          <a:ln w="12700">
            <a:solidFill>
              <a:srgbClr val="0F0F12"/>
            </a:solidFill>
            <a:prstDash val="solid"/>
          </a:ln>
        </p:spPr>
      </p:sp>
      <p:sp>
        <p:nvSpPr>
          <p:cNvPr id="15" name="Text 11"/>
          <p:cNvSpPr/>
          <p:nvPr/>
        </p:nvSpPr>
        <p:spPr>
          <a:xfrm>
            <a:off x="7620000" y="4020443"/>
            <a:ext cx="3871976"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0F0F12"/>
                </a:solidFill>
                <a:latin typeface="Golos Text" pitchFamily="34" charset="0"/>
                <a:ea typeface="Golos Text" pitchFamily="34" charset="-122"/>
                <a:cs typeface="Golos Text" pitchFamily="34" charset="-120"/>
              </a:rPr>
              <a:t>Преподаватель видит, какой вариант выбрали в каждом вопросе</a:t>
            </a:r>
            <a:endParaRPr lang="en-US" sz="1300" dirty="0"/>
          </a:p>
        </p:txBody>
      </p:sp>
      <p:sp>
        <p:nvSpPr>
          <p:cNvPr id="16" name="Text 12"/>
          <p:cNvSpPr/>
          <p:nvPr/>
        </p:nvSpPr>
        <p:spPr>
          <a:xfrm>
            <a:off x="812800" y="6238280"/>
            <a:ext cx="2999303"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6B6B70"/>
                </a:solidFill>
                <a:latin typeface="JetBrains Mono" pitchFamily="49" charset="0"/>
                <a:ea typeface="JetBrains Mono" pitchFamily="49" charset="-122"/>
                <a:cs typeface="JetBrains Mono" pitchFamily="49" charset="-120"/>
              </a:rPr>
              <a:t>LECTIO · КИБЕРРЫВОК 2026</a:t>
            </a:r>
            <a:endParaRPr lang="en-US" sz="1200" dirty="0"/>
          </a:p>
        </p:txBody>
      </p:sp>
      <p:sp>
        <p:nvSpPr>
          <p:cNvPr id="17" name="Text 13"/>
          <p:cNvSpPr/>
          <p:nvPr/>
        </p:nvSpPr>
        <p:spPr>
          <a:xfrm>
            <a:off x="11145441" y="6238280"/>
            <a:ext cx="233759"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B70"/>
                </a:solidFill>
                <a:latin typeface="JetBrains Mono" pitchFamily="49" charset="0"/>
                <a:ea typeface="JetBrains Mono" pitchFamily="49" charset="-122"/>
                <a:cs typeface="JetBrains Mono" pitchFamily="49" charset="-120"/>
              </a:rPr>
              <a:t>16</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1F1EC"/>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2B2BFF"/>
                </a:solidFill>
                <a:latin typeface="JetBrains Mono" pitchFamily="49" charset="0"/>
                <a:ea typeface="JetBrains Mono" pitchFamily="49" charset="-122"/>
                <a:cs typeface="JetBrains Mono" pitchFamily="49" charset="-120"/>
              </a:rPr>
              <a:t>ПРИЛОЖЕНИЕ · ЛИЧНЫЙ КАБИНЕТ</a:t>
            </a:r>
            <a:endParaRPr lang="en-US" sz="1200" dirty="0"/>
          </a:p>
        </p:txBody>
      </p:sp>
      <p:sp>
        <p:nvSpPr>
          <p:cNvPr id="3" name="Text 1"/>
          <p:cNvSpPr/>
          <p:nvPr>
            <p:ph type="title"/>
          </p:nvPr>
        </p:nvSpPr>
        <p:spPr>
          <a:xfrm>
            <a:off x="812800" y="1178520"/>
            <a:ext cx="10883392" cy="505420"/>
          </a:xfrm>
          <a:prstGeom prst="rect">
            <a:avLst/>
          </a:prstGeom>
          <a:noFill/>
          <a:ln/>
        </p:spPr>
        <p:txBody>
          <a:bodyPr wrap="square" lIns="0" tIns="0" rIns="0" bIns="0" rtlCol="0" anchor="t">
            <a:normAutofit/>
          </a:bodyPr>
          <a:lstStyle/>
          <a:p>
            <a:pPr algn="l" indent="0" marL="0">
              <a:lnSpc>
                <a:spcPts val="3780"/>
              </a:lnSpc>
              <a:buNone/>
            </a:pPr>
            <a:r>
              <a:rPr lang="en-US" sz="3600" b="1" i="0" spc="-150" kern="0" dirty="0">
                <a:solidFill>
                  <a:srgbClr val="0F0F12"/>
                </a:solidFill>
                <a:latin typeface="Inter Tight" pitchFamily="34" charset="0"/>
                <a:ea typeface="Inter Tight" pitchFamily="34" charset="-122"/>
                <a:cs typeface="Inter Tight" pitchFamily="34" charset="-120"/>
              </a:rPr>
              <a:t>Учёба, которая помнит прогресс</a:t>
            </a:r>
            <a:endParaRPr lang="en-US" sz="3600" dirty="0"/>
          </a:p>
        </p:txBody>
      </p:sp>
      <p:pic>
        <p:nvPicPr>
          <p:cNvPr id="4" name="Image 0" descr="Страница «Рейтинг»: уровень и очки студента, полученные и закрытые достижения с прогрессом">    </p:cNvPr>
          <p:cNvPicPr>
            <a:picLocks noChangeAspect="1"/>
          </p:cNvPicPr>
          <p:nvPr/>
        </p:nvPicPr>
        <p:blipFill>
          <a:blip r:embed="rId1"/>
          <a:srcRect l="0" r="0" t="126" b="126"/>
          <a:stretch/>
        </p:blipFill>
        <p:spPr>
          <a:xfrm>
            <a:off x="825500" y="1925241"/>
            <a:ext cx="6070600" cy="3784600"/>
          </a:xfrm>
          <a:prstGeom prst="rect">
            <a:avLst/>
          </a:prstGeom>
        </p:spPr>
      </p:pic>
      <p:sp>
        <p:nvSpPr>
          <p:cNvPr id="5" name="Shape 2"/>
          <p:cNvSpPr/>
          <p:nvPr/>
        </p:nvSpPr>
        <p:spPr>
          <a:xfrm>
            <a:off x="819150" y="1918891"/>
            <a:ext cx="6083300" cy="3797300"/>
          </a:xfrm>
          <a:prstGeom prst="rect">
            <a:avLst/>
          </a:prstGeom>
          <a:noFill/>
          <a:ln w="12700">
            <a:solidFill>
              <a:srgbClr val="0F0F12"/>
            </a:solidFill>
            <a:prstDash val="solid"/>
          </a:ln>
        </p:spPr>
      </p:sp>
      <p:sp>
        <p:nvSpPr>
          <p:cNvPr id="6" name="Shape 3"/>
          <p:cNvSpPr/>
          <p:nvPr/>
        </p:nvSpPr>
        <p:spPr>
          <a:xfrm>
            <a:off x="7264400" y="1918891"/>
            <a:ext cx="4114800" cy="0"/>
          </a:xfrm>
          <a:prstGeom prst="line">
            <a:avLst/>
          </a:prstGeom>
          <a:noFill/>
          <a:ln w="12700">
            <a:solidFill>
              <a:srgbClr val="0F0F12"/>
            </a:solidFill>
            <a:prstDash val="solid"/>
          </a:ln>
        </p:spPr>
      </p:sp>
      <p:sp>
        <p:nvSpPr>
          <p:cNvPr id="7" name="Text 4"/>
          <p:cNvSpPr/>
          <p:nvPr/>
        </p:nvSpPr>
        <p:spPr>
          <a:xfrm>
            <a:off x="7264400" y="2014141"/>
            <a:ext cx="4238244" cy="265410"/>
          </a:xfrm>
          <a:prstGeom prst="rect">
            <a:avLst/>
          </a:prstGeom>
          <a:noFill/>
          <a:ln/>
        </p:spPr>
        <p:txBody>
          <a:bodyPr wrap="square" lIns="0" tIns="0" rIns="0" bIns="0" rtlCol="0" anchor="t">
            <a:normAutofit/>
          </a:bodyPr>
          <a:lstStyle/>
          <a:p>
            <a:pPr algn="l" indent="0" marL="0">
              <a:lnSpc>
                <a:spcPts val="1890"/>
              </a:lnSpc>
              <a:buNone/>
            </a:pPr>
            <a:r>
              <a:rPr lang="en-US" sz="1400" b="1" dirty="0">
                <a:solidFill>
                  <a:srgbClr val="0F0F12"/>
                </a:solidFill>
                <a:latin typeface="Golos Text" pitchFamily="34" charset="0"/>
                <a:ea typeface="Golos Text" pitchFamily="34" charset="-122"/>
                <a:cs typeface="Golos Text" pitchFamily="34" charset="-120"/>
              </a:rPr>
              <a:t>Роли</a:t>
            </a:r>
            <a:r>
              <a:rPr lang="en-US" sz="1400" dirty="0">
                <a:solidFill>
                  <a:srgbClr val="0F0F12"/>
                </a:solidFill>
                <a:latin typeface="Golos Text" pitchFamily="34" charset="0"/>
                <a:ea typeface="Golos Text" pitchFamily="34" charset="-122"/>
                <a:cs typeface="Golos Text" pitchFamily="34" charset="-120"/>
              </a:rPr>
              <a:t> — студент и преподаватель</a:t>
            </a:r>
            <a:endParaRPr lang="en-US" sz="1400" dirty="0"/>
          </a:p>
        </p:txBody>
      </p:sp>
      <p:sp>
        <p:nvSpPr>
          <p:cNvPr id="8" name="Shape 5"/>
          <p:cNvSpPr/>
          <p:nvPr/>
        </p:nvSpPr>
        <p:spPr>
          <a:xfrm>
            <a:off x="7264400" y="2349401"/>
            <a:ext cx="4114800" cy="0"/>
          </a:xfrm>
          <a:prstGeom prst="line">
            <a:avLst/>
          </a:prstGeom>
          <a:noFill/>
          <a:ln w="12700">
            <a:solidFill>
              <a:srgbClr val="0F0F12"/>
            </a:solidFill>
            <a:prstDash val="solid"/>
          </a:ln>
        </p:spPr>
      </p:sp>
      <p:sp>
        <p:nvSpPr>
          <p:cNvPr id="9" name="Text 6"/>
          <p:cNvSpPr/>
          <p:nvPr/>
        </p:nvSpPr>
        <p:spPr>
          <a:xfrm>
            <a:off x="7264400" y="2444651"/>
            <a:ext cx="4238244" cy="265410"/>
          </a:xfrm>
          <a:prstGeom prst="rect">
            <a:avLst/>
          </a:prstGeom>
          <a:noFill/>
          <a:ln/>
        </p:spPr>
        <p:txBody>
          <a:bodyPr wrap="square" lIns="0" tIns="0" rIns="0" bIns="0" rtlCol="0" anchor="t">
            <a:normAutofit/>
          </a:bodyPr>
          <a:lstStyle/>
          <a:p>
            <a:pPr algn="l" indent="0" marL="0">
              <a:lnSpc>
                <a:spcPts val="1890"/>
              </a:lnSpc>
              <a:buNone/>
            </a:pPr>
            <a:r>
              <a:rPr lang="en-US" sz="1400" b="1" dirty="0">
                <a:solidFill>
                  <a:srgbClr val="0F0F12"/>
                </a:solidFill>
                <a:latin typeface="Golos Text" pitchFamily="34" charset="0"/>
                <a:ea typeface="Golos Text" pitchFamily="34" charset="-122"/>
                <a:cs typeface="Golos Text" pitchFamily="34" charset="-120"/>
              </a:rPr>
              <a:t>Курсы</a:t>
            </a:r>
            <a:r>
              <a:rPr lang="en-US" sz="1400" dirty="0">
                <a:solidFill>
                  <a:srgbClr val="0F0F12"/>
                </a:solidFill>
                <a:latin typeface="Golos Text" pitchFamily="34" charset="0"/>
                <a:ea typeface="Golos Text" pitchFamily="34" charset="-122"/>
                <a:cs typeface="Golos Text" pitchFamily="34" charset="-120"/>
              </a:rPr>
              <a:t>, запись, «продолжить просмотр»</a:t>
            </a:r>
            <a:endParaRPr lang="en-US" sz="1400" dirty="0"/>
          </a:p>
        </p:txBody>
      </p:sp>
      <p:sp>
        <p:nvSpPr>
          <p:cNvPr id="10" name="Shape 7"/>
          <p:cNvSpPr/>
          <p:nvPr/>
        </p:nvSpPr>
        <p:spPr>
          <a:xfrm>
            <a:off x="7264400" y="2779911"/>
            <a:ext cx="4114800" cy="0"/>
          </a:xfrm>
          <a:prstGeom prst="line">
            <a:avLst/>
          </a:prstGeom>
          <a:noFill/>
          <a:ln w="12700">
            <a:solidFill>
              <a:srgbClr val="0F0F12"/>
            </a:solidFill>
            <a:prstDash val="solid"/>
          </a:ln>
        </p:spPr>
      </p:sp>
      <p:sp>
        <p:nvSpPr>
          <p:cNvPr id="11" name="Text 8"/>
          <p:cNvSpPr/>
          <p:nvPr/>
        </p:nvSpPr>
        <p:spPr>
          <a:xfrm>
            <a:off x="7264400" y="2875161"/>
            <a:ext cx="4238244" cy="265410"/>
          </a:xfrm>
          <a:prstGeom prst="rect">
            <a:avLst/>
          </a:prstGeom>
          <a:noFill/>
          <a:ln/>
        </p:spPr>
        <p:txBody>
          <a:bodyPr wrap="square" lIns="0" tIns="0" rIns="0" bIns="0" rtlCol="0" anchor="t">
            <a:normAutofit/>
          </a:bodyPr>
          <a:lstStyle/>
          <a:p>
            <a:pPr algn="l" indent="0" marL="0">
              <a:lnSpc>
                <a:spcPts val="1890"/>
              </a:lnSpc>
              <a:buNone/>
            </a:pPr>
            <a:r>
              <a:rPr lang="en-US" sz="1400" b="1" dirty="0">
                <a:solidFill>
                  <a:srgbClr val="0F0F12"/>
                </a:solidFill>
                <a:latin typeface="Golos Text" pitchFamily="34" charset="0"/>
                <a:ea typeface="Golos Text" pitchFamily="34" charset="-122"/>
                <a:cs typeface="Golos Text" pitchFamily="34" charset="-120"/>
              </a:rPr>
              <a:t>Заметки</a:t>
            </a:r>
            <a:r>
              <a:rPr lang="en-US" sz="1400" dirty="0">
                <a:solidFill>
                  <a:srgbClr val="0F0F12"/>
                </a:solidFill>
                <a:latin typeface="Golos Text" pitchFamily="34" charset="0"/>
                <a:ea typeface="Golos Text" pitchFamily="34" charset="-122"/>
                <a:cs typeface="Golos Text" pitchFamily="34" charset="-120"/>
              </a:rPr>
              <a:t> на таймкодах и избранное</a:t>
            </a:r>
            <a:endParaRPr lang="en-US" sz="1400" dirty="0"/>
          </a:p>
        </p:txBody>
      </p:sp>
      <p:sp>
        <p:nvSpPr>
          <p:cNvPr id="12" name="Shape 9"/>
          <p:cNvSpPr/>
          <p:nvPr/>
        </p:nvSpPr>
        <p:spPr>
          <a:xfrm>
            <a:off x="7264400" y="3210421"/>
            <a:ext cx="4114800" cy="0"/>
          </a:xfrm>
          <a:prstGeom prst="line">
            <a:avLst/>
          </a:prstGeom>
          <a:noFill/>
          <a:ln w="12700">
            <a:solidFill>
              <a:srgbClr val="0F0F12"/>
            </a:solidFill>
            <a:prstDash val="solid"/>
          </a:ln>
        </p:spPr>
      </p:sp>
      <p:sp>
        <p:nvSpPr>
          <p:cNvPr id="13" name="Text 10"/>
          <p:cNvSpPr/>
          <p:nvPr/>
        </p:nvSpPr>
        <p:spPr>
          <a:xfrm>
            <a:off x="7264400" y="3305671"/>
            <a:ext cx="4238244" cy="265410"/>
          </a:xfrm>
          <a:prstGeom prst="rect">
            <a:avLst/>
          </a:prstGeom>
          <a:noFill/>
          <a:ln/>
        </p:spPr>
        <p:txBody>
          <a:bodyPr wrap="square" lIns="0" tIns="0" rIns="0" bIns="0" rtlCol="0" anchor="t">
            <a:normAutofit/>
          </a:bodyPr>
          <a:lstStyle/>
          <a:p>
            <a:pPr algn="l" indent="0" marL="0">
              <a:lnSpc>
                <a:spcPts val="1890"/>
              </a:lnSpc>
              <a:buNone/>
            </a:pPr>
            <a:r>
              <a:rPr lang="en-US" sz="1400" b="1" dirty="0">
                <a:solidFill>
                  <a:srgbClr val="0F0F12"/>
                </a:solidFill>
                <a:latin typeface="Golos Text" pitchFamily="34" charset="0"/>
                <a:ea typeface="Golos Text" pitchFamily="34" charset="-122"/>
                <a:cs typeface="Golos Text" pitchFamily="34" charset="-120"/>
              </a:rPr>
              <a:t>Обсуждение</a:t>
            </a:r>
            <a:r>
              <a:rPr lang="en-US" sz="1400" dirty="0">
                <a:solidFill>
                  <a:srgbClr val="0F0F12"/>
                </a:solidFill>
                <a:latin typeface="Golos Text" pitchFamily="34" charset="0"/>
                <a:ea typeface="Golos Text" pitchFamily="34" charset="-122"/>
                <a:cs typeface="Golos Text" pitchFamily="34" charset="-120"/>
              </a:rPr>
              <a:t> с привязкой к моменту</a:t>
            </a:r>
            <a:endParaRPr lang="en-US" sz="1400" dirty="0"/>
          </a:p>
        </p:txBody>
      </p:sp>
      <p:sp>
        <p:nvSpPr>
          <p:cNvPr id="14" name="Shape 11"/>
          <p:cNvSpPr/>
          <p:nvPr/>
        </p:nvSpPr>
        <p:spPr>
          <a:xfrm>
            <a:off x="7264400" y="3640931"/>
            <a:ext cx="4114800" cy="0"/>
          </a:xfrm>
          <a:prstGeom prst="line">
            <a:avLst/>
          </a:prstGeom>
          <a:noFill/>
          <a:ln w="12700">
            <a:solidFill>
              <a:srgbClr val="0F0F12"/>
            </a:solidFill>
            <a:prstDash val="solid"/>
          </a:ln>
        </p:spPr>
      </p:sp>
      <p:sp>
        <p:nvSpPr>
          <p:cNvPr id="15" name="Text 12"/>
          <p:cNvSpPr/>
          <p:nvPr/>
        </p:nvSpPr>
        <p:spPr>
          <a:xfrm>
            <a:off x="7264400" y="3736181"/>
            <a:ext cx="4238244" cy="265410"/>
          </a:xfrm>
          <a:prstGeom prst="rect">
            <a:avLst/>
          </a:prstGeom>
          <a:noFill/>
          <a:ln/>
        </p:spPr>
        <p:txBody>
          <a:bodyPr wrap="square" lIns="0" tIns="0" rIns="0" bIns="0" rtlCol="0" anchor="t">
            <a:normAutofit/>
          </a:bodyPr>
          <a:lstStyle/>
          <a:p>
            <a:pPr algn="l" indent="0" marL="0">
              <a:lnSpc>
                <a:spcPts val="1890"/>
              </a:lnSpc>
              <a:buNone/>
            </a:pPr>
            <a:r>
              <a:rPr lang="en-US" sz="1400" b="1" dirty="0">
                <a:solidFill>
                  <a:srgbClr val="0F0F12"/>
                </a:solidFill>
                <a:latin typeface="Golos Text" pitchFamily="34" charset="0"/>
                <a:ea typeface="Golos Text" pitchFamily="34" charset="-122"/>
                <a:cs typeface="Golos Text" pitchFamily="34" charset="-120"/>
              </a:rPr>
              <a:t>Уровни, 11 достижений</a:t>
            </a:r>
            <a:r>
              <a:rPr lang="en-US" sz="1400" dirty="0">
                <a:solidFill>
                  <a:srgbClr val="0F0F12"/>
                </a:solidFill>
                <a:latin typeface="Golos Text" pitchFamily="34" charset="0"/>
                <a:ea typeface="Golos Text" pitchFamily="34" charset="-122"/>
                <a:cs typeface="Golos Text" pitchFamily="34" charset="-120"/>
              </a:rPr>
              <a:t> и рейтинг</a:t>
            </a:r>
            <a:endParaRPr lang="en-US" sz="1400" dirty="0"/>
          </a:p>
        </p:txBody>
      </p:sp>
      <p:sp>
        <p:nvSpPr>
          <p:cNvPr id="16" name="Text 13"/>
          <p:cNvSpPr/>
          <p:nvPr/>
        </p:nvSpPr>
        <p:spPr>
          <a:xfrm>
            <a:off x="812800" y="6238280"/>
            <a:ext cx="2999303"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6B6B70"/>
                </a:solidFill>
                <a:latin typeface="JetBrains Mono" pitchFamily="49" charset="0"/>
                <a:ea typeface="JetBrains Mono" pitchFamily="49" charset="-122"/>
                <a:cs typeface="JetBrains Mono" pitchFamily="49" charset="-120"/>
              </a:rPr>
              <a:t>LECTIO · КИБЕРРЫВОК 2026</a:t>
            </a:r>
            <a:endParaRPr lang="en-US" sz="1200" dirty="0"/>
          </a:p>
        </p:txBody>
      </p:sp>
      <p:sp>
        <p:nvSpPr>
          <p:cNvPr id="17" name="Text 14"/>
          <p:cNvSpPr/>
          <p:nvPr/>
        </p:nvSpPr>
        <p:spPr>
          <a:xfrm>
            <a:off x="11145441" y="6238280"/>
            <a:ext cx="233759"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B70"/>
                </a:solidFill>
                <a:latin typeface="JetBrains Mono" pitchFamily="49" charset="0"/>
                <a:ea typeface="JetBrains Mono" pitchFamily="49" charset="-122"/>
                <a:cs typeface="JetBrains Mono" pitchFamily="49" charset="-120"/>
              </a:rPr>
              <a:t>17</a:t>
            </a:r>
            <a:endParaRPr lang="en-US" sz="1200" dirty="0"/>
          </a:p>
        </p:txBody>
      </p:sp>
    </p:spTree>
  </p:cSld>
  <p:clrMapOvr>
    <a:masterClrMapping/>
  </p:clrMapOvr>
</p:sld>
</file>

<file path=ppt/theme/theme1.xml><?xml version="1.0" encoding="utf-8"?>
<a:theme xmlns:a="http://schemas.openxmlformats.org/drawingml/2006/main" name="Lectio — смысловой поиск по видеолекциям">
  <a:themeElements>
    <a:clrScheme name="Lectio — смысловой поиск по видеолекциям">
      <a:dk1>
        <a:srgbClr val="0F0F12"/>
      </a:dk1>
      <a:lt1>
        <a:srgbClr val="FAFAF7"/>
      </a:lt1>
      <a:dk2>
        <a:srgbClr val="4A4A4B"/>
      </a:dk2>
      <a:lt2>
        <a:srgbClr val="E3E3E0"/>
      </a:lt2>
      <a:accent1>
        <a:srgbClr val="2B2BFF"/>
      </a:accent1>
      <a:accent2>
        <a:srgbClr val="9D9DFF"/>
      </a:accent2>
      <a:accent3>
        <a:srgbClr val="4A4A50"/>
      </a:accent3>
      <a:accent4>
        <a:srgbClr val="6B6B70"/>
      </a:accent4>
      <a:accent5>
        <a:srgbClr val="C9C9D1"/>
      </a:accent5>
      <a:accent6>
        <a:srgbClr val="9A9AA3"/>
      </a:accent6>
      <a:hlink>
        <a:srgbClr val="0563C1"/>
      </a:hlink>
      <a:folHlink>
        <a:srgbClr val="954F72"/>
      </a:folHlink>
    </a:clrScheme>
    <a:fontScheme name="Lectio — смысловой поиск по видеолекциям">
      <a:majorFont>
        <a:latin typeface="Inter T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olos Tex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Lectio — смысловой поиск по видеолекциям</dc:title>
  <dc:subject/>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presentation’s text: its family and style names and the weight and style it declares were rewritten, and any digital signature, which no longer matched, was removed. Google Fonts serves each family in parts, one file per range of characters, so these may not be a family’s complete files. Each family’s copyright lines and license follow, and each family stays under its own license; if you pass this file on, keep these notices with it.
Golos Text
Copyright 2019 The Golos Text Project Authors (https://github.com/googlefonts/golos-text)
This Font Software is licensed under the SIL Open Font License, Version 1.1.
This license is copied below, and is also available with a FAQ at:
https://scripts.sil.org/OFL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JetBrains Mono
Copyright 2020 The JetBrains Mono Project Authors (https://github.com/JetBrains/JetBrainsMono)
This Font Software is licensed under the SIL Open Font License, Version 1.1.
This license is copied below, and is also available with a FAQ at: https://scripts.sil.org/OFL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Inter Tight
Copyright 2022 The Inter Project Authors (https://github.com/rsms/inter-tight)
This Font Software is licensed under the SIL Open Font License, Version 1.1.
This license is copied below, and is also available with a FAQ at:
https://scripts.sil.org/OFL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dc:description>
  <dc:creator/>
  <cp:lastModifiedBy/>
  <cp:revision>1</cp:revision>
  <dcterms:created xsi:type="dcterms:W3CDTF">2026-10-28T08:28:06Z</dcterms:created>
  <dcterms:modified xsi:type="dcterms:W3CDTF">2026-10-28T08:28:06Z</dcterms:modified>
</cp:coreProperties>
</file>