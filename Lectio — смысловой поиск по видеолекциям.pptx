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Golos Text" panose="020B0503020202020204" pitchFamily="34" charset="0"/>
      <p:regular r:id="rId24"/>
      <p:bold r:id="rId25"/>
    </p:embeddedFont>
    <p:embeddedFont>
      <p:font typeface="JetBrains Mono" panose="02000009000000000000" pitchFamily="49" charset="0"/>
      <p:regular r:id="rId26"/>
      <p:bold r:id="rId27"/>
    </p:embeddedFont>
    <p:embeddedFont>
      <p:font typeface="Inter Tight" pitchFamily="34"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секунд. Здравствуйте, мы команда «ветмо»: Алексей Юзьков и Антон Буданов. Наш проект — Lectio, веб-сервис для смыслового поиска по видеолекциям.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секунд. Лекций в видео всё больше: записи пар, онлайн-курсы, YouTube — это уже обычный способ учиться, особенно перед экзаменами. Но инструменты работы с видео остались на уровне перемотки. Нет оглавления — непонятно, где нужная тема. Нет поиска — Ctrl+F по видео не работает, а даже если есть субтитры, лектор мог сказать то же самое совсем другими словами, чем ищет студент. В итоге студент тратит время на пересмотр вместо учёбы.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секунд. Сценарий для пользователя — три шага. Загрузил лекцию файлом или ссылкой — на сайте или просто отправил ссылку нашему Telegram-боту.Дальше всё происходит само: расшифровка, субтитры, конспект с оглавлением. И потом по лекции можно искать своими словами: Lectio находит фрагмент по смыслу, показывает таймкод, и клик открывает видео ровно на этой секунде.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Техническая реализация, всего минута на этот и следующий слайд. Архитектура: браузер на React общается с API на FastAPI. Второй вход — Telegram-бот на aiogram: он ставит лекции в ту же очередь и ищет по тому же индексу, что и сайт. API проверяет загрузку сразу — есть ли звук, доступна ли ссылка — и ставит задачу в очередь в Redis, а пользователю отвечает мгновенно. Тяжёлую работу делает отдельный воркер: скачивает видео, извлекает звук, расшифровывает Whisper, считает векторы BGE-M3 и пишет конспект локальной моделью Qwen3. Результаты ложатся в PostgreSQL — и векторы, и полнотекстовый индекс в одной базе, — а видео уезжает в MinIO и отдаётся браузеру по подписанной ссылке. Воркер обрабатывает одну лекцию за раз и выгружает модели между этапами, поэтому всё помещается в 6 гигабайт видеопамяти. И одно видео обрабатывается один раз: ссылки на то же видео в любой форме и одинаковые файлы распознаются, и пользователю предлагают открыть готовую лекцию.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Алгоритмы. Первое: Whisper отдаёт таймкод каждого слова, из слов мы собираем короткие реплики — это точные субтитры. Второе: расшифровка режется на фрагменты около 40 секунд с перекрытием, многоязычная модель BGE-M3 превращает каждый в вектор смысла. Третье, главное: гибридный поиск. Векторный находит перефразировки, полнотекстовый с русской морфологией — точные термины, а результаты сливаются методом Reciprocal Rank Fusion, без ручного подбора весов. Четвёртое: конспект делается по частям — модель читает лекцию кусками и сводит в общий конспект с оглавлением, таймкоды разделов привязываются к реальным фрагментам. Весь стек открытый, языковая модель локальная. Качество держим тестами: 55 автотестов на pytest, в основном интеграционные — они гоняют API, воркер и бота на настоящих Postgres с pgvector, Redis и MinIO, а не на заглушках; заменены только нейросети, чтобы тесты шли за секунды. Плюс линтер ruff и строгая проверка типов basedpyright на бэкенде, TypeScript на фронте.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секунд, живой показ строго по пунктам ТЗ, слева их порядок. 1 — в «Загрузить» → «Ссылка» вставить короткую ссылку youtu.be на лекцию, которая уже есть в библиотеке: Lectio узнаёт то же видео в любой форме ссылки и предлагает открыть готовую вместо повторной обработки — нажать «Открыть лекцию». Новую ссылку не импортировать: скачивание с YouTube зависит от сети, на защите оно может зависнуть. 2 — открыть готовую лекцию, вкладка «Расшифровка»: текст с таймкодами. 3 — поиск в шапке, запрос «как учиться с помощью нейросетей»: первой находится английская лекция; кликнуть результат — видео открывается на этой секунде. 4 — в плеере субтитры поверх видео; кликнуть реплику в «Сейчас говорит» — перемотка. 5 — вкладки «Конспект» и «Оглавление», клик по разделу — переход. Если останется время: страница «Глоссарий» в шапке — термины всех лекций, ввести «катет» и кликнуть ссылку на момент; вопрос-подсказка в чате, ответ с источником; или в Telegram у @lectiohackathon_bot написать вопрос со знаком «?» — ответ придёт со ссылками на моменты видео. Если что-то не грузится — показывать по скриншотам на этом слайде и в приложении.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Сразу после демо, коротко: всё, что вы только что видели, — это пять обязательных пунктов ТЗ.Все пять обязательных пунктов закрыты полностью. Из дополнительных фишек ТЗ сделаны поиск по курсу, чат по лекции, ключевые термины — у каждой лекции и общим глоссарием по всем лекциям, — импорт по ссылке и личный кабинет — организатор подтвердил, что он засчитывается. Офлайн-режим тоже есть: расшифровка, поиск и языковая модель работают локально, шрифты и формулы лежат в сборке фронта — сайт полностью работает без интернета. Интернет нужен только для импорта по ссылке с YouTube и для Telegram-бота. Сверх ТЗ: Telegram-бот, тест по лекции со статистикой для преподавателя, обсуждение, геймификация, хранилище видео в MinIO и проверка дублей — одно видео обрабатывается один раз.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секунд. Чем мы лучше того, что есть. Субтитры YouTube ищут только точные слова и только внутри одного видео, а Lectio ищет по смыслу и по всем лекциям курса сразу, даже на другом языке. Облачные AI-сервисы отправляют лекции и вопросы на чужие серверы и работают по подписке, а Lectio целиком работает у вуза. Обычная запись в LMS — это просто видео, а у нас оглавление, конспект, тест и статистика по группе появляются автоматически. Практическая ценность: студент находит нужную минуту за секунды вместо пересмотра, преподаватель видит, какие темы группа не поняла. Цифры — наш замер на GTX 1660 Super 2019 года с 6 гигабайтами: лекция на 1 час 25 минут обрабатывается целиком за 14 минут. Расшифровка — 5 минут, в 17 раз быстрее реального времени, индексация — 40 секунд, то есть искать можно уже через 6 минут; остальное время локальная модель пишет конспект.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секунд, коротко. Итог: у нас рабочий прототип, который закрывает все пункты ТЗ и работает локально на обычном компьютере. Дальше — интеграция с Moodle и вузовскими LMS, чтобы лекции курса и оценки за тесты подтягивались сами. Режим для сервера без видеокарты: облачная расшифровка и более сильная модель для конспектов, по выбору вуза. Импорт целого плейлиста или канала. Интервальные повторения на основе вопросов, где студент ошибся в тесте. Распознавание формул с доски, чтобы по ним тоже искать. И экспорт конспекта в Markdown и Obsidian.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Спасибо за внимание, готовы ответить на вопросы. Код — в репозитории github.com/anxi0uz/lectio. Если жюри попросит подробности, после этого слайда идёт приложение со скриншотами каждой функции.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приложение, в пятиминутное выступление не входит. Открывать, если жюри спросит про конкретную функцию или если живое демо не загрузится.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Главная фича по ТЗ — поиск по смыслу. Мы используем гибрид: векторный поиск по эмбеддингам BGE-M3 находит перефразировки, полнотекстовый поиск Postgres с русской морфологией находит точные термины и формулы. Результаты сливаются методом RRF, без ручного подбора весов. Модель многоязычная, поэтому на скриншоте запрос «как учиться с помощью нейросетей» первым находит английскую лекцию How I Use AI to Learn Things. Искать можно по всем лекциям, по курсу или внутри одной лекции, каждый результат — таймкод и ссылка на момент видео.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Свой плеер вместо стандартного. Субтитры из расшифровки идут поверх видео синхронно. Справа блок «Сейчас говорит» и бегущая расшифровка: клик по любой реплике перематывает видео. На шкале отмечены главы и личные закладки, есть горячие клавиши и ползунок громкости. Кнопка «Поделиться моментом» даёт ссылку, которая открывает видео ровно на нужной секунде. Позиция просмотра запоминается.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Конспект делает языковая модель: лекция обрабатывается по частям, потом части сводятся в общий конспект и оглавление — разделы и подразделы с таймкодами. Таймкоды мы «примагничиваем» к реальным началам фрагментов, чтобы клик по разделу попадал точно. Формулы рендерятся через KaTeX. Отдельно выделяются ключевые термины с определением и моментом, где их впервые объяснили. Из терминов всех лекций собирается общий глоссарий: страница «Глоссарий», где каждое понятие — с определениями из всех лекций, где его объясняли, и ссылкой на момент. Она обновляется сама, как только у лекции появляется конспект. Если модель недоступна, лекция всё равно ищется и смотрится — конспект best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Чат по лекции — это RAG. Вопрос сначала идёт в тот же гибридный поиск, шесть лучших фрагментов попадают в промпт, и модель отвечает только по ним, ставя номер источника после каждого утверждения. Под ответом — источники с таймкодом, названием раздела и цитатой; клик перематывает видео. Ответ стримится через SSE, поэтому печатается сразу. Если фрагменты на другом языке, модель переводит смысл. Подсказки-вопросы у каждой лекции свои: модель составляет их по конспекту.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 по лекции — дополнительная фича сверх ТЗ. Преподаватель нажимает одну кнопку, модель составляет шесть вопросов с вариантами по разным частям лекции. Сервер сам перемешивает варианты и отбрасывает вопросы, где правильный ответ выдаёт себя длиной. Студент после каждого ответа видит пояснение и ссылку на момент, где это объясняли. Результат сохраняется. Преподаватель на вкладке «Статистика» видит, сколько человек выбрали каждый вариант: на скриншоте видно, что на третий вопрос выбрали «Ромб» — значит, эту часть стоит объяснить ещё раз.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Личный кабинет организатор подтвердил как засчитываемую фичу. Есть роли: преподаватель создаёт курсы и лекции, студент записывается и учится. Сохраняется позиция просмотра, на главной — «продолжить просмотр». Заметки на таймкодах, избранное, история поиска. Под лекцией — обсуждение, комментарий можно привязать к моменту видео, преподаватель модерирует. И геймификация: очки за просмотренные лекции, тесты и участие, уровни, одиннадцать достижений и рейтинг студентов.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480020"/>
          </a:xfrm>
          <a:prstGeom prst="rect">
            <a:avLst/>
          </a:prstGeom>
          <a:noFill/>
          <a:ln/>
        </p:spPr>
        <p:txBody>
          <a:bodyPr wrap="square" lIns="0" tIns="0" rIns="0" bIns="0" rtlCol="0" anchor="t"/>
          <a:lstStyle>
            <a:lvl1pPr algn="l" indent="0" marL="0">
              <a:lnSpc>
                <a:spcPct val="115000"/>
              </a:lnSpc>
              <a:buNone/>
              <a:defRPr lang="en-US" sz="3600" dirty="0">
                <a:solidFill>
                  <a:srgbClr val="0F0F12"/>
                </a:solidFill>
                <a:latin typeface="Inter Tight" pitchFamily="34" charset="0"/>
                <a:ea typeface="Inter Tight" pitchFamily="34" charset="-122"/>
                <a:cs typeface="Inter Tigh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3341"/>
            <a:ext cx="10566400" cy="4081859"/>
          </a:xfrm>
          <a:prstGeom prst="rect">
            <a:avLst/>
          </a:prstGeom>
          <a:noFill/>
          <a:ln/>
        </p:spPr>
        <p:txBody>
          <a:bodyPr wrap="square" lIns="0" tIns="0" rIns="0" bIns="0" rtlCol="0" anchor="t"/>
          <a:lstStyle>
            <a:lvl1pPr algn="l" indent="0" marL="0">
              <a:lnSpc>
                <a:spcPct val="140000"/>
              </a:lnSpc>
              <a:buNone/>
              <a:defRPr lang="en-US" sz="1600" dirty="0">
                <a:solidFill>
                  <a:srgbClr val="0F0F12"/>
                </a:solidFill>
                <a:latin typeface="Golos Text" pitchFamily="34" charset="0"/>
                <a:ea typeface="Golos Text" pitchFamily="34" charset="-122"/>
                <a:cs typeface="Golos Tex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480020"/>
          </a:xfrm>
          <a:prstGeom prst="rect">
            <a:avLst/>
          </a:prstGeom>
          <a:noFill/>
          <a:ln/>
        </p:spPr>
        <p:txBody>
          <a:bodyPr wrap="square" lIns="0" tIns="0" rIns="0" bIns="0" rtlCol="0" anchor="t"/>
          <a:lstStyle>
            <a:lvl1pPr algn="l" indent="0" marL="0">
              <a:lnSpc>
                <a:spcPct val="115000"/>
              </a:lnSpc>
              <a:buNone/>
              <a:defRPr lang="en-US" sz="3600" dirty="0">
                <a:solidFill>
                  <a:srgbClr val="0F0F12"/>
                </a:solidFill>
                <a:latin typeface="Inter Tight" pitchFamily="34" charset="0"/>
                <a:ea typeface="Inter Tight" pitchFamily="34" charset="-122"/>
                <a:cs typeface="Inter Tigh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3341"/>
            <a:ext cx="10566400" cy="4081859"/>
          </a:xfrm>
          <a:prstGeom prst="rect">
            <a:avLst/>
          </a:prstGeom>
          <a:noFill/>
          <a:ln/>
        </p:spPr>
        <p:txBody>
          <a:bodyPr wrap="square" lIns="0" tIns="0" rIns="0" bIns="0" rtlCol="0" anchor="t"/>
          <a:lstStyle>
            <a:lvl1pPr algn="l" indent="0" marL="0">
              <a:lnSpc>
                <a:spcPct val="140000"/>
              </a:lnSpc>
              <a:buNone/>
              <a:defRPr lang="en-US" sz="1600" dirty="0">
                <a:solidFill>
                  <a:srgbClr val="0F0F12"/>
                </a:solidFill>
                <a:latin typeface="Golos Text" pitchFamily="34" charset="0"/>
                <a:ea typeface="Golos Text" pitchFamily="34" charset="-122"/>
                <a:cs typeface="Golos Tex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anxi0uz/lectio"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2B2BFF"/>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КИБЕРРЫВОК 2026 · КЕЙС ФЦПТ СПБГМТУ</a:t>
            </a:r>
            <a:endParaRPr lang="en-US" sz="1200" dirty="0"/>
          </a:p>
        </p:txBody>
      </p:sp>
      <p:sp>
        <p:nvSpPr>
          <p:cNvPr id="4" name="Text 2"/>
          <p:cNvSpPr/>
          <p:nvPr>
            <p:ph type="title"/>
          </p:nvPr>
        </p:nvSpPr>
        <p:spPr>
          <a:xfrm>
            <a:off x="812800" y="1738809"/>
            <a:ext cx="10883392" cy="1473200"/>
          </a:xfrm>
          <a:prstGeom prst="rect">
            <a:avLst/>
          </a:prstGeom>
          <a:noFill/>
          <a:ln/>
        </p:spPr>
        <p:txBody>
          <a:bodyPr wrap="square" lIns="0" tIns="0" rIns="0" bIns="0" rtlCol="0" anchor="t">
            <a:normAutofit/>
          </a:bodyPr>
          <a:lstStyle/>
          <a:p>
            <a:pPr algn="l" indent="0" marL="0">
              <a:lnSpc>
                <a:spcPts val="11400"/>
              </a:lnSpc>
              <a:buNone/>
            </a:pPr>
            <a:r>
              <a:rPr lang="en-US" sz="12000" b="1" i="0" spc="-500" kern="0" dirty="0">
                <a:solidFill>
                  <a:srgbClr val="0F0F12"/>
                </a:solidFill>
                <a:latin typeface="Inter Tight" pitchFamily="34" charset="0"/>
                <a:ea typeface="Inter Tight" pitchFamily="34" charset="-122"/>
                <a:cs typeface="Inter Tight" pitchFamily="34" charset="-120"/>
              </a:rPr>
              <a:t>lectio</a:t>
            </a:r>
            <a:r>
              <a:rPr lang="en-US" sz="12000" b="1" i="0" spc="-500" kern="0" dirty="0">
                <a:solidFill>
                  <a:srgbClr val="2B2BFF"/>
                </a:solidFill>
                <a:latin typeface="Inter Tight" pitchFamily="34" charset="0"/>
                <a:ea typeface="Inter Tight" pitchFamily="34" charset="-122"/>
                <a:cs typeface="Inter Tight" pitchFamily="34" charset="-120"/>
              </a:rPr>
              <a:t>.</a:t>
            </a:r>
            <a:endParaRPr lang="en-US" sz="12000" dirty="0"/>
          </a:p>
        </p:txBody>
      </p:sp>
      <p:sp>
        <p:nvSpPr>
          <p:cNvPr id="5" name="Text 3"/>
          <p:cNvSpPr/>
          <p:nvPr/>
        </p:nvSpPr>
        <p:spPr>
          <a:xfrm>
            <a:off x="812800" y="3440609"/>
            <a:ext cx="8502650" cy="878681"/>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0F0F12"/>
                </a:solidFill>
                <a:latin typeface="Golos Text" pitchFamily="34" charset="0"/>
                <a:ea typeface="Golos Text" pitchFamily="34" charset="-122"/>
                <a:cs typeface="Golos Text" pitchFamily="34" charset="-120"/>
              </a:rPr>
              <a:t>Смысловой поиск по видеолекциям — найти нужную минуту, а не пересматривать час</a:t>
            </a:r>
            <a:endParaRPr lang="en-US" sz="2800" dirty="0"/>
          </a:p>
        </p:txBody>
      </p:sp>
      <p:sp>
        <p:nvSpPr>
          <p:cNvPr id="6" name="Shape 4"/>
          <p:cNvSpPr/>
          <p:nvPr/>
        </p:nvSpPr>
        <p:spPr>
          <a:xfrm>
            <a:off x="812800" y="5012829"/>
            <a:ext cx="10566400" cy="0"/>
          </a:xfrm>
          <a:prstGeom prst="line">
            <a:avLst/>
          </a:prstGeom>
          <a:noFill/>
          <a:ln w="12700">
            <a:solidFill>
              <a:srgbClr val="0F0F12"/>
            </a:solidFill>
            <a:prstDash val="solid"/>
          </a:ln>
        </p:spPr>
      </p:sp>
      <p:sp>
        <p:nvSpPr>
          <p:cNvPr id="7" name="Text 5"/>
          <p:cNvSpPr/>
          <p:nvPr/>
        </p:nvSpPr>
        <p:spPr>
          <a:xfrm>
            <a:off x="812800" y="5222379"/>
            <a:ext cx="520286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0F12"/>
                </a:solidFill>
                <a:latin typeface="Inter Tight" pitchFamily="34" charset="0"/>
                <a:ea typeface="Inter Tight" pitchFamily="34" charset="-122"/>
                <a:cs typeface="Inter Tight" pitchFamily="34" charset="-120"/>
              </a:rPr>
              <a:t>Команда «ветмо»</a:t>
            </a:r>
            <a:endParaRPr lang="en-US" sz="1800" dirty="0"/>
          </a:p>
        </p:txBody>
      </p:sp>
      <p:sp>
        <p:nvSpPr>
          <p:cNvPr id="8" name="Text 6"/>
          <p:cNvSpPr/>
          <p:nvPr/>
        </p:nvSpPr>
        <p:spPr>
          <a:xfrm>
            <a:off x="812800" y="5593159"/>
            <a:ext cx="60615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Golos Text" pitchFamily="34" charset="0"/>
                <a:ea typeface="Golos Text" pitchFamily="34" charset="-122"/>
                <a:cs typeface="Golos Text" pitchFamily="34" charset="-120"/>
              </a:rPr>
              <a:t>Юзьков Алексей Андреевич · Буданов Антон Геннадьевич</a:t>
            </a:r>
            <a:endParaRPr lang="en-US" sz="1400" dirty="0"/>
          </a:p>
        </p:txBody>
      </p:sp>
      <p:sp>
        <p:nvSpPr>
          <p:cNvPr id="9" name="Text 7"/>
          <p:cNvSpPr/>
          <p:nvPr/>
        </p:nvSpPr>
        <p:spPr>
          <a:xfrm>
            <a:off x="10281920" y="5628680"/>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4A50"/>
                </a:solidFill>
                <a:latin typeface="JetBrains Mono" pitchFamily="49" charset="0"/>
                <a:ea typeface="JetBrains Mono" pitchFamily="49" charset="-122"/>
                <a:cs typeface="JetBrains Mono" pitchFamily="49" charset="-120"/>
              </a:rPr>
              <a:t>28.10.2026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ПРОБЛЕМА И АКТУАЛЬНОСТЬ</a:t>
            </a:r>
            <a:endParaRPr lang="en-US" sz="1200" dirty="0"/>
          </a:p>
        </p:txBody>
      </p:sp>
      <p:sp>
        <p:nvSpPr>
          <p:cNvPr id="3" name="Text 1"/>
          <p:cNvSpPr/>
          <p:nvPr>
            <p:ph type="title"/>
          </p:nvPr>
        </p:nvSpPr>
        <p:spPr>
          <a:xfrm>
            <a:off x="812800" y="1178520"/>
            <a:ext cx="9810750" cy="985441"/>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Видеолекция — самый неудобный формат, чтобы найти ответ</a:t>
            </a:r>
            <a:endParaRPr lang="en-US" sz="3600" dirty="0"/>
          </a:p>
        </p:txBody>
      </p:sp>
      <p:sp>
        <p:nvSpPr>
          <p:cNvPr id="4" name="Shape 2"/>
          <p:cNvSpPr/>
          <p:nvPr/>
        </p:nvSpPr>
        <p:spPr>
          <a:xfrm>
            <a:off x="812800" y="2452886"/>
            <a:ext cx="3318867" cy="0"/>
          </a:xfrm>
          <a:prstGeom prst="line">
            <a:avLst/>
          </a:prstGeom>
          <a:noFill/>
          <a:ln w="19050">
            <a:solidFill>
              <a:srgbClr val="0F0F12"/>
            </a:solidFill>
            <a:prstDash val="solid"/>
          </a:ln>
        </p:spPr>
      </p:sp>
      <p:sp>
        <p:nvSpPr>
          <p:cNvPr id="5" name="Text 3"/>
          <p:cNvSpPr/>
          <p:nvPr/>
        </p:nvSpPr>
        <p:spPr>
          <a:xfrm>
            <a:off x="812800" y="2640211"/>
            <a:ext cx="3418433" cy="346670"/>
          </a:xfrm>
          <a:prstGeom prst="rect">
            <a:avLst/>
          </a:prstGeom>
          <a:noFill/>
          <a:ln/>
        </p:spPr>
        <p:txBody>
          <a:bodyPr wrap="square" lIns="0" tIns="0" rIns="0" bIns="0" rtlCol="0" anchor="t">
            <a:normAutofit/>
          </a:bodyPr>
          <a:lstStyle/>
          <a:p>
            <a:pPr algn="l" indent="0" marL="0">
              <a:lnSpc>
                <a:spcPts val="2530"/>
              </a:lnSpc>
              <a:buNone/>
            </a:pPr>
            <a:r>
              <a:rPr lang="en-US" sz="2200" b="1" spc="-50" kern="0" dirty="0">
                <a:solidFill>
                  <a:srgbClr val="0F0F12"/>
                </a:solidFill>
                <a:latin typeface="Inter Tight" pitchFamily="34" charset="0"/>
                <a:ea typeface="Inter Tight" pitchFamily="34" charset="-122"/>
                <a:cs typeface="Inter Tight" pitchFamily="34" charset="-120"/>
              </a:rPr>
              <a:t>Нет оглавления</a:t>
            </a:r>
            <a:endParaRPr lang="en-US" sz="2200" dirty="0"/>
          </a:p>
        </p:txBody>
      </p:sp>
      <p:sp>
        <p:nvSpPr>
          <p:cNvPr id="6" name="Text 4"/>
          <p:cNvSpPr/>
          <p:nvPr/>
        </p:nvSpPr>
        <p:spPr>
          <a:xfrm>
            <a:off x="812800" y="3063081"/>
            <a:ext cx="341843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50"/>
                </a:solidFill>
                <a:latin typeface="Golos Text" pitchFamily="34" charset="0"/>
                <a:ea typeface="Golos Text" pitchFamily="34" charset="-122"/>
                <a:cs typeface="Golos Text" pitchFamily="34" charset="-120"/>
              </a:rPr>
              <a:t>Полтора часа сплошного видео. Где нужная тема — непонятно.</a:t>
            </a:r>
            <a:endParaRPr lang="en-US" sz="1500" dirty="0"/>
          </a:p>
        </p:txBody>
      </p:sp>
      <p:sp>
        <p:nvSpPr>
          <p:cNvPr id="7" name="Shape 5"/>
          <p:cNvSpPr/>
          <p:nvPr/>
        </p:nvSpPr>
        <p:spPr>
          <a:xfrm>
            <a:off x="4436467" y="2452886"/>
            <a:ext cx="3318966" cy="0"/>
          </a:xfrm>
          <a:prstGeom prst="line">
            <a:avLst/>
          </a:prstGeom>
          <a:noFill/>
          <a:ln w="19050">
            <a:solidFill>
              <a:srgbClr val="0F0F12"/>
            </a:solidFill>
            <a:prstDash val="solid"/>
          </a:ln>
        </p:spPr>
      </p:sp>
      <p:sp>
        <p:nvSpPr>
          <p:cNvPr id="8" name="Text 6"/>
          <p:cNvSpPr/>
          <p:nvPr/>
        </p:nvSpPr>
        <p:spPr>
          <a:xfrm>
            <a:off x="4436467" y="2640211"/>
            <a:ext cx="3418535" cy="346670"/>
          </a:xfrm>
          <a:prstGeom prst="rect">
            <a:avLst/>
          </a:prstGeom>
          <a:noFill/>
          <a:ln/>
        </p:spPr>
        <p:txBody>
          <a:bodyPr wrap="square" lIns="0" tIns="0" rIns="0" bIns="0" rtlCol="0" anchor="t">
            <a:normAutofit/>
          </a:bodyPr>
          <a:lstStyle/>
          <a:p>
            <a:pPr algn="l" indent="0" marL="0">
              <a:lnSpc>
                <a:spcPts val="2530"/>
              </a:lnSpc>
              <a:buNone/>
            </a:pPr>
            <a:r>
              <a:rPr lang="en-US" sz="2200" b="1" spc="-50" kern="0" dirty="0">
                <a:solidFill>
                  <a:srgbClr val="0F0F12"/>
                </a:solidFill>
                <a:latin typeface="Inter Tight" pitchFamily="34" charset="0"/>
                <a:ea typeface="Inter Tight" pitchFamily="34" charset="-122"/>
                <a:cs typeface="Inter Tight" pitchFamily="34" charset="-120"/>
              </a:rPr>
              <a:t>Ctrl+F не работает</a:t>
            </a:r>
            <a:endParaRPr lang="en-US" sz="2200" dirty="0"/>
          </a:p>
        </p:txBody>
      </p:sp>
      <p:sp>
        <p:nvSpPr>
          <p:cNvPr id="9" name="Text 7"/>
          <p:cNvSpPr/>
          <p:nvPr/>
        </p:nvSpPr>
        <p:spPr>
          <a:xfrm>
            <a:off x="4436467" y="3063081"/>
            <a:ext cx="341853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50"/>
                </a:solidFill>
                <a:latin typeface="Golos Text" pitchFamily="34" charset="0"/>
                <a:ea typeface="Golos Text" pitchFamily="34" charset="-122"/>
                <a:cs typeface="Golos Text" pitchFamily="34" charset="-120"/>
              </a:rPr>
              <a:t>По видео не поищешь. А лектор мог сказать это другими словами.</a:t>
            </a:r>
            <a:endParaRPr lang="en-US" sz="1500" dirty="0"/>
          </a:p>
        </p:txBody>
      </p:sp>
      <p:sp>
        <p:nvSpPr>
          <p:cNvPr id="10" name="Shape 8"/>
          <p:cNvSpPr/>
          <p:nvPr/>
        </p:nvSpPr>
        <p:spPr>
          <a:xfrm>
            <a:off x="8060234" y="2452886"/>
            <a:ext cx="3318966" cy="0"/>
          </a:xfrm>
          <a:prstGeom prst="line">
            <a:avLst/>
          </a:prstGeom>
          <a:noFill/>
          <a:ln w="19050">
            <a:solidFill>
              <a:srgbClr val="0F0F12"/>
            </a:solidFill>
            <a:prstDash val="solid"/>
          </a:ln>
        </p:spPr>
      </p:sp>
      <p:sp>
        <p:nvSpPr>
          <p:cNvPr id="11" name="Text 9"/>
          <p:cNvSpPr/>
          <p:nvPr/>
        </p:nvSpPr>
        <p:spPr>
          <a:xfrm>
            <a:off x="8060234" y="2640211"/>
            <a:ext cx="3418535" cy="346670"/>
          </a:xfrm>
          <a:prstGeom prst="rect">
            <a:avLst/>
          </a:prstGeom>
          <a:noFill/>
          <a:ln/>
        </p:spPr>
        <p:txBody>
          <a:bodyPr wrap="square" lIns="0" tIns="0" rIns="0" bIns="0" rtlCol="0" anchor="t">
            <a:normAutofit/>
          </a:bodyPr>
          <a:lstStyle/>
          <a:p>
            <a:pPr algn="l" indent="0" marL="0">
              <a:lnSpc>
                <a:spcPts val="2530"/>
              </a:lnSpc>
              <a:buNone/>
            </a:pPr>
            <a:r>
              <a:rPr lang="en-US" sz="2200" b="1" spc="-50" kern="0" dirty="0">
                <a:solidFill>
                  <a:srgbClr val="0F0F12"/>
                </a:solidFill>
                <a:latin typeface="Inter Tight" pitchFamily="34" charset="0"/>
                <a:ea typeface="Inter Tight" pitchFamily="34" charset="-122"/>
                <a:cs typeface="Inter Tight" pitchFamily="34" charset="-120"/>
              </a:rPr>
              <a:t>Часы впустую</a:t>
            </a:r>
            <a:endParaRPr lang="en-US" sz="2200" dirty="0"/>
          </a:p>
        </p:txBody>
      </p:sp>
      <p:sp>
        <p:nvSpPr>
          <p:cNvPr id="12" name="Text 10"/>
          <p:cNvSpPr/>
          <p:nvPr/>
        </p:nvSpPr>
        <p:spPr>
          <a:xfrm>
            <a:off x="8060234" y="3063081"/>
            <a:ext cx="341853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4A50"/>
                </a:solidFill>
                <a:latin typeface="Golos Text" pitchFamily="34" charset="0"/>
                <a:ea typeface="Golos Text" pitchFamily="34" charset="-122"/>
                <a:cs typeface="Golos Text" pitchFamily="34" charset="-120"/>
              </a:rPr>
              <a:t>Перемотка и пересмотр ради одной формулы или определения.</a:t>
            </a:r>
            <a:endParaRPr lang="en-US" sz="1500" dirty="0"/>
          </a:p>
        </p:txBody>
      </p:sp>
      <p:sp>
        <p:nvSpPr>
          <p:cNvPr id="13" name="Shape 11"/>
          <p:cNvSpPr/>
          <p:nvPr/>
        </p:nvSpPr>
        <p:spPr>
          <a:xfrm>
            <a:off x="812800" y="3901281"/>
            <a:ext cx="10566400" cy="920750"/>
          </a:xfrm>
          <a:prstGeom prst="rect">
            <a:avLst/>
          </a:prstGeom>
          <a:solidFill>
            <a:srgbClr val="2B2BFF"/>
          </a:solidFill>
          <a:ln/>
        </p:spPr>
      </p:sp>
      <p:sp>
        <p:nvSpPr>
          <p:cNvPr id="14" name="Text 12"/>
          <p:cNvSpPr/>
          <p:nvPr/>
        </p:nvSpPr>
        <p:spPr>
          <a:xfrm>
            <a:off x="1066800" y="4254996"/>
            <a:ext cx="1095375"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FAFAF7"/>
                </a:solidFill>
                <a:latin typeface="JetBrains Mono" pitchFamily="49" charset="0"/>
                <a:ea typeface="JetBrains Mono" pitchFamily="49" charset="-122"/>
                <a:cs typeface="JetBrains Mono" pitchFamily="49" charset="-120"/>
              </a:rPr>
              <a:t>ПОЧЕМУ СЕЙЧАС</a:t>
            </a:r>
            <a:endParaRPr lang="en-US" sz="1200" dirty="0"/>
          </a:p>
        </p:txBody>
      </p:sp>
      <p:sp>
        <p:nvSpPr>
          <p:cNvPr id="15" name="Text 13"/>
          <p:cNvSpPr/>
          <p:nvPr/>
        </p:nvSpPr>
        <p:spPr>
          <a:xfrm>
            <a:off x="2314575" y="4104481"/>
            <a:ext cx="90749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AFAF7"/>
                </a:solidFill>
                <a:latin typeface="Golos Text" pitchFamily="34" charset="0"/>
                <a:ea typeface="Golos Text" pitchFamily="34" charset="-122"/>
                <a:cs typeface="Golos Text" pitchFamily="34" charset="-120"/>
              </a:rPr>
              <a:t>Записи пар, онлайн-курсы и лекции на YouTube стали обычным способом учиться, а работать с ними можно только перемоткой.</a:t>
            </a:r>
            <a:endParaRPr lang="en-US" sz="1500" dirty="0"/>
          </a:p>
        </p:txBody>
      </p:sp>
      <p:sp>
        <p:nvSpPr>
          <p:cNvPr id="16" name="Text 14"/>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7" name="Text 15"/>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B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AFAF7"/>
                </a:solidFill>
                <a:latin typeface="JetBrains Mono" pitchFamily="49" charset="0"/>
                <a:ea typeface="JetBrains Mono" pitchFamily="49" charset="-122"/>
                <a:cs typeface="JetBrains Mono" pitchFamily="49" charset="-120"/>
              </a:rPr>
              <a:t>РЕШЕНИЕ</a:t>
            </a:r>
            <a:endParaRPr lang="en-US" sz="1200" dirty="0"/>
          </a:p>
        </p:txBody>
      </p:sp>
      <p:sp>
        <p:nvSpPr>
          <p:cNvPr id="3" name="Text 1"/>
          <p:cNvSpPr/>
          <p:nvPr>
            <p:ph type="title"/>
          </p:nvPr>
        </p:nvSpPr>
        <p:spPr>
          <a:xfrm>
            <a:off x="812800" y="1178520"/>
            <a:ext cx="10137775" cy="1092200"/>
          </a:xfrm>
          <a:prstGeom prst="rect">
            <a:avLst/>
          </a:prstGeom>
          <a:noFill/>
          <a:ln/>
        </p:spPr>
        <p:txBody>
          <a:bodyPr wrap="square" lIns="0" tIns="0" rIns="0" bIns="0" rtlCol="0" anchor="t">
            <a:normAutofit/>
          </a:bodyPr>
          <a:lstStyle/>
          <a:p>
            <a:pPr algn="l" indent="0" marL="0">
              <a:lnSpc>
                <a:spcPts val="4200"/>
              </a:lnSpc>
              <a:buNone/>
            </a:pPr>
            <a:r>
              <a:rPr lang="en-US" sz="4000" b="1" i="0" spc="-150" kern="0" dirty="0">
                <a:solidFill>
                  <a:srgbClr val="FAFAF7"/>
                </a:solidFill>
                <a:latin typeface="Inter Tight" pitchFamily="34" charset="0"/>
                <a:ea typeface="Inter Tight" pitchFamily="34" charset="-122"/>
                <a:cs typeface="Inter Tight" pitchFamily="34" charset="-120"/>
              </a:rPr>
              <a:t>Lectio превращает видео в текст, по которому можно искать по смыслу</a:t>
            </a:r>
            <a:endParaRPr lang="en-US" sz="4000" dirty="0"/>
          </a:p>
        </p:txBody>
      </p:sp>
      <p:sp>
        <p:nvSpPr>
          <p:cNvPr id="4" name="Shape 2"/>
          <p:cNvSpPr/>
          <p:nvPr/>
        </p:nvSpPr>
        <p:spPr>
          <a:xfrm>
            <a:off x="812800" y="2661245"/>
            <a:ext cx="3318867" cy="0"/>
          </a:xfrm>
          <a:prstGeom prst="line">
            <a:avLst/>
          </a:prstGeom>
          <a:noFill/>
          <a:ln w="19050">
            <a:solidFill>
              <a:srgbClr val="FAFAF7"/>
            </a:solidFill>
            <a:prstDash val="solid"/>
          </a:ln>
        </p:spPr>
      </p:sp>
      <p:sp>
        <p:nvSpPr>
          <p:cNvPr id="5" name="Text 3"/>
          <p:cNvSpPr/>
          <p:nvPr/>
        </p:nvSpPr>
        <p:spPr>
          <a:xfrm>
            <a:off x="812800" y="2873970"/>
            <a:ext cx="3418433" cy="635000"/>
          </a:xfrm>
          <a:prstGeom prst="rect">
            <a:avLst/>
          </a:prstGeom>
          <a:noFill/>
          <a:ln/>
        </p:spPr>
        <p:txBody>
          <a:bodyPr wrap="square" lIns="0" tIns="0" rIns="0" bIns="0" rtlCol="0" anchor="t">
            <a:normAutofit/>
          </a:bodyPr>
          <a:lstStyle/>
          <a:p>
            <a:pPr algn="l" indent="0" marL="0">
              <a:lnSpc>
                <a:spcPts val="4800"/>
              </a:lnSpc>
              <a:buNone/>
            </a:pPr>
            <a:r>
              <a:rPr lang="en-US" sz="4800" b="1" spc="-200" kern="0" dirty="0">
                <a:solidFill>
                  <a:srgbClr val="FAFAF7"/>
                </a:solidFill>
                <a:latin typeface="Inter Tight" pitchFamily="34" charset="0"/>
                <a:ea typeface="Inter Tight" pitchFamily="34" charset="-122"/>
                <a:cs typeface="Inter Tight" pitchFamily="34" charset="-120"/>
              </a:rPr>
              <a:t>01</a:t>
            </a:r>
            <a:endParaRPr lang="en-US" sz="4800" dirty="0"/>
          </a:p>
        </p:txBody>
      </p:sp>
      <p:sp>
        <p:nvSpPr>
          <p:cNvPr id="6" name="Text 4"/>
          <p:cNvSpPr/>
          <p:nvPr/>
        </p:nvSpPr>
        <p:spPr>
          <a:xfrm>
            <a:off x="812800" y="3585170"/>
            <a:ext cx="3418433"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AFAF7"/>
                </a:solidFill>
                <a:latin typeface="Inter Tight" pitchFamily="34" charset="0"/>
                <a:ea typeface="Inter Tight" pitchFamily="34" charset="-122"/>
                <a:cs typeface="Inter Tight" pitchFamily="34" charset="-120"/>
              </a:rPr>
              <a:t>Загрузить</a:t>
            </a:r>
            <a:endParaRPr lang="en-US" sz="2200" dirty="0"/>
          </a:p>
        </p:txBody>
      </p:sp>
      <p:sp>
        <p:nvSpPr>
          <p:cNvPr id="7" name="Text 5"/>
          <p:cNvSpPr/>
          <p:nvPr/>
        </p:nvSpPr>
        <p:spPr>
          <a:xfrm>
            <a:off x="812800" y="4008041"/>
            <a:ext cx="341843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AFAF7"/>
                </a:solidFill>
                <a:latin typeface="Golos Text" pitchFamily="34" charset="0"/>
                <a:ea typeface="Golos Text" pitchFamily="34" charset="-122"/>
                <a:cs typeface="Golos Text" pitchFamily="34" charset="-120"/>
              </a:rPr>
              <a:t>Файл или ссылку на YouTube, Vimeo — на сайте или в Telegram-боте.</a:t>
            </a:r>
            <a:endParaRPr lang="en-US" sz="1600" dirty="0"/>
          </a:p>
        </p:txBody>
      </p:sp>
      <p:sp>
        <p:nvSpPr>
          <p:cNvPr id="8" name="Shape 6"/>
          <p:cNvSpPr/>
          <p:nvPr/>
        </p:nvSpPr>
        <p:spPr>
          <a:xfrm>
            <a:off x="4436467" y="2661245"/>
            <a:ext cx="3318966" cy="0"/>
          </a:xfrm>
          <a:prstGeom prst="line">
            <a:avLst/>
          </a:prstGeom>
          <a:noFill/>
          <a:ln w="19050">
            <a:solidFill>
              <a:srgbClr val="FAFAF7"/>
            </a:solidFill>
            <a:prstDash val="solid"/>
          </a:ln>
        </p:spPr>
      </p:sp>
      <p:sp>
        <p:nvSpPr>
          <p:cNvPr id="9" name="Text 7"/>
          <p:cNvSpPr/>
          <p:nvPr/>
        </p:nvSpPr>
        <p:spPr>
          <a:xfrm>
            <a:off x="4436467" y="2873970"/>
            <a:ext cx="3418535" cy="635000"/>
          </a:xfrm>
          <a:prstGeom prst="rect">
            <a:avLst/>
          </a:prstGeom>
          <a:noFill/>
          <a:ln/>
        </p:spPr>
        <p:txBody>
          <a:bodyPr wrap="square" lIns="0" tIns="0" rIns="0" bIns="0" rtlCol="0" anchor="t">
            <a:normAutofit/>
          </a:bodyPr>
          <a:lstStyle/>
          <a:p>
            <a:pPr algn="l" indent="0" marL="0">
              <a:lnSpc>
                <a:spcPts val="4800"/>
              </a:lnSpc>
              <a:buNone/>
            </a:pPr>
            <a:r>
              <a:rPr lang="en-US" sz="4800" b="1" spc="-200" kern="0" dirty="0">
                <a:solidFill>
                  <a:srgbClr val="FAFAF7"/>
                </a:solidFill>
                <a:latin typeface="Inter Tight" pitchFamily="34" charset="0"/>
                <a:ea typeface="Inter Tight" pitchFamily="34" charset="-122"/>
                <a:cs typeface="Inter Tight" pitchFamily="34" charset="-120"/>
              </a:rPr>
              <a:t>02</a:t>
            </a:r>
            <a:endParaRPr lang="en-US" sz="4800" dirty="0"/>
          </a:p>
        </p:txBody>
      </p:sp>
      <p:sp>
        <p:nvSpPr>
          <p:cNvPr id="10" name="Text 8"/>
          <p:cNvSpPr/>
          <p:nvPr/>
        </p:nvSpPr>
        <p:spPr>
          <a:xfrm>
            <a:off x="4436467" y="3585170"/>
            <a:ext cx="341853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AFAF7"/>
                </a:solidFill>
                <a:latin typeface="Inter Tight" pitchFamily="34" charset="0"/>
                <a:ea typeface="Inter Tight" pitchFamily="34" charset="-122"/>
                <a:cs typeface="Inter Tight" pitchFamily="34" charset="-120"/>
              </a:rPr>
              <a:t>Получить</a:t>
            </a:r>
            <a:endParaRPr lang="en-US" sz="2200" dirty="0"/>
          </a:p>
        </p:txBody>
      </p:sp>
      <p:sp>
        <p:nvSpPr>
          <p:cNvPr id="11" name="Text 9"/>
          <p:cNvSpPr/>
          <p:nvPr/>
        </p:nvSpPr>
        <p:spPr>
          <a:xfrm>
            <a:off x="4436467" y="4008041"/>
            <a:ext cx="341853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AFAF7"/>
                </a:solidFill>
                <a:latin typeface="Golos Text" pitchFamily="34" charset="0"/>
                <a:ea typeface="Golos Text" pitchFamily="34" charset="-122"/>
                <a:cs typeface="Golos Text" pitchFamily="34" charset="-120"/>
              </a:rPr>
              <a:t>Расшифровку, субтитры, конспект и оглавление — автоматически.</a:t>
            </a:r>
            <a:endParaRPr lang="en-US" sz="1600" dirty="0"/>
          </a:p>
        </p:txBody>
      </p:sp>
      <p:sp>
        <p:nvSpPr>
          <p:cNvPr id="12" name="Shape 10"/>
          <p:cNvSpPr/>
          <p:nvPr/>
        </p:nvSpPr>
        <p:spPr>
          <a:xfrm>
            <a:off x="8060234" y="2661245"/>
            <a:ext cx="3318966" cy="0"/>
          </a:xfrm>
          <a:prstGeom prst="line">
            <a:avLst/>
          </a:prstGeom>
          <a:noFill/>
          <a:ln w="19050">
            <a:solidFill>
              <a:srgbClr val="FAFAF7"/>
            </a:solidFill>
            <a:prstDash val="solid"/>
          </a:ln>
        </p:spPr>
      </p:sp>
      <p:sp>
        <p:nvSpPr>
          <p:cNvPr id="13" name="Text 11"/>
          <p:cNvSpPr/>
          <p:nvPr/>
        </p:nvSpPr>
        <p:spPr>
          <a:xfrm>
            <a:off x="8060234" y="2873970"/>
            <a:ext cx="3418535" cy="635000"/>
          </a:xfrm>
          <a:prstGeom prst="rect">
            <a:avLst/>
          </a:prstGeom>
          <a:noFill/>
          <a:ln/>
        </p:spPr>
        <p:txBody>
          <a:bodyPr wrap="square" lIns="0" tIns="0" rIns="0" bIns="0" rtlCol="0" anchor="t">
            <a:normAutofit/>
          </a:bodyPr>
          <a:lstStyle/>
          <a:p>
            <a:pPr algn="l" indent="0" marL="0">
              <a:lnSpc>
                <a:spcPts val="4800"/>
              </a:lnSpc>
              <a:buNone/>
            </a:pPr>
            <a:r>
              <a:rPr lang="en-US" sz="4800" b="1" spc="-200" kern="0" dirty="0">
                <a:solidFill>
                  <a:srgbClr val="FAFAF7"/>
                </a:solidFill>
                <a:latin typeface="Inter Tight" pitchFamily="34" charset="0"/>
                <a:ea typeface="Inter Tight" pitchFamily="34" charset="-122"/>
                <a:cs typeface="Inter Tight" pitchFamily="34" charset="-120"/>
              </a:rPr>
              <a:t>03</a:t>
            </a:r>
            <a:endParaRPr lang="en-US" sz="4800" dirty="0"/>
          </a:p>
        </p:txBody>
      </p:sp>
      <p:sp>
        <p:nvSpPr>
          <p:cNvPr id="14" name="Text 12"/>
          <p:cNvSpPr/>
          <p:nvPr/>
        </p:nvSpPr>
        <p:spPr>
          <a:xfrm>
            <a:off x="8060234" y="3585170"/>
            <a:ext cx="341853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AFAF7"/>
                </a:solidFill>
                <a:latin typeface="Inter Tight" pitchFamily="34" charset="0"/>
                <a:ea typeface="Inter Tight" pitchFamily="34" charset="-122"/>
                <a:cs typeface="Inter Tight" pitchFamily="34" charset="-120"/>
              </a:rPr>
              <a:t>Найти</a:t>
            </a:r>
            <a:endParaRPr lang="en-US" sz="2200" dirty="0"/>
          </a:p>
        </p:txBody>
      </p:sp>
      <p:sp>
        <p:nvSpPr>
          <p:cNvPr id="15" name="Text 13"/>
          <p:cNvSpPr/>
          <p:nvPr/>
        </p:nvSpPr>
        <p:spPr>
          <a:xfrm>
            <a:off x="8060234" y="4008041"/>
            <a:ext cx="341853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AFAF7"/>
                </a:solidFill>
                <a:latin typeface="Golos Text" pitchFamily="34" charset="0"/>
                <a:ea typeface="Golos Text" pitchFamily="34" charset="-122"/>
                <a:cs typeface="Golos Text" pitchFamily="34" charset="-120"/>
              </a:rPr>
              <a:t>Вопрос своими словами — фрагмент, таймкод, сразу к нужной секунде.</a:t>
            </a:r>
            <a:endParaRPr lang="en-US" sz="1600" dirty="0"/>
          </a:p>
        </p:txBody>
      </p:sp>
      <p:sp>
        <p:nvSpPr>
          <p:cNvPr id="16" name="Text 14"/>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AFAF7"/>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7" name="Text 15"/>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AFAF7"/>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ТЕХНИЧЕСКАЯ РЕАЛИЗАЦИЯ · АРХИТЕКТУРА</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API отвечает сразу, тяжёлое — в фоне</a:t>
            </a:r>
            <a:endParaRPr lang="en-US" sz="3600" dirty="0"/>
          </a:p>
        </p:txBody>
      </p:sp>
      <p:pic>
        <p:nvPicPr>
          <p:cNvPr id="4" name="Image 0" descr="connector">    </p:cNvPr>
          <p:cNvPicPr>
            <a:picLocks noChangeAspect="1"/>
          </p:cNvPicPr>
          <p:nvPr/>
        </p:nvPicPr>
        <p:blipFill>
          <a:blip r:embed="rId1"/>
          <a:srcRect l="0" r="0" t="0" b="0"/>
          <a:stretch/>
        </p:blipFill>
        <p:spPr>
          <a:xfrm>
            <a:off x="2667000" y="2679700"/>
            <a:ext cx="609600" cy="101600"/>
          </a:xfrm>
          <a:prstGeom prst="rect">
            <a:avLst/>
          </a:prstGeom>
        </p:spPr>
      </p:pic>
      <p:pic>
        <p:nvPicPr>
          <p:cNvPr id="5" name="Image 1" descr="connector">    </p:cNvPr>
          <p:cNvPicPr>
            <a:picLocks noChangeAspect="1"/>
          </p:cNvPicPr>
          <p:nvPr/>
        </p:nvPicPr>
        <p:blipFill>
          <a:blip r:embed="rId2"/>
          <a:srcRect l="0" r="0" t="0" b="0"/>
          <a:stretch/>
        </p:blipFill>
        <p:spPr>
          <a:xfrm>
            <a:off x="4254500" y="3124200"/>
            <a:ext cx="101600" cy="482600"/>
          </a:xfrm>
          <a:prstGeom prst="rect">
            <a:avLst/>
          </a:prstGeom>
        </p:spPr>
      </p:pic>
      <p:pic>
        <p:nvPicPr>
          <p:cNvPr id="6" name="Image 2" descr="connector">    </p:cNvPr>
          <p:cNvPicPr>
            <a:picLocks noChangeAspect="1"/>
          </p:cNvPicPr>
          <p:nvPr/>
        </p:nvPicPr>
        <p:blipFill>
          <a:blip r:embed="rId3"/>
          <a:srcRect l="0" r="0" t="0" b="0"/>
          <a:stretch/>
        </p:blipFill>
        <p:spPr>
          <a:xfrm>
            <a:off x="2667000" y="3854450"/>
            <a:ext cx="609600" cy="101600"/>
          </a:xfrm>
          <a:prstGeom prst="rect">
            <a:avLst/>
          </a:prstGeom>
        </p:spPr>
      </p:pic>
      <p:pic>
        <p:nvPicPr>
          <p:cNvPr id="7" name="Image 3" descr="connector">    </p:cNvPr>
          <p:cNvPicPr>
            <a:picLocks noChangeAspect="1"/>
          </p:cNvPicPr>
          <p:nvPr/>
        </p:nvPicPr>
        <p:blipFill>
          <a:blip r:embed="rId4"/>
          <a:srcRect l="0" r="0" t="0" b="0"/>
          <a:stretch/>
        </p:blipFill>
        <p:spPr>
          <a:xfrm>
            <a:off x="4254500" y="4203700"/>
            <a:ext cx="101600" cy="546100"/>
          </a:xfrm>
          <a:prstGeom prst="rect">
            <a:avLst/>
          </a:prstGeom>
        </p:spPr>
      </p:pic>
      <p:pic>
        <p:nvPicPr>
          <p:cNvPr id="8" name="Image 4" descr="connector">    </p:cNvPr>
          <p:cNvPicPr>
            <a:picLocks noChangeAspect="1"/>
          </p:cNvPicPr>
          <p:nvPr/>
        </p:nvPicPr>
        <p:blipFill>
          <a:blip r:embed="rId5"/>
          <a:srcRect l="0" r="0" t="0" b="0"/>
          <a:stretch/>
        </p:blipFill>
        <p:spPr>
          <a:xfrm>
            <a:off x="5334000" y="2679700"/>
            <a:ext cx="1244600" cy="101600"/>
          </a:xfrm>
          <a:prstGeom prst="rect">
            <a:avLst/>
          </a:prstGeom>
        </p:spPr>
      </p:pic>
      <p:pic>
        <p:nvPicPr>
          <p:cNvPr id="9" name="Image 5" descr="connector">    </p:cNvPr>
          <p:cNvPicPr>
            <a:picLocks noChangeAspect="1"/>
          </p:cNvPicPr>
          <p:nvPr/>
        </p:nvPicPr>
        <p:blipFill>
          <a:blip r:embed="rId6"/>
          <a:srcRect l="0" r="0" t="0" b="0"/>
          <a:stretch/>
        </p:blipFill>
        <p:spPr>
          <a:xfrm>
            <a:off x="5334000" y="3124200"/>
            <a:ext cx="1244600" cy="1752600"/>
          </a:xfrm>
          <a:prstGeom prst="rect">
            <a:avLst/>
          </a:prstGeom>
        </p:spPr>
      </p:pic>
      <p:pic>
        <p:nvPicPr>
          <p:cNvPr id="10" name="Image 6" descr="connector">    </p:cNvPr>
          <p:cNvPicPr>
            <a:picLocks noChangeAspect="1"/>
          </p:cNvPicPr>
          <p:nvPr/>
        </p:nvPicPr>
        <p:blipFill>
          <a:blip r:embed="rId7"/>
          <a:srcRect l="0" r="0" t="0" b="0"/>
          <a:stretch/>
        </p:blipFill>
        <p:spPr>
          <a:xfrm>
            <a:off x="5334000" y="5283200"/>
            <a:ext cx="1244600" cy="101600"/>
          </a:xfrm>
          <a:prstGeom prst="rect">
            <a:avLst/>
          </a:prstGeom>
        </p:spPr>
      </p:pic>
      <p:sp>
        <p:nvSpPr>
          <p:cNvPr id="11" name="Shape 2"/>
          <p:cNvSpPr/>
          <p:nvPr/>
        </p:nvSpPr>
        <p:spPr>
          <a:xfrm>
            <a:off x="819150" y="2292350"/>
            <a:ext cx="1892300" cy="876300"/>
          </a:xfrm>
          <a:prstGeom prst="rect">
            <a:avLst/>
          </a:prstGeom>
          <a:solidFill>
            <a:srgbClr val="FAFAF7"/>
          </a:solidFill>
          <a:ln w="12700">
            <a:solidFill>
              <a:srgbClr val="0F0F12"/>
            </a:solidFill>
            <a:prstDash val="solid"/>
          </a:ln>
        </p:spPr>
      </p:sp>
      <p:sp>
        <p:nvSpPr>
          <p:cNvPr id="12" name="Text 3"/>
          <p:cNvSpPr/>
          <p:nvPr/>
        </p:nvSpPr>
        <p:spPr>
          <a:xfrm>
            <a:off x="977900" y="2451100"/>
            <a:ext cx="162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0F12"/>
                </a:solidFill>
                <a:latin typeface="Inter Tight" pitchFamily="34" charset="0"/>
                <a:ea typeface="Inter Tight" pitchFamily="34" charset="-122"/>
                <a:cs typeface="Inter Tight" pitchFamily="34" charset="-120"/>
              </a:rPr>
              <a:t>Браузер</a:t>
            </a:r>
            <a:endParaRPr lang="en-US" sz="1600" dirty="0"/>
          </a:p>
        </p:txBody>
      </p:sp>
      <p:sp>
        <p:nvSpPr>
          <p:cNvPr id="13" name="Text 4"/>
          <p:cNvSpPr/>
          <p:nvPr/>
        </p:nvSpPr>
        <p:spPr>
          <a:xfrm>
            <a:off x="977900" y="2760960"/>
            <a:ext cx="162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Golos Text" pitchFamily="34" charset="0"/>
                <a:ea typeface="Golos Text" pitchFamily="34" charset="-122"/>
                <a:cs typeface="Golos Text" pitchFamily="34" charset="-120"/>
              </a:rPr>
              <a:t>React, TypeScript</a:t>
            </a:r>
            <a:endParaRPr lang="en-US" sz="1200" dirty="0"/>
          </a:p>
        </p:txBody>
      </p:sp>
      <p:sp>
        <p:nvSpPr>
          <p:cNvPr id="14" name="Shape 5"/>
          <p:cNvSpPr/>
          <p:nvPr/>
        </p:nvSpPr>
        <p:spPr>
          <a:xfrm>
            <a:off x="819150" y="3562350"/>
            <a:ext cx="1892300" cy="685800"/>
          </a:xfrm>
          <a:prstGeom prst="rect">
            <a:avLst/>
          </a:prstGeom>
          <a:solidFill>
            <a:srgbClr val="FAFAF7"/>
          </a:solidFill>
          <a:ln w="12700">
            <a:solidFill>
              <a:srgbClr val="0F0F12"/>
            </a:solidFill>
            <a:prstDash val="solid"/>
          </a:ln>
        </p:spPr>
      </p:sp>
      <p:sp>
        <p:nvSpPr>
          <p:cNvPr id="15" name="Text 6"/>
          <p:cNvSpPr/>
          <p:nvPr/>
        </p:nvSpPr>
        <p:spPr>
          <a:xfrm>
            <a:off x="977900" y="3721100"/>
            <a:ext cx="1625600" cy="221357"/>
          </a:xfrm>
          <a:prstGeom prst="rect">
            <a:avLst/>
          </a:prstGeom>
          <a:noFill/>
          <a:ln/>
        </p:spPr>
        <p:txBody>
          <a:bodyPr wrap="square" lIns="0" tIns="0" rIns="0" bIns="0" rtlCol="0" anchor="t">
            <a:normAutofit/>
          </a:bodyPr>
          <a:lstStyle/>
          <a:p>
            <a:pPr algn="l" indent="0" marL="0">
              <a:lnSpc>
                <a:spcPts val="1568"/>
              </a:lnSpc>
              <a:buNone/>
            </a:pPr>
            <a:r>
              <a:rPr lang="en-US" sz="1120" b="1" dirty="0">
                <a:solidFill>
                  <a:srgbClr val="0F0F12"/>
                </a:solidFill>
                <a:latin typeface="Inter Tight" pitchFamily="34" charset="0"/>
                <a:ea typeface="Inter Tight" pitchFamily="34" charset="-122"/>
                <a:cs typeface="Inter Tight" pitchFamily="34" charset="-120"/>
              </a:rPr>
              <a:t>Telegram-бот</a:t>
            </a:r>
            <a:endParaRPr lang="en-US" sz="1120" dirty="0"/>
          </a:p>
        </p:txBody>
      </p:sp>
      <p:sp>
        <p:nvSpPr>
          <p:cNvPr id="16" name="Text 7"/>
          <p:cNvSpPr/>
          <p:nvPr/>
        </p:nvSpPr>
        <p:spPr>
          <a:xfrm>
            <a:off x="977900" y="3942457"/>
            <a:ext cx="1625600" cy="172343"/>
          </a:xfrm>
          <a:prstGeom prst="rect">
            <a:avLst/>
          </a:prstGeom>
          <a:noFill/>
          <a:ln/>
        </p:spPr>
        <p:txBody>
          <a:bodyPr wrap="square" lIns="0" tIns="0" rIns="0" bIns="0" rtlCol="0" anchor="t">
            <a:normAutofit/>
          </a:bodyPr>
          <a:lstStyle/>
          <a:p>
            <a:pPr algn="l" indent="0" marL="0">
              <a:lnSpc>
                <a:spcPts val="1171"/>
              </a:lnSpc>
              <a:buNone/>
            </a:pPr>
            <a:r>
              <a:rPr lang="en-US" sz="836" dirty="0">
                <a:solidFill>
                  <a:srgbClr val="4A4A50"/>
                </a:solidFill>
                <a:latin typeface="Golos Text" pitchFamily="34" charset="0"/>
                <a:ea typeface="Golos Text" pitchFamily="34" charset="-122"/>
                <a:cs typeface="Golos Text" pitchFamily="34" charset="-120"/>
              </a:rPr>
              <a:t>aiogram</a:t>
            </a:r>
            <a:endParaRPr lang="en-US" sz="836" dirty="0"/>
          </a:p>
        </p:txBody>
      </p:sp>
      <p:sp>
        <p:nvSpPr>
          <p:cNvPr id="17" name="Shape 8"/>
          <p:cNvSpPr/>
          <p:nvPr/>
        </p:nvSpPr>
        <p:spPr>
          <a:xfrm>
            <a:off x="3232150" y="2292350"/>
            <a:ext cx="2146300" cy="876300"/>
          </a:xfrm>
          <a:prstGeom prst="rect">
            <a:avLst/>
          </a:prstGeom>
          <a:solidFill>
            <a:srgbClr val="0F0F12"/>
          </a:solidFill>
          <a:ln w="12700">
            <a:solidFill>
              <a:srgbClr val="0F0F12"/>
            </a:solidFill>
            <a:prstDash val="solid"/>
          </a:ln>
        </p:spPr>
      </p:sp>
      <p:sp>
        <p:nvSpPr>
          <p:cNvPr id="18" name="Text 9"/>
          <p:cNvSpPr/>
          <p:nvPr/>
        </p:nvSpPr>
        <p:spPr>
          <a:xfrm>
            <a:off x="3390900" y="2451100"/>
            <a:ext cx="188366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AFAF7"/>
                </a:solidFill>
                <a:latin typeface="Inter Tight" pitchFamily="34" charset="0"/>
                <a:ea typeface="Inter Tight" pitchFamily="34" charset="-122"/>
                <a:cs typeface="Inter Tight" pitchFamily="34" charset="-120"/>
              </a:rPr>
              <a:t>API</a:t>
            </a:r>
            <a:endParaRPr lang="en-US" sz="1600" dirty="0"/>
          </a:p>
        </p:txBody>
      </p:sp>
      <p:sp>
        <p:nvSpPr>
          <p:cNvPr id="19" name="Text 10"/>
          <p:cNvSpPr/>
          <p:nvPr/>
        </p:nvSpPr>
        <p:spPr>
          <a:xfrm>
            <a:off x="3390900" y="2760960"/>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A"/>
                </a:solidFill>
                <a:latin typeface="Golos Text" pitchFamily="34" charset="0"/>
                <a:ea typeface="Golos Text" pitchFamily="34" charset="-122"/>
                <a:cs typeface="Golos Text" pitchFamily="34" charset="-120"/>
              </a:rPr>
              <a:t>FastAPI · REST и SSE</a:t>
            </a:r>
            <a:endParaRPr lang="en-US" sz="1200" dirty="0"/>
          </a:p>
        </p:txBody>
      </p:sp>
      <p:sp>
        <p:nvSpPr>
          <p:cNvPr id="20" name="Shape 11"/>
          <p:cNvSpPr/>
          <p:nvPr/>
        </p:nvSpPr>
        <p:spPr>
          <a:xfrm>
            <a:off x="3232150" y="3562350"/>
            <a:ext cx="2146300" cy="685800"/>
          </a:xfrm>
          <a:prstGeom prst="rect">
            <a:avLst/>
          </a:prstGeom>
          <a:solidFill>
            <a:srgbClr val="FAFAF7"/>
          </a:solidFill>
          <a:ln w="12700">
            <a:solidFill>
              <a:srgbClr val="0F0F12"/>
            </a:solidFill>
            <a:prstDash val="solid"/>
          </a:ln>
        </p:spPr>
      </p:sp>
      <p:sp>
        <p:nvSpPr>
          <p:cNvPr id="21" name="Text 12"/>
          <p:cNvSpPr/>
          <p:nvPr/>
        </p:nvSpPr>
        <p:spPr>
          <a:xfrm>
            <a:off x="3390900" y="3721100"/>
            <a:ext cx="1883664" cy="221357"/>
          </a:xfrm>
          <a:prstGeom prst="rect">
            <a:avLst/>
          </a:prstGeom>
          <a:noFill/>
          <a:ln/>
        </p:spPr>
        <p:txBody>
          <a:bodyPr wrap="square" lIns="0" tIns="0" rIns="0" bIns="0" rtlCol="0" anchor="t">
            <a:normAutofit/>
          </a:bodyPr>
          <a:lstStyle/>
          <a:p>
            <a:pPr algn="l" indent="0" marL="0">
              <a:lnSpc>
                <a:spcPts val="1568"/>
              </a:lnSpc>
              <a:buNone/>
            </a:pPr>
            <a:r>
              <a:rPr lang="en-US" sz="1120" b="1" dirty="0">
                <a:solidFill>
                  <a:srgbClr val="0F0F12"/>
                </a:solidFill>
                <a:latin typeface="Inter Tight" pitchFamily="34" charset="0"/>
                <a:ea typeface="Inter Tight" pitchFamily="34" charset="-122"/>
                <a:cs typeface="Inter Tight" pitchFamily="34" charset="-120"/>
              </a:rPr>
              <a:t>Redis</a:t>
            </a:r>
            <a:endParaRPr lang="en-US" sz="1120" dirty="0"/>
          </a:p>
        </p:txBody>
      </p:sp>
      <p:sp>
        <p:nvSpPr>
          <p:cNvPr id="22" name="Text 13"/>
          <p:cNvSpPr/>
          <p:nvPr/>
        </p:nvSpPr>
        <p:spPr>
          <a:xfrm>
            <a:off x="3390900" y="3942457"/>
            <a:ext cx="1883664" cy="172343"/>
          </a:xfrm>
          <a:prstGeom prst="rect">
            <a:avLst/>
          </a:prstGeom>
          <a:noFill/>
          <a:ln/>
        </p:spPr>
        <p:txBody>
          <a:bodyPr wrap="square" lIns="0" tIns="0" rIns="0" bIns="0" rtlCol="0" anchor="t">
            <a:normAutofit/>
          </a:bodyPr>
          <a:lstStyle/>
          <a:p>
            <a:pPr algn="l" indent="0" marL="0">
              <a:lnSpc>
                <a:spcPts val="1171"/>
              </a:lnSpc>
              <a:buNone/>
            </a:pPr>
            <a:r>
              <a:rPr lang="en-US" sz="836" dirty="0">
                <a:solidFill>
                  <a:srgbClr val="4A4A50"/>
                </a:solidFill>
                <a:latin typeface="Golos Text" pitchFamily="34" charset="0"/>
                <a:ea typeface="Golos Text" pitchFamily="34" charset="-122"/>
                <a:cs typeface="Golos Text" pitchFamily="34" charset="-120"/>
              </a:rPr>
              <a:t>очередь задач, сессии</a:t>
            </a:r>
            <a:endParaRPr lang="en-US" sz="836" dirty="0"/>
          </a:p>
        </p:txBody>
      </p:sp>
      <p:sp>
        <p:nvSpPr>
          <p:cNvPr id="23" name="Shape 14"/>
          <p:cNvSpPr/>
          <p:nvPr/>
        </p:nvSpPr>
        <p:spPr>
          <a:xfrm>
            <a:off x="3232150" y="4705350"/>
            <a:ext cx="2146300" cy="1003300"/>
          </a:xfrm>
          <a:prstGeom prst="rect">
            <a:avLst/>
          </a:prstGeom>
          <a:solidFill>
            <a:srgbClr val="2B2BFF"/>
          </a:solidFill>
          <a:ln w="12700">
            <a:solidFill>
              <a:srgbClr val="0F0F12"/>
            </a:solidFill>
            <a:prstDash val="solid"/>
          </a:ln>
        </p:spPr>
      </p:sp>
      <p:sp>
        <p:nvSpPr>
          <p:cNvPr id="24" name="Text 15"/>
          <p:cNvSpPr/>
          <p:nvPr/>
        </p:nvSpPr>
        <p:spPr>
          <a:xfrm>
            <a:off x="3390900" y="4864100"/>
            <a:ext cx="1883664" cy="295374"/>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FAFAF7"/>
                </a:solidFill>
                <a:latin typeface="Inter Tight" pitchFamily="34" charset="0"/>
                <a:ea typeface="Inter Tight" pitchFamily="34" charset="-122"/>
                <a:cs typeface="Inter Tight" pitchFamily="34" charset="-120"/>
              </a:rPr>
              <a:t>Воркер</a:t>
            </a:r>
            <a:endParaRPr lang="en-US" sz="1550" dirty="0"/>
          </a:p>
        </p:txBody>
      </p:sp>
      <p:sp>
        <p:nvSpPr>
          <p:cNvPr id="25" name="Text 16"/>
          <p:cNvSpPr/>
          <p:nvPr/>
        </p:nvSpPr>
        <p:spPr>
          <a:xfrm>
            <a:off x="3390900" y="5159474"/>
            <a:ext cx="1883664" cy="415826"/>
          </a:xfrm>
          <a:prstGeom prst="rect">
            <a:avLst/>
          </a:prstGeom>
          <a:noFill/>
          <a:ln/>
        </p:spPr>
        <p:txBody>
          <a:bodyPr wrap="square" lIns="0" tIns="0" rIns="0" bIns="0" rtlCol="0" anchor="t">
            <a:normAutofit/>
          </a:bodyPr>
          <a:lstStyle/>
          <a:p>
            <a:pPr algn="l" indent="0" marL="0">
              <a:lnSpc>
                <a:spcPts val="1534"/>
              </a:lnSpc>
              <a:buNone/>
            </a:pPr>
            <a:r>
              <a:rPr lang="en-US" sz="1136" dirty="0">
                <a:solidFill>
                  <a:srgbClr val="FAFAF7"/>
                </a:solidFill>
                <a:latin typeface="Golos Text" pitchFamily="34" charset="0"/>
                <a:ea typeface="Golos Text" pitchFamily="34" charset="-122"/>
                <a:cs typeface="Golos Text" pitchFamily="34" charset="-120"/>
              </a:rPr>
              <a:t>yt-dlp, ffmpeg, Whisper, BGE-M3, Qwen3</a:t>
            </a:r>
            <a:endParaRPr lang="en-US" sz="1136" dirty="0"/>
          </a:p>
        </p:txBody>
      </p:sp>
      <p:sp>
        <p:nvSpPr>
          <p:cNvPr id="26" name="Shape 17"/>
          <p:cNvSpPr/>
          <p:nvPr/>
        </p:nvSpPr>
        <p:spPr>
          <a:xfrm>
            <a:off x="6534150" y="2292350"/>
            <a:ext cx="2400300" cy="876300"/>
          </a:xfrm>
          <a:prstGeom prst="rect">
            <a:avLst/>
          </a:prstGeom>
          <a:solidFill>
            <a:srgbClr val="FAFAF7"/>
          </a:solidFill>
          <a:ln w="12700">
            <a:solidFill>
              <a:srgbClr val="0F0F12"/>
            </a:solidFill>
            <a:prstDash val="solid"/>
          </a:ln>
        </p:spPr>
      </p:sp>
      <p:sp>
        <p:nvSpPr>
          <p:cNvPr id="27" name="Text 18"/>
          <p:cNvSpPr/>
          <p:nvPr/>
        </p:nvSpPr>
        <p:spPr>
          <a:xfrm>
            <a:off x="6692900" y="2451100"/>
            <a:ext cx="21452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0F12"/>
                </a:solidFill>
                <a:latin typeface="Inter Tight" pitchFamily="34" charset="0"/>
                <a:ea typeface="Inter Tight" pitchFamily="34" charset="-122"/>
                <a:cs typeface="Inter Tight" pitchFamily="34" charset="-120"/>
              </a:rPr>
              <a:t>PostgreSQL</a:t>
            </a:r>
            <a:endParaRPr lang="en-US" sz="1600" dirty="0"/>
          </a:p>
        </p:txBody>
      </p:sp>
      <p:sp>
        <p:nvSpPr>
          <p:cNvPr id="28" name="Text 19"/>
          <p:cNvSpPr/>
          <p:nvPr/>
        </p:nvSpPr>
        <p:spPr>
          <a:xfrm>
            <a:off x="6692900" y="2760960"/>
            <a:ext cx="2145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Golos Text" pitchFamily="34" charset="0"/>
                <a:ea typeface="Golos Text" pitchFamily="34" charset="-122"/>
                <a:cs typeface="Golos Text" pitchFamily="34" charset="-120"/>
              </a:rPr>
              <a:t>pgvector + полнотекст</a:t>
            </a:r>
            <a:endParaRPr lang="en-US" sz="1200" dirty="0"/>
          </a:p>
        </p:txBody>
      </p:sp>
      <p:sp>
        <p:nvSpPr>
          <p:cNvPr id="29" name="Shape 20"/>
          <p:cNvSpPr/>
          <p:nvPr/>
        </p:nvSpPr>
        <p:spPr>
          <a:xfrm>
            <a:off x="6534150" y="4832350"/>
            <a:ext cx="2400300" cy="876300"/>
          </a:xfrm>
          <a:prstGeom prst="rect">
            <a:avLst/>
          </a:prstGeom>
          <a:solidFill>
            <a:srgbClr val="FAFAF7"/>
          </a:solidFill>
          <a:ln w="12700">
            <a:solidFill>
              <a:srgbClr val="0F0F12"/>
            </a:solidFill>
            <a:prstDash val="solid"/>
          </a:ln>
        </p:spPr>
      </p:sp>
      <p:sp>
        <p:nvSpPr>
          <p:cNvPr id="30" name="Text 21"/>
          <p:cNvSpPr/>
          <p:nvPr/>
        </p:nvSpPr>
        <p:spPr>
          <a:xfrm>
            <a:off x="6692900" y="4991100"/>
            <a:ext cx="21452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0F12"/>
                </a:solidFill>
                <a:latin typeface="Inter Tight" pitchFamily="34" charset="0"/>
                <a:ea typeface="Inter Tight" pitchFamily="34" charset="-122"/>
                <a:cs typeface="Inter Tight" pitchFamily="34" charset="-120"/>
              </a:rPr>
              <a:t>MinIO</a:t>
            </a:r>
            <a:endParaRPr lang="en-US" sz="1600" dirty="0"/>
          </a:p>
        </p:txBody>
      </p:sp>
      <p:sp>
        <p:nvSpPr>
          <p:cNvPr id="31" name="Text 22"/>
          <p:cNvSpPr/>
          <p:nvPr/>
        </p:nvSpPr>
        <p:spPr>
          <a:xfrm>
            <a:off x="6692900" y="5300960"/>
            <a:ext cx="2145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Golos Text" pitchFamily="34" charset="0"/>
                <a:ea typeface="Golos Text" pitchFamily="34" charset="-122"/>
                <a:cs typeface="Golos Text" pitchFamily="34" charset="-120"/>
              </a:rPr>
              <a:t>видео, превью, аватары</a:t>
            </a:r>
            <a:endParaRPr lang="en-US" sz="1200" dirty="0"/>
          </a:p>
        </p:txBody>
      </p:sp>
      <p:sp>
        <p:nvSpPr>
          <p:cNvPr id="32" name="Text 23"/>
          <p:cNvSpPr/>
          <p:nvPr/>
        </p:nvSpPr>
        <p:spPr>
          <a:xfrm>
            <a:off x="5511800" y="2413000"/>
            <a:ext cx="1003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JetBrains Mono" pitchFamily="49" charset="0"/>
                <a:ea typeface="JetBrains Mono" pitchFamily="49" charset="-122"/>
                <a:cs typeface="JetBrains Mono" pitchFamily="49" charset="-120"/>
              </a:rPr>
              <a:t>поиск</a:t>
            </a:r>
            <a:endParaRPr lang="en-US" sz="1200" dirty="0"/>
          </a:p>
        </p:txBody>
      </p:sp>
      <p:sp>
        <p:nvSpPr>
          <p:cNvPr id="33" name="Text 24"/>
          <p:cNvSpPr/>
          <p:nvPr/>
        </p:nvSpPr>
        <p:spPr>
          <a:xfrm>
            <a:off x="6527800" y="3556000"/>
            <a:ext cx="248539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4A50"/>
                </a:solidFill>
                <a:latin typeface="JetBrains Mono" pitchFamily="49" charset="0"/>
                <a:ea typeface="JetBrains Mono" pitchFamily="49" charset="-122"/>
                <a:cs typeface="JetBrains Mono" pitchFamily="49" charset="-120"/>
              </a:rPr>
              <a:t>расшифровка, векторы, конспект</a:t>
            </a:r>
            <a:endParaRPr lang="en-US" sz="1200" dirty="0"/>
          </a:p>
        </p:txBody>
      </p:sp>
      <p:sp>
        <p:nvSpPr>
          <p:cNvPr id="34" name="Shape 25"/>
          <p:cNvSpPr/>
          <p:nvPr/>
        </p:nvSpPr>
        <p:spPr>
          <a:xfrm>
            <a:off x="9448800" y="2292350"/>
            <a:ext cx="1930400" cy="0"/>
          </a:xfrm>
          <a:prstGeom prst="line">
            <a:avLst/>
          </a:prstGeom>
          <a:noFill/>
          <a:ln w="12700">
            <a:solidFill>
              <a:srgbClr val="0F0F12"/>
            </a:solidFill>
            <a:prstDash val="solid"/>
          </a:ln>
        </p:spPr>
      </p:sp>
      <p:sp>
        <p:nvSpPr>
          <p:cNvPr id="35" name="Text 26"/>
          <p:cNvSpPr/>
          <p:nvPr/>
        </p:nvSpPr>
        <p:spPr>
          <a:xfrm>
            <a:off x="9448800" y="2387600"/>
            <a:ext cx="198831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F0F12"/>
                </a:solidFill>
                <a:latin typeface="Golos Text" pitchFamily="34" charset="0"/>
                <a:ea typeface="Golos Text" pitchFamily="34" charset="-122"/>
                <a:cs typeface="Golos Text" pitchFamily="34" charset="-120"/>
              </a:rPr>
              <a:t>Загрузка проверяется до очереди — ошибка сразу и понятная</a:t>
            </a:r>
            <a:endParaRPr lang="en-US" sz="1300" dirty="0"/>
          </a:p>
        </p:txBody>
      </p:sp>
      <p:sp>
        <p:nvSpPr>
          <p:cNvPr id="36" name="Shape 27"/>
          <p:cNvSpPr/>
          <p:nvPr/>
        </p:nvSpPr>
        <p:spPr>
          <a:xfrm>
            <a:off x="9448800" y="3189486"/>
            <a:ext cx="1930400" cy="0"/>
          </a:xfrm>
          <a:prstGeom prst="line">
            <a:avLst/>
          </a:prstGeom>
          <a:noFill/>
          <a:ln w="12700">
            <a:solidFill>
              <a:srgbClr val="0F0F12"/>
            </a:solidFill>
            <a:prstDash val="solid"/>
          </a:ln>
        </p:spPr>
      </p:sp>
      <p:sp>
        <p:nvSpPr>
          <p:cNvPr id="37" name="Text 28"/>
          <p:cNvSpPr/>
          <p:nvPr/>
        </p:nvSpPr>
        <p:spPr>
          <a:xfrm>
            <a:off x="9448800" y="3284736"/>
            <a:ext cx="198831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F0F12"/>
                </a:solidFill>
                <a:latin typeface="Golos Text" pitchFamily="34" charset="0"/>
                <a:ea typeface="Golos Text" pitchFamily="34" charset="-122"/>
                <a:cs typeface="Golos Text" pitchFamily="34" charset="-120"/>
              </a:rPr>
              <a:t>Одна лекция за раз: модели делят 6 ГБ</a:t>
            </a:r>
            <a:endParaRPr lang="en-US" sz="1300" dirty="0"/>
          </a:p>
        </p:txBody>
      </p:sp>
      <p:sp>
        <p:nvSpPr>
          <p:cNvPr id="38" name="Shape 29"/>
          <p:cNvSpPr/>
          <p:nvPr/>
        </p:nvSpPr>
        <p:spPr>
          <a:xfrm>
            <a:off x="9448800" y="3863777"/>
            <a:ext cx="1930400" cy="0"/>
          </a:xfrm>
          <a:prstGeom prst="line">
            <a:avLst/>
          </a:prstGeom>
          <a:noFill/>
          <a:ln w="12700">
            <a:solidFill>
              <a:srgbClr val="0F0F12"/>
            </a:solidFill>
            <a:prstDash val="solid"/>
          </a:ln>
        </p:spPr>
      </p:sp>
      <p:sp>
        <p:nvSpPr>
          <p:cNvPr id="39" name="Text 30"/>
          <p:cNvSpPr/>
          <p:nvPr/>
        </p:nvSpPr>
        <p:spPr>
          <a:xfrm>
            <a:off x="9448800" y="3959027"/>
            <a:ext cx="198831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F0F12"/>
                </a:solidFill>
                <a:latin typeface="Golos Text" pitchFamily="34" charset="0"/>
                <a:ea typeface="Golos Text" pitchFamily="34" charset="-122"/>
                <a:cs typeface="Golos Text" pitchFamily="34" charset="-120"/>
              </a:rPr>
              <a:t>Видео отдаёт MinIO по подписанной ссылке</a:t>
            </a:r>
            <a:endParaRPr lang="en-US" sz="1300" dirty="0"/>
          </a:p>
        </p:txBody>
      </p:sp>
      <p:sp>
        <p:nvSpPr>
          <p:cNvPr id="40" name="Shape 31"/>
          <p:cNvSpPr/>
          <p:nvPr/>
        </p:nvSpPr>
        <p:spPr>
          <a:xfrm>
            <a:off x="9448800" y="4538067"/>
            <a:ext cx="1930400" cy="0"/>
          </a:xfrm>
          <a:prstGeom prst="line">
            <a:avLst/>
          </a:prstGeom>
          <a:noFill/>
          <a:ln w="12700">
            <a:solidFill>
              <a:srgbClr val="0F0F12"/>
            </a:solidFill>
            <a:prstDash val="solid"/>
          </a:ln>
        </p:spPr>
      </p:sp>
      <p:sp>
        <p:nvSpPr>
          <p:cNvPr id="41" name="Text 32"/>
          <p:cNvSpPr/>
          <p:nvPr/>
        </p:nvSpPr>
        <p:spPr>
          <a:xfrm>
            <a:off x="9448800" y="4633317"/>
            <a:ext cx="198831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0F0F12"/>
                </a:solidFill>
                <a:latin typeface="Golos Text" pitchFamily="34" charset="0"/>
                <a:ea typeface="Golos Text" pitchFamily="34" charset="-122"/>
                <a:cs typeface="Golos Text" pitchFamily="34" charset="-120"/>
              </a:rPr>
              <a:t>Одно видео обрабатывается один раз — дубли ловятся</a:t>
            </a:r>
            <a:endParaRPr lang="en-US" sz="1300" dirty="0"/>
          </a:p>
        </p:txBody>
      </p:sp>
      <p:sp>
        <p:nvSpPr>
          <p:cNvPr id="42" name="Text 33"/>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43" name="Text 34"/>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ТЕХНИЧЕСКАЯ РЕАЛИЗАЦИЯ · АЛГОРИТМЫ</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Как из звука получается поиск</a:t>
            </a:r>
            <a:endParaRPr lang="en-US" sz="3600" dirty="0"/>
          </a:p>
        </p:txBody>
      </p:sp>
      <p:sp>
        <p:nvSpPr>
          <p:cNvPr id="4" name="Shape 2"/>
          <p:cNvSpPr/>
          <p:nvPr/>
        </p:nvSpPr>
        <p:spPr>
          <a:xfrm>
            <a:off x="812800" y="1918891"/>
            <a:ext cx="7112000" cy="0"/>
          </a:xfrm>
          <a:prstGeom prst="line">
            <a:avLst/>
          </a:prstGeom>
          <a:noFill/>
          <a:ln w="12700">
            <a:solidFill>
              <a:srgbClr val="0F0F12"/>
            </a:solidFill>
            <a:prstDash val="solid"/>
          </a:ln>
        </p:spPr>
      </p:sp>
      <p:sp>
        <p:nvSpPr>
          <p:cNvPr id="5" name="Text 3"/>
          <p:cNvSpPr/>
          <p:nvPr/>
        </p:nvSpPr>
        <p:spPr>
          <a:xfrm>
            <a:off x="812800" y="2026841"/>
            <a:ext cx="3556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295400" y="2026841"/>
            <a:ext cx="682828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0F12"/>
                </a:solidFill>
                <a:latin typeface="Golos Text" pitchFamily="34" charset="0"/>
                <a:ea typeface="Golos Text" pitchFamily="34" charset="-122"/>
                <a:cs typeface="Golos Text" pitchFamily="34" charset="-120"/>
              </a:rPr>
              <a:t>Субтитры из слов.</a:t>
            </a:r>
            <a:r>
              <a:rPr lang="en-US" sz="1400" dirty="0">
                <a:solidFill>
                  <a:srgbClr val="0F0F12"/>
                </a:solidFill>
                <a:latin typeface="Golos Text" pitchFamily="34" charset="0"/>
                <a:ea typeface="Golos Text" pitchFamily="34" charset="-122"/>
                <a:cs typeface="Golos Text" pitchFamily="34" charset="-120"/>
              </a:rPr>
              <a:t> Whisper даёт таймкод каждого слова, мы собираем реплики по 2–7 секунд.</a:t>
            </a:r>
            <a:endParaRPr lang="en-US" sz="1400" dirty="0"/>
          </a:p>
        </p:txBody>
      </p:sp>
      <p:sp>
        <p:nvSpPr>
          <p:cNvPr id="7" name="Shape 5"/>
          <p:cNvSpPr/>
          <p:nvPr/>
        </p:nvSpPr>
        <p:spPr>
          <a:xfrm>
            <a:off x="812800" y="2657872"/>
            <a:ext cx="7112000" cy="0"/>
          </a:xfrm>
          <a:prstGeom prst="line">
            <a:avLst/>
          </a:prstGeom>
          <a:noFill/>
          <a:ln w="12700">
            <a:solidFill>
              <a:srgbClr val="0F0F12"/>
            </a:solidFill>
            <a:prstDash val="solid"/>
          </a:ln>
        </p:spPr>
      </p:sp>
      <p:sp>
        <p:nvSpPr>
          <p:cNvPr id="8" name="Text 6"/>
          <p:cNvSpPr/>
          <p:nvPr/>
        </p:nvSpPr>
        <p:spPr>
          <a:xfrm>
            <a:off x="812800" y="2765822"/>
            <a:ext cx="3556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1295400" y="2765822"/>
            <a:ext cx="682828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0F12"/>
                </a:solidFill>
                <a:latin typeface="Golos Text" pitchFamily="34" charset="0"/>
                <a:ea typeface="Golos Text" pitchFamily="34" charset="-122"/>
                <a:cs typeface="Golos Text" pitchFamily="34" charset="-120"/>
              </a:rPr>
              <a:t>Фрагменты ~40 с</a:t>
            </a:r>
            <a:r>
              <a:rPr lang="en-US" sz="1400" dirty="0">
                <a:solidFill>
                  <a:srgbClr val="0F0F12"/>
                </a:solidFill>
                <a:latin typeface="Golos Text" pitchFamily="34" charset="0"/>
                <a:ea typeface="Golos Text" pitchFamily="34" charset="-122"/>
                <a:cs typeface="Golos Text" pitchFamily="34" charset="-120"/>
              </a:rPr>
              <a:t> с перекрытием — у каждого вектор смысла BGE-M3, 1024 числа.</a:t>
            </a:r>
            <a:endParaRPr lang="en-US" sz="1400" dirty="0"/>
          </a:p>
        </p:txBody>
      </p:sp>
      <p:sp>
        <p:nvSpPr>
          <p:cNvPr id="10" name="Shape 8"/>
          <p:cNvSpPr/>
          <p:nvPr/>
        </p:nvSpPr>
        <p:spPr>
          <a:xfrm>
            <a:off x="812800" y="3396853"/>
            <a:ext cx="7112000" cy="0"/>
          </a:xfrm>
          <a:prstGeom prst="line">
            <a:avLst/>
          </a:prstGeom>
          <a:noFill/>
          <a:ln w="12700">
            <a:solidFill>
              <a:srgbClr val="0F0F12"/>
            </a:solidFill>
            <a:prstDash val="solid"/>
          </a:ln>
        </p:spPr>
      </p:sp>
      <p:sp>
        <p:nvSpPr>
          <p:cNvPr id="11" name="Text 9"/>
          <p:cNvSpPr/>
          <p:nvPr/>
        </p:nvSpPr>
        <p:spPr>
          <a:xfrm>
            <a:off x="812800" y="3504803"/>
            <a:ext cx="3556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03</a:t>
            </a:r>
            <a:endParaRPr lang="en-US" sz="1400" dirty="0"/>
          </a:p>
        </p:txBody>
      </p:sp>
      <p:sp>
        <p:nvSpPr>
          <p:cNvPr id="12" name="Text 10"/>
          <p:cNvSpPr/>
          <p:nvPr/>
        </p:nvSpPr>
        <p:spPr>
          <a:xfrm>
            <a:off x="1295400" y="3504803"/>
            <a:ext cx="682828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0F12"/>
                </a:solidFill>
                <a:latin typeface="Golos Text" pitchFamily="34" charset="0"/>
                <a:ea typeface="Golos Text" pitchFamily="34" charset="-122"/>
                <a:cs typeface="Golos Text" pitchFamily="34" charset="-120"/>
              </a:rPr>
              <a:t>Гибридный поиск:</a:t>
            </a:r>
            <a:r>
              <a:rPr lang="en-US" sz="1400" dirty="0">
                <a:solidFill>
                  <a:srgbClr val="0F0F12"/>
                </a:solidFill>
                <a:latin typeface="Golos Text" pitchFamily="34" charset="0"/>
                <a:ea typeface="Golos Text" pitchFamily="34" charset="-122"/>
                <a:cs typeface="Golos Text" pitchFamily="34" charset="-120"/>
              </a:rPr>
              <a:t> векторы (смысл) + полнотекст (точные термины), слияние Reciprocal Rank Fusion.</a:t>
            </a:r>
            <a:endParaRPr lang="en-US" sz="1400" dirty="0"/>
          </a:p>
        </p:txBody>
      </p:sp>
      <p:sp>
        <p:nvSpPr>
          <p:cNvPr id="13" name="Shape 11"/>
          <p:cNvSpPr/>
          <p:nvPr/>
        </p:nvSpPr>
        <p:spPr>
          <a:xfrm>
            <a:off x="812800" y="4135834"/>
            <a:ext cx="7112000" cy="0"/>
          </a:xfrm>
          <a:prstGeom prst="line">
            <a:avLst/>
          </a:prstGeom>
          <a:noFill/>
          <a:ln w="12700">
            <a:solidFill>
              <a:srgbClr val="0F0F12"/>
            </a:solidFill>
            <a:prstDash val="solid"/>
          </a:ln>
        </p:spPr>
      </p:sp>
      <p:sp>
        <p:nvSpPr>
          <p:cNvPr id="14" name="Text 12"/>
          <p:cNvSpPr/>
          <p:nvPr/>
        </p:nvSpPr>
        <p:spPr>
          <a:xfrm>
            <a:off x="812800" y="4243784"/>
            <a:ext cx="3556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04</a:t>
            </a:r>
            <a:endParaRPr lang="en-US" sz="1400" dirty="0"/>
          </a:p>
        </p:txBody>
      </p:sp>
      <p:sp>
        <p:nvSpPr>
          <p:cNvPr id="15" name="Text 13"/>
          <p:cNvSpPr/>
          <p:nvPr/>
        </p:nvSpPr>
        <p:spPr>
          <a:xfrm>
            <a:off x="1295400" y="4243784"/>
            <a:ext cx="682828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0F12"/>
                </a:solidFill>
                <a:latin typeface="Golos Text" pitchFamily="34" charset="0"/>
                <a:ea typeface="Golos Text" pitchFamily="34" charset="-122"/>
                <a:cs typeface="Golos Text" pitchFamily="34" charset="-120"/>
              </a:rPr>
              <a:t>Конспект по частям:</a:t>
            </a:r>
            <a:r>
              <a:rPr lang="en-US" sz="1400" dirty="0">
                <a:solidFill>
                  <a:srgbClr val="0F0F12"/>
                </a:solidFill>
                <a:latin typeface="Golos Text" pitchFamily="34" charset="0"/>
                <a:ea typeface="Golos Text" pitchFamily="34" charset="-122"/>
                <a:cs typeface="Golos Text" pitchFamily="34" charset="-120"/>
              </a:rPr>
              <a:t> модель читает лекцию кусками, потом сводит в конспект и оглавление.</a:t>
            </a:r>
            <a:endParaRPr lang="en-US" sz="1400" dirty="0"/>
          </a:p>
        </p:txBody>
      </p:sp>
      <p:sp>
        <p:nvSpPr>
          <p:cNvPr id="16" name="Shape 14"/>
          <p:cNvSpPr/>
          <p:nvPr/>
        </p:nvSpPr>
        <p:spPr>
          <a:xfrm>
            <a:off x="8331200" y="1912541"/>
            <a:ext cx="3048000" cy="3667522"/>
          </a:xfrm>
          <a:prstGeom prst="rect">
            <a:avLst/>
          </a:prstGeom>
          <a:solidFill>
            <a:srgbClr val="F1F1EC"/>
          </a:solidFill>
          <a:ln/>
        </p:spPr>
      </p:sp>
      <p:sp>
        <p:nvSpPr>
          <p:cNvPr id="17" name="Text 15"/>
          <p:cNvSpPr/>
          <p:nvPr/>
        </p:nvSpPr>
        <p:spPr>
          <a:xfrm>
            <a:off x="8534400" y="2115741"/>
            <a:ext cx="272084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A4A50"/>
                </a:solidFill>
                <a:latin typeface="JetBrains Mono" pitchFamily="49" charset="0"/>
                <a:ea typeface="JetBrains Mono" pitchFamily="49" charset="-122"/>
                <a:cs typeface="JetBrains Mono" pitchFamily="49" charset="-120"/>
              </a:rPr>
              <a:t>СТЕК</a:t>
            </a:r>
            <a:endParaRPr lang="en-US" sz="1200" dirty="0"/>
          </a:p>
        </p:txBody>
      </p:sp>
      <p:sp>
        <p:nvSpPr>
          <p:cNvPr id="18" name="Text 16"/>
          <p:cNvSpPr/>
          <p:nvPr/>
        </p:nvSpPr>
        <p:spPr>
          <a:xfrm>
            <a:off x="8534400" y="2417961"/>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FastAPI</a:t>
            </a:r>
            <a:r>
              <a:rPr lang="en-US" sz="1300" dirty="0">
                <a:solidFill>
                  <a:srgbClr val="0F0F12"/>
                </a:solidFill>
                <a:latin typeface="Golos Text" pitchFamily="34" charset="0"/>
                <a:ea typeface="Golos Text" pitchFamily="34" charset="-122"/>
                <a:cs typeface="Golos Text" pitchFamily="34" charset="-120"/>
              </a:rPr>
              <a:t>, async SQLAlchemy</a:t>
            </a:r>
            <a:endParaRPr lang="en-US" sz="1300" dirty="0"/>
          </a:p>
        </p:txBody>
      </p:sp>
      <p:sp>
        <p:nvSpPr>
          <p:cNvPr id="19" name="Text 17"/>
          <p:cNvSpPr/>
          <p:nvPr/>
        </p:nvSpPr>
        <p:spPr>
          <a:xfrm>
            <a:off x="8534400" y="2721471"/>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PostgreSQL</a:t>
            </a:r>
            <a:r>
              <a:rPr lang="en-US" sz="1300" dirty="0">
                <a:solidFill>
                  <a:srgbClr val="0F0F12"/>
                </a:solidFill>
                <a:latin typeface="Golos Text" pitchFamily="34" charset="0"/>
                <a:ea typeface="Golos Text" pitchFamily="34" charset="-122"/>
                <a:cs typeface="Golos Text" pitchFamily="34" charset="-120"/>
              </a:rPr>
              <a:t> + pgvector</a:t>
            </a:r>
            <a:endParaRPr lang="en-US" sz="1300" dirty="0"/>
          </a:p>
        </p:txBody>
      </p:sp>
      <p:sp>
        <p:nvSpPr>
          <p:cNvPr id="20" name="Text 18"/>
          <p:cNvSpPr/>
          <p:nvPr/>
        </p:nvSpPr>
        <p:spPr>
          <a:xfrm>
            <a:off x="8534400" y="3024981"/>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Redis</a:t>
            </a:r>
            <a:r>
              <a:rPr lang="en-US" sz="1300" dirty="0">
                <a:solidFill>
                  <a:srgbClr val="0F0F12"/>
                </a:solidFill>
                <a:latin typeface="Golos Text" pitchFamily="34" charset="0"/>
                <a:ea typeface="Golos Text" pitchFamily="34" charset="-122"/>
                <a:cs typeface="Golos Text" pitchFamily="34" charset="-120"/>
              </a:rPr>
              <a:t>, </a:t>
            </a:r>
            <a:r>
              <a:rPr lang="en-US" sz="1300" b="1" dirty="0">
                <a:solidFill>
                  <a:srgbClr val="0F0F12"/>
                </a:solidFill>
                <a:latin typeface="Golos Text" pitchFamily="34" charset="0"/>
                <a:ea typeface="Golos Text" pitchFamily="34" charset="-122"/>
                <a:cs typeface="Golos Text" pitchFamily="34" charset="-120"/>
              </a:rPr>
              <a:t>MinIO</a:t>
            </a:r>
            <a:endParaRPr lang="en-US" sz="1300" dirty="0"/>
          </a:p>
        </p:txBody>
      </p:sp>
      <p:sp>
        <p:nvSpPr>
          <p:cNvPr id="21" name="Text 19"/>
          <p:cNvSpPr/>
          <p:nvPr/>
        </p:nvSpPr>
        <p:spPr>
          <a:xfrm>
            <a:off x="8534400" y="3328491"/>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faster-whisper</a:t>
            </a:r>
            <a:r>
              <a:rPr lang="en-US" sz="1300" dirty="0">
                <a:solidFill>
                  <a:srgbClr val="0F0F12"/>
                </a:solidFill>
                <a:latin typeface="Golos Text" pitchFamily="34" charset="0"/>
                <a:ea typeface="Golos Text" pitchFamily="34" charset="-122"/>
                <a:cs typeface="Golos Text" pitchFamily="34" charset="-120"/>
              </a:rPr>
              <a:t> turbo</a:t>
            </a:r>
            <a:endParaRPr lang="en-US" sz="1300" dirty="0"/>
          </a:p>
        </p:txBody>
      </p:sp>
      <p:sp>
        <p:nvSpPr>
          <p:cNvPr id="22" name="Text 20"/>
          <p:cNvSpPr/>
          <p:nvPr/>
        </p:nvSpPr>
        <p:spPr>
          <a:xfrm>
            <a:off x="8534400" y="3632002"/>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BGE-M3</a:t>
            </a:r>
            <a:r>
              <a:rPr lang="en-US" sz="1300" dirty="0">
                <a:solidFill>
                  <a:srgbClr val="0F0F12"/>
                </a:solidFill>
                <a:latin typeface="Golos Text" pitchFamily="34" charset="0"/>
                <a:ea typeface="Golos Text" pitchFamily="34" charset="-122"/>
                <a:cs typeface="Golos Text" pitchFamily="34" charset="-120"/>
              </a:rPr>
              <a:t> эмбеддинги</a:t>
            </a:r>
            <a:endParaRPr lang="en-US" sz="1300" dirty="0"/>
          </a:p>
        </p:txBody>
      </p:sp>
      <p:sp>
        <p:nvSpPr>
          <p:cNvPr id="23" name="Text 21"/>
          <p:cNvSpPr/>
          <p:nvPr/>
        </p:nvSpPr>
        <p:spPr>
          <a:xfrm>
            <a:off x="8534400" y="3935512"/>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Qwen3 4B</a:t>
            </a:r>
            <a:r>
              <a:rPr lang="en-US" sz="1300" dirty="0">
                <a:solidFill>
                  <a:srgbClr val="0F0F12"/>
                </a:solidFill>
                <a:latin typeface="Golos Text" pitchFamily="34" charset="0"/>
                <a:ea typeface="Golos Text" pitchFamily="34" charset="-122"/>
                <a:cs typeface="Golos Text" pitchFamily="34" charset="-120"/>
              </a:rPr>
              <a:t> в Ollama</a:t>
            </a:r>
            <a:endParaRPr lang="en-US" sz="1300" dirty="0"/>
          </a:p>
        </p:txBody>
      </p:sp>
      <p:sp>
        <p:nvSpPr>
          <p:cNvPr id="24" name="Text 22"/>
          <p:cNvSpPr/>
          <p:nvPr/>
        </p:nvSpPr>
        <p:spPr>
          <a:xfrm>
            <a:off x="8534400" y="4239022"/>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React 19</a:t>
            </a:r>
            <a:r>
              <a:rPr lang="en-US" sz="1300" dirty="0">
                <a:solidFill>
                  <a:srgbClr val="0F0F12"/>
                </a:solidFill>
                <a:latin typeface="Golos Text" pitchFamily="34" charset="0"/>
                <a:ea typeface="Golos Text" pitchFamily="34" charset="-122"/>
                <a:cs typeface="Golos Text" pitchFamily="34" charset="-120"/>
              </a:rPr>
              <a:t>, TypeScript</a:t>
            </a:r>
            <a:endParaRPr lang="en-US" sz="1300" dirty="0"/>
          </a:p>
        </p:txBody>
      </p:sp>
      <p:sp>
        <p:nvSpPr>
          <p:cNvPr id="25" name="Text 23"/>
          <p:cNvSpPr/>
          <p:nvPr/>
        </p:nvSpPr>
        <p:spPr>
          <a:xfrm>
            <a:off x="8534400" y="4542532"/>
            <a:ext cx="2720848"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aiogram</a:t>
            </a:r>
            <a:r>
              <a:rPr lang="en-US" sz="1300" dirty="0">
                <a:solidFill>
                  <a:srgbClr val="0F0F12"/>
                </a:solidFill>
                <a:latin typeface="Golos Text" pitchFamily="34" charset="0"/>
                <a:ea typeface="Golos Text" pitchFamily="34" charset="-122"/>
                <a:cs typeface="Golos Text" pitchFamily="34" charset="-120"/>
              </a:rPr>
              <a:t> — Telegram-бот</a:t>
            </a:r>
            <a:endParaRPr lang="en-US" sz="1300" dirty="0"/>
          </a:p>
        </p:txBody>
      </p:sp>
      <p:sp>
        <p:nvSpPr>
          <p:cNvPr id="26" name="Shape 24"/>
          <p:cNvSpPr/>
          <p:nvPr/>
        </p:nvSpPr>
        <p:spPr>
          <a:xfrm>
            <a:off x="8534400" y="4852392"/>
            <a:ext cx="2641600" cy="0"/>
          </a:xfrm>
          <a:prstGeom prst="line">
            <a:avLst/>
          </a:prstGeom>
          <a:noFill/>
          <a:ln w="12700">
            <a:solidFill>
              <a:srgbClr val="0F0F12"/>
            </a:solidFill>
            <a:prstDash val="solid"/>
          </a:ln>
        </p:spPr>
      </p:sp>
      <p:sp>
        <p:nvSpPr>
          <p:cNvPr id="27" name="Text 25"/>
          <p:cNvSpPr/>
          <p:nvPr/>
        </p:nvSpPr>
        <p:spPr>
          <a:xfrm>
            <a:off x="8534400" y="4947642"/>
            <a:ext cx="2720848"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0F12"/>
                </a:solidFill>
                <a:latin typeface="Golos Text" pitchFamily="34" charset="0"/>
                <a:ea typeface="Golos Text" pitchFamily="34" charset="-122"/>
                <a:cs typeface="Golos Text" pitchFamily="34" charset="-120"/>
              </a:rPr>
              <a:t>55 тестов</a:t>
            </a:r>
            <a:r>
              <a:rPr lang="en-US" sz="1300" dirty="0">
                <a:solidFill>
                  <a:srgbClr val="0F0F12"/>
                </a:solidFill>
                <a:latin typeface="Golos Text" pitchFamily="34" charset="0"/>
                <a:ea typeface="Golos Text" pitchFamily="34" charset="-122"/>
                <a:cs typeface="Golos Text" pitchFamily="34" charset="-120"/>
              </a:rPr>
              <a:t> pytest на живых Postgres, Redis, MinIO</a:t>
            </a:r>
            <a:endParaRPr lang="en-US" sz="1300" dirty="0"/>
          </a:p>
        </p:txBody>
      </p:sp>
      <p:sp>
        <p:nvSpPr>
          <p:cNvPr id="28" name="Text 26"/>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29" name="Text 27"/>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6934"/>
          </a:xfrm>
          <a:prstGeom prst="rect">
            <a:avLst/>
          </a:prstGeom>
          <a:noFill/>
          <a:ln/>
        </p:spPr>
        <p:txBody>
          <a:bodyPr wrap="square" lIns="0" tIns="0" rIns="0" bIns="0" rtlCol="0" anchor="t">
            <a:normAutofit/>
          </a:bodyPr>
          <a:lstStyle/>
          <a:p>
            <a:pPr algn="l" indent="0" marL="0">
              <a:lnSpc>
                <a:spcPts val="1675"/>
              </a:lnSpc>
              <a:buNone/>
            </a:pPr>
            <a:r>
              <a:rPr lang="en-US" sz="1196" spc="200" kern="0" dirty="0">
                <a:solidFill>
                  <a:srgbClr val="2B2BFF"/>
                </a:solidFill>
                <a:latin typeface="JetBrains Mono" pitchFamily="49" charset="0"/>
                <a:ea typeface="JetBrains Mono" pitchFamily="49" charset="-122"/>
                <a:cs typeface="JetBrains Mono" pitchFamily="49" charset="-120"/>
              </a:rPr>
              <a:t>ДЕМОНСТРАЦИЯ MVP</a:t>
            </a:r>
            <a:endParaRPr lang="en-US" sz="1196" dirty="0"/>
          </a:p>
        </p:txBody>
      </p:sp>
      <p:sp>
        <p:nvSpPr>
          <p:cNvPr id="3" name="Text 1"/>
          <p:cNvSpPr/>
          <p:nvPr>
            <p:ph type="title"/>
          </p:nvPr>
        </p:nvSpPr>
        <p:spPr>
          <a:xfrm>
            <a:off x="812800" y="1176734"/>
            <a:ext cx="10883392" cy="501452"/>
          </a:xfrm>
          <a:prstGeom prst="rect">
            <a:avLst/>
          </a:prstGeom>
          <a:noFill/>
          <a:ln/>
        </p:spPr>
        <p:txBody>
          <a:bodyPr wrap="square" lIns="0" tIns="0" rIns="0" bIns="0" rtlCol="0" anchor="t">
            <a:normAutofit/>
          </a:bodyPr>
          <a:lstStyle/>
          <a:p>
            <a:pPr algn="l" indent="0" marL="0">
              <a:lnSpc>
                <a:spcPts val="3768"/>
              </a:lnSpc>
              <a:buNone/>
            </a:pPr>
            <a:r>
              <a:rPr lang="en-US" sz="3589" b="1" i="0" spc="-150" kern="0" dirty="0">
                <a:solidFill>
                  <a:srgbClr val="0F0F12"/>
                </a:solidFill>
                <a:latin typeface="Inter Tight" pitchFamily="34" charset="0"/>
                <a:ea typeface="Inter Tight" pitchFamily="34" charset="-122"/>
                <a:cs typeface="Inter Tight" pitchFamily="34" charset="-120"/>
              </a:rPr>
              <a:t>Пять пунктов ТЗ — вживую</a:t>
            </a:r>
            <a:endParaRPr lang="en-US" sz="3589" dirty="0"/>
          </a:p>
        </p:txBody>
      </p:sp>
      <p:sp>
        <p:nvSpPr>
          <p:cNvPr id="4" name="Shape 2"/>
          <p:cNvSpPr/>
          <p:nvPr/>
        </p:nvSpPr>
        <p:spPr>
          <a:xfrm>
            <a:off x="812800" y="1913136"/>
            <a:ext cx="3302000" cy="0"/>
          </a:xfrm>
          <a:prstGeom prst="line">
            <a:avLst/>
          </a:prstGeom>
          <a:noFill/>
          <a:ln w="12700">
            <a:solidFill>
              <a:srgbClr val="0F0F12"/>
            </a:solidFill>
            <a:prstDash val="solid"/>
          </a:ln>
        </p:spPr>
      </p:sp>
      <p:sp>
        <p:nvSpPr>
          <p:cNvPr id="5" name="Text 3"/>
          <p:cNvSpPr/>
          <p:nvPr/>
        </p:nvSpPr>
        <p:spPr>
          <a:xfrm>
            <a:off x="812800" y="2008386"/>
            <a:ext cx="15755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1046559" y="2008386"/>
            <a:ext cx="3068241" cy="2742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0F12"/>
                </a:solidFill>
                <a:latin typeface="Golos Text" pitchFamily="34" charset="0"/>
                <a:ea typeface="Golos Text" pitchFamily="34" charset="-122"/>
                <a:cs typeface="Golos Text" pitchFamily="34" charset="-120"/>
              </a:rPr>
              <a:t>Загрузка файлом или по ссылке</a:t>
            </a:r>
            <a:endParaRPr lang="en-US" sz="1400" dirty="0"/>
          </a:p>
        </p:txBody>
      </p:sp>
      <p:sp>
        <p:nvSpPr>
          <p:cNvPr id="7" name="Shape 5"/>
          <p:cNvSpPr/>
          <p:nvPr/>
        </p:nvSpPr>
        <p:spPr>
          <a:xfrm>
            <a:off x="812800" y="2352477"/>
            <a:ext cx="3302000" cy="0"/>
          </a:xfrm>
          <a:prstGeom prst="line">
            <a:avLst/>
          </a:prstGeom>
          <a:noFill/>
          <a:ln w="12700">
            <a:solidFill>
              <a:srgbClr val="0F0F12"/>
            </a:solidFill>
            <a:prstDash val="solid"/>
          </a:ln>
        </p:spPr>
      </p:sp>
      <p:sp>
        <p:nvSpPr>
          <p:cNvPr id="8" name="Text 6"/>
          <p:cNvSpPr/>
          <p:nvPr/>
        </p:nvSpPr>
        <p:spPr>
          <a:xfrm>
            <a:off x="812800" y="2447727"/>
            <a:ext cx="150515" cy="4875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2</a:t>
            </a:r>
            <a:endParaRPr lang="en-US" sz="1400" dirty="0"/>
          </a:p>
        </p:txBody>
      </p:sp>
      <p:sp>
        <p:nvSpPr>
          <p:cNvPr id="9" name="Text 7"/>
          <p:cNvSpPr/>
          <p:nvPr/>
        </p:nvSpPr>
        <p:spPr>
          <a:xfrm>
            <a:off x="1039515" y="2447727"/>
            <a:ext cx="316754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0F12"/>
                </a:solidFill>
                <a:latin typeface="Golos Text" pitchFamily="34" charset="0"/>
                <a:ea typeface="Golos Text" pitchFamily="34" charset="-122"/>
                <a:cs typeface="Golos Text" pitchFamily="34" charset="-120"/>
              </a:rPr>
              <a:t>Расшифровка и индекс с таймкодами</a:t>
            </a:r>
            <a:endParaRPr lang="en-US" sz="1400" dirty="0"/>
          </a:p>
        </p:txBody>
      </p:sp>
      <p:sp>
        <p:nvSpPr>
          <p:cNvPr id="10" name="Shape 8"/>
          <p:cNvSpPr/>
          <p:nvPr/>
        </p:nvSpPr>
        <p:spPr>
          <a:xfrm>
            <a:off x="812800" y="3005138"/>
            <a:ext cx="3302000" cy="0"/>
          </a:xfrm>
          <a:prstGeom prst="line">
            <a:avLst/>
          </a:prstGeom>
          <a:noFill/>
          <a:ln w="12700">
            <a:solidFill>
              <a:srgbClr val="0F0F12"/>
            </a:solidFill>
            <a:prstDash val="solid"/>
          </a:ln>
        </p:spPr>
      </p:sp>
      <p:sp>
        <p:nvSpPr>
          <p:cNvPr id="11" name="Text 9"/>
          <p:cNvSpPr/>
          <p:nvPr/>
        </p:nvSpPr>
        <p:spPr>
          <a:xfrm>
            <a:off x="812800" y="3100388"/>
            <a:ext cx="147141" cy="4875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3</a:t>
            </a:r>
            <a:endParaRPr lang="en-US" sz="1400" dirty="0"/>
          </a:p>
        </p:txBody>
      </p:sp>
      <p:sp>
        <p:nvSpPr>
          <p:cNvPr id="12" name="Text 10"/>
          <p:cNvSpPr/>
          <p:nvPr/>
        </p:nvSpPr>
        <p:spPr>
          <a:xfrm>
            <a:off x="1036141" y="3100388"/>
            <a:ext cx="3171018"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0F12"/>
                </a:solidFill>
                <a:latin typeface="Golos Text" pitchFamily="34" charset="0"/>
                <a:ea typeface="Golos Text" pitchFamily="34" charset="-122"/>
                <a:cs typeface="Golos Text" pitchFamily="34" charset="-120"/>
              </a:rPr>
              <a:t>Поиск по смыслу → переход к секунде</a:t>
            </a:r>
            <a:endParaRPr lang="en-US" sz="1400" dirty="0"/>
          </a:p>
        </p:txBody>
      </p:sp>
      <p:sp>
        <p:nvSpPr>
          <p:cNvPr id="13" name="Shape 11"/>
          <p:cNvSpPr/>
          <p:nvPr/>
        </p:nvSpPr>
        <p:spPr>
          <a:xfrm>
            <a:off x="812800" y="3657798"/>
            <a:ext cx="3302000" cy="0"/>
          </a:xfrm>
          <a:prstGeom prst="line">
            <a:avLst/>
          </a:prstGeom>
          <a:noFill/>
          <a:ln w="12700">
            <a:solidFill>
              <a:srgbClr val="0F0F12"/>
            </a:solidFill>
            <a:prstDash val="solid"/>
          </a:ln>
        </p:spPr>
      </p:sp>
      <p:sp>
        <p:nvSpPr>
          <p:cNvPr id="14" name="Text 12"/>
          <p:cNvSpPr/>
          <p:nvPr/>
        </p:nvSpPr>
        <p:spPr>
          <a:xfrm>
            <a:off x="812800" y="3753048"/>
            <a:ext cx="15755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4</a:t>
            </a:r>
            <a:endParaRPr lang="en-US" sz="1400" dirty="0"/>
          </a:p>
        </p:txBody>
      </p:sp>
      <p:sp>
        <p:nvSpPr>
          <p:cNvPr id="15" name="Text 13"/>
          <p:cNvSpPr/>
          <p:nvPr/>
        </p:nvSpPr>
        <p:spPr>
          <a:xfrm>
            <a:off x="1046559" y="3753048"/>
            <a:ext cx="3068241" cy="2742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0F12"/>
                </a:solidFill>
                <a:latin typeface="Golos Text" pitchFamily="34" charset="0"/>
                <a:ea typeface="Golos Text" pitchFamily="34" charset="-122"/>
                <a:cs typeface="Golos Text" pitchFamily="34" charset="-120"/>
              </a:rPr>
              <a:t>Плеер: субтитры, клик по тексту</a:t>
            </a:r>
            <a:endParaRPr lang="en-US" sz="1400" dirty="0"/>
          </a:p>
        </p:txBody>
      </p:sp>
      <p:sp>
        <p:nvSpPr>
          <p:cNvPr id="16" name="Shape 14"/>
          <p:cNvSpPr/>
          <p:nvPr/>
        </p:nvSpPr>
        <p:spPr>
          <a:xfrm>
            <a:off x="812800" y="4097139"/>
            <a:ext cx="3302000" cy="0"/>
          </a:xfrm>
          <a:prstGeom prst="line">
            <a:avLst/>
          </a:prstGeom>
          <a:noFill/>
          <a:ln w="12700">
            <a:solidFill>
              <a:srgbClr val="0F0F12"/>
            </a:solidFill>
            <a:prstDash val="solid"/>
          </a:ln>
        </p:spPr>
      </p:sp>
      <p:sp>
        <p:nvSpPr>
          <p:cNvPr id="17" name="Text 15"/>
          <p:cNvSpPr/>
          <p:nvPr/>
        </p:nvSpPr>
        <p:spPr>
          <a:xfrm>
            <a:off x="812800" y="4192389"/>
            <a:ext cx="15755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5</a:t>
            </a:r>
            <a:endParaRPr lang="en-US" sz="1400" dirty="0"/>
          </a:p>
        </p:txBody>
      </p:sp>
      <p:sp>
        <p:nvSpPr>
          <p:cNvPr id="18" name="Text 16"/>
          <p:cNvSpPr/>
          <p:nvPr/>
        </p:nvSpPr>
        <p:spPr>
          <a:xfrm>
            <a:off x="1046559" y="4192389"/>
            <a:ext cx="2451616" cy="2742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0F12"/>
                </a:solidFill>
                <a:latin typeface="Golos Text" pitchFamily="34" charset="0"/>
                <a:ea typeface="Golos Text" pitchFamily="34" charset="-122"/>
                <a:cs typeface="Golos Text" pitchFamily="34" charset="-120"/>
              </a:rPr>
              <a:t>Конспект и оглавление</a:t>
            </a:r>
            <a:endParaRPr lang="en-US" sz="1400" dirty="0"/>
          </a:p>
        </p:txBody>
      </p:sp>
      <p:sp>
        <p:nvSpPr>
          <p:cNvPr id="19" name="Shape 17"/>
          <p:cNvSpPr/>
          <p:nvPr/>
        </p:nvSpPr>
        <p:spPr>
          <a:xfrm>
            <a:off x="812800" y="4536480"/>
            <a:ext cx="3302000" cy="0"/>
          </a:xfrm>
          <a:prstGeom prst="line">
            <a:avLst/>
          </a:prstGeom>
          <a:noFill/>
          <a:ln w="12700">
            <a:solidFill>
              <a:srgbClr val="0F0F12"/>
            </a:solidFill>
            <a:prstDash val="solid"/>
          </a:ln>
        </p:spPr>
      </p:sp>
      <p:sp>
        <p:nvSpPr>
          <p:cNvPr id="20" name="Shape 18"/>
          <p:cNvSpPr/>
          <p:nvPr/>
        </p:nvSpPr>
        <p:spPr>
          <a:xfrm>
            <a:off x="812800" y="4975820"/>
            <a:ext cx="3302000" cy="0"/>
          </a:xfrm>
          <a:prstGeom prst="line">
            <a:avLst/>
          </a:prstGeom>
          <a:noFill/>
          <a:ln w="12700">
            <a:solidFill>
              <a:srgbClr val="0F0F12"/>
            </a:solidFill>
            <a:prstDash val="solid"/>
          </a:ln>
        </p:spPr>
      </p:sp>
      <p:sp>
        <p:nvSpPr>
          <p:cNvPr id="21" name="Text 19"/>
          <p:cNvSpPr/>
          <p:nvPr/>
        </p:nvSpPr>
        <p:spPr>
          <a:xfrm>
            <a:off x="812800" y="4631730"/>
            <a:ext cx="15755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BFF"/>
                </a:solidFill>
                <a:latin typeface="JetBrains Mono" pitchFamily="49" charset="0"/>
                <a:ea typeface="JetBrains Mono" pitchFamily="49" charset="-122"/>
                <a:cs typeface="JetBrains Mono" pitchFamily="49" charset="-120"/>
              </a:rPr>
              <a:t>+</a:t>
            </a:r>
            <a:endParaRPr lang="en-US" sz="1400" dirty="0"/>
          </a:p>
        </p:txBody>
      </p:sp>
      <p:sp>
        <p:nvSpPr>
          <p:cNvPr id="22" name="Text 20"/>
          <p:cNvSpPr/>
          <p:nvPr/>
        </p:nvSpPr>
        <p:spPr>
          <a:xfrm>
            <a:off x="1046559" y="4631730"/>
            <a:ext cx="2554010" cy="2742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0F12"/>
                </a:solidFill>
                <a:latin typeface="Golos Text" pitchFamily="34" charset="0"/>
                <a:ea typeface="Golos Text" pitchFamily="34" charset="-122"/>
                <a:cs typeface="Golos Text" pitchFamily="34" charset="-120"/>
              </a:rPr>
              <a:t>Чат, тест и Telegram-бот</a:t>
            </a:r>
            <a:endParaRPr lang="en-US" sz="1400" dirty="0"/>
          </a:p>
        </p:txBody>
      </p:sp>
      <p:pic>
        <p:nvPicPr>
          <p:cNvPr id="23" name="Image 0" descr="Поиск по смыслу: русский запрос находит английскую лекцию">    </p:cNvPr>
          <p:cNvPicPr>
            <a:picLocks noChangeAspect="1"/>
          </p:cNvPicPr>
          <p:nvPr/>
        </p:nvPicPr>
        <p:blipFill>
          <a:blip r:embed="rId1"/>
          <a:srcRect l="0" r="0" t="0" b="1159"/>
          <a:stretch/>
        </p:blipFill>
        <p:spPr>
          <a:xfrm>
            <a:off x="4432300" y="1919486"/>
            <a:ext cx="3378200" cy="1879600"/>
          </a:xfrm>
          <a:prstGeom prst="rect">
            <a:avLst/>
          </a:prstGeom>
        </p:spPr>
      </p:pic>
      <p:sp>
        <p:nvSpPr>
          <p:cNvPr id="24" name="Shape 21"/>
          <p:cNvSpPr/>
          <p:nvPr/>
        </p:nvSpPr>
        <p:spPr>
          <a:xfrm>
            <a:off x="4425950" y="1913136"/>
            <a:ext cx="3390900" cy="1892300"/>
          </a:xfrm>
          <a:prstGeom prst="rect">
            <a:avLst/>
          </a:prstGeom>
          <a:noFill/>
          <a:ln w="12700">
            <a:solidFill>
              <a:srgbClr val="0F0F12"/>
            </a:solidFill>
            <a:prstDash val="solid"/>
          </a:ln>
        </p:spPr>
      </p:sp>
      <p:pic>
        <p:nvPicPr>
          <p:cNvPr id="25" name="Image 1" descr="Страница лекции с плеером, субтитрами и бегущей расшифровкой">    </p:cNvPr>
          <p:cNvPicPr>
            <a:picLocks noChangeAspect="1"/>
          </p:cNvPicPr>
          <p:nvPr/>
        </p:nvPicPr>
        <p:blipFill>
          <a:blip r:embed="rId2"/>
          <a:srcRect l="0" r="14628" t="0" b="0"/>
          <a:stretch/>
        </p:blipFill>
        <p:spPr>
          <a:xfrm>
            <a:off x="7988300" y="1919486"/>
            <a:ext cx="3378200" cy="1879600"/>
          </a:xfrm>
          <a:prstGeom prst="rect">
            <a:avLst/>
          </a:prstGeom>
        </p:spPr>
      </p:pic>
      <p:sp>
        <p:nvSpPr>
          <p:cNvPr id="26" name="Shape 22"/>
          <p:cNvSpPr/>
          <p:nvPr/>
        </p:nvSpPr>
        <p:spPr>
          <a:xfrm>
            <a:off x="7981950" y="1913136"/>
            <a:ext cx="3390900" cy="1892300"/>
          </a:xfrm>
          <a:prstGeom prst="rect">
            <a:avLst/>
          </a:prstGeom>
          <a:noFill/>
          <a:ln w="12700">
            <a:solidFill>
              <a:srgbClr val="0F0F12"/>
            </a:solidFill>
            <a:prstDash val="solid"/>
          </a:ln>
        </p:spPr>
      </p:sp>
      <p:pic>
        <p:nvPicPr>
          <p:cNvPr id="27" name="Image 2" descr="Оглавление лекции с таймкодами разделов">    </p:cNvPr>
          <p:cNvPicPr>
            <a:picLocks noChangeAspect="1"/>
          </p:cNvPicPr>
          <p:nvPr/>
        </p:nvPicPr>
        <p:blipFill>
          <a:blip r:embed="rId3"/>
          <a:srcRect l="0" r="0" t="0" b="28924"/>
          <a:stretch/>
        </p:blipFill>
        <p:spPr>
          <a:xfrm>
            <a:off x="4432300" y="3976886"/>
            <a:ext cx="3378200" cy="1879600"/>
          </a:xfrm>
          <a:prstGeom prst="rect">
            <a:avLst/>
          </a:prstGeom>
        </p:spPr>
      </p:pic>
      <p:sp>
        <p:nvSpPr>
          <p:cNvPr id="28" name="Shape 23"/>
          <p:cNvSpPr/>
          <p:nvPr/>
        </p:nvSpPr>
        <p:spPr>
          <a:xfrm>
            <a:off x="4425950" y="3970536"/>
            <a:ext cx="3390900" cy="1892300"/>
          </a:xfrm>
          <a:prstGeom prst="rect">
            <a:avLst/>
          </a:prstGeom>
          <a:noFill/>
          <a:ln w="12700">
            <a:solidFill>
              <a:srgbClr val="0F0F12"/>
            </a:solidFill>
            <a:prstDash val="solid"/>
          </a:ln>
        </p:spPr>
      </p:sp>
      <p:pic>
        <p:nvPicPr>
          <p:cNvPr id="29" name="Image 3" descr="Чат по лекции: ответ со ссылкой на источник">    </p:cNvPr>
          <p:cNvPicPr>
            <a:picLocks noChangeAspect="1"/>
          </p:cNvPicPr>
          <p:nvPr/>
        </p:nvPicPr>
        <p:blipFill>
          <a:blip r:embed="rId4"/>
          <a:srcRect l="0" r="0" t="10413" b="59008"/>
          <a:stretch/>
        </p:blipFill>
        <p:spPr>
          <a:xfrm>
            <a:off x="7988300" y="3976886"/>
            <a:ext cx="3378200" cy="1879600"/>
          </a:xfrm>
          <a:prstGeom prst="rect">
            <a:avLst/>
          </a:prstGeom>
        </p:spPr>
      </p:pic>
      <p:sp>
        <p:nvSpPr>
          <p:cNvPr id="30" name="Shape 24"/>
          <p:cNvSpPr/>
          <p:nvPr/>
        </p:nvSpPr>
        <p:spPr>
          <a:xfrm>
            <a:off x="7981950" y="3970536"/>
            <a:ext cx="3390900" cy="1892300"/>
          </a:xfrm>
          <a:prstGeom prst="rect">
            <a:avLst/>
          </a:prstGeom>
          <a:noFill/>
          <a:ln w="12700">
            <a:solidFill>
              <a:srgbClr val="0F0F12"/>
            </a:solidFill>
            <a:prstDash val="solid"/>
          </a:ln>
        </p:spPr>
      </p:sp>
      <p:sp>
        <p:nvSpPr>
          <p:cNvPr id="31" name="Text 25"/>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32" name="Text 26"/>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СООТВЕТСТВИЕ ТЗ</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Все пять обязательных пунктов — сделаны</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5241"/>
          <a:ext cx="6972300" cy="3062089"/>
        </p:xfrm>
        <a:graphic>
          <a:graphicData uri="http://schemas.openxmlformats.org/drawingml/2006/table">
            <a:tbl>
              <a:tblPr/>
              <a:tblGrid>
                <a:gridCol w="3067812"/>
                <a:gridCol w="3904488"/>
              </a:tblGrid>
              <a:tr h="332581">
                <a:tc>
                  <a:txBody>
                    <a:bodyPr/>
                    <a:lstStyle/>
                    <a:p>
                      <a:pPr indent="0" marL="0">
                        <a:lnSpc>
                          <a:spcPts val="1680"/>
                        </a:lnSpc>
                        <a:buNone/>
                      </a:pPr>
                      <a:r>
                        <a:rPr lang="en-US" sz="1200" b="1" dirty="0">
                          <a:solidFill>
                            <a:srgbClr val="FAFAF7"/>
                          </a:solidFill>
                          <a:latin typeface="Golos Text" pitchFamily="34" charset="0"/>
                          <a:ea typeface="Golos Text" pitchFamily="34" charset="-122"/>
                          <a:cs typeface="Golos Text" pitchFamily="34" charset="-120"/>
                        </a:rPr>
                        <a:t>Требование</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101012"/>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101012"/>
                      </a:solidFill>
                      <a:prstDash val="solid"/>
                      <a:round/>
                      <a:headEnd type="none" w="med" len="med"/>
                      <a:tailEnd type="none" w="med" len="med"/>
                    </a:lnB>
                    <a:solidFill>
                      <a:srgbClr val="0F0F12"/>
                    </a:solidFill>
                  </a:tcPr>
                </a:tc>
                <a:tc>
                  <a:txBody>
                    <a:bodyPr/>
                    <a:lstStyle/>
                    <a:p>
                      <a:pPr indent="0" marL="0">
                        <a:lnSpc>
                          <a:spcPts val="1680"/>
                        </a:lnSpc>
                        <a:buNone/>
                      </a:pPr>
                      <a:r>
                        <a:rPr lang="en-US" sz="1200" b="1" dirty="0">
                          <a:solidFill>
                            <a:srgbClr val="FAFAF7"/>
                          </a:solidFill>
                          <a:latin typeface="Golos Text" pitchFamily="34" charset="0"/>
                          <a:ea typeface="Golos Text" pitchFamily="34" charset="-122"/>
                          <a:cs typeface="Golos Text" pitchFamily="34" charset="-120"/>
                        </a:rPr>
                        <a:t>Как сделано</a:t>
                      </a:r>
                      <a:endParaRPr lang="en-US" sz="1200" dirty="0">
                        <a:latin typeface="Golos Text" charset="0"/>
                        <a:ea typeface="Golos Text" charset="0"/>
                        <a:cs typeface="Golos Text" charset="0"/>
                      </a:endParaRPr>
                    </a:p>
                  </a:txBody>
                  <a:tcPr marL="53340" marR="53340" marT="53340" marB="53340" anchor="t">
                    <a:lnL w="12700" cap="flat" cmpd="sng" algn="ctr">
                      <a:solidFill>
                        <a:srgbClr val="101012"/>
                      </a:solidFill>
                      <a:prstDash val="solid"/>
                      <a:round/>
                      <a:headEnd type="none" w="med" len="med"/>
                      <a:tailEnd type="none" w="med" len="med"/>
                    </a:lnL>
                    <a:lnR w="12700" cap="flat" cmpd="sng" algn="ctr">
                      <a:solidFill>
                        <a:srgbClr val="101012"/>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101012"/>
                      </a:solidFill>
                      <a:prstDash val="solid"/>
                      <a:round/>
                      <a:headEnd type="none" w="med" len="med"/>
                      <a:tailEnd type="none" w="med" len="med"/>
                    </a:lnB>
                    <a:solidFill>
                      <a:srgbClr val="0F0F12"/>
                    </a:solidFill>
                  </a:tcPr>
                </a:tc>
              </a:tr>
              <a:tr h="545902">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Загрузка MP4, WebM и ссылок YouTube, Vimeo; id; извлечение аудио</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101012"/>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Файлы и ссылки через yt-dlp, проверка до очереди, ffmpeg</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101012"/>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45902">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Расшифровка и семантический индекс, таймкоды до секунды</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1F1EC"/>
                    </a:solidFill>
                  </a:tcPr>
                </a:tc>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Whisper с таймкодом каждого слова, BGE-M3 + pgvector</a:t>
                      </a:r>
                      <a:endParaRPr lang="en-US" sz="1200" dirty="0">
                        <a:latin typeface="Golos Text" charset="0"/>
                        <a:ea typeface="Golos Text" charset="0"/>
                        <a:cs typeface="Golos Text" charset="0"/>
                      </a:endParaRPr>
                    </a:p>
                  </a:txBody>
                  <a:tcPr marL="53340" marR="53340" marT="53340" marB="5334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1F1EC"/>
                    </a:solidFill>
                  </a:tcPr>
                </a:tc>
              </a:tr>
              <a:tr h="545902">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Поиск по смыслу: фрагмент, таймкод, ссылка на момент</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Гибрид векторного и полнотекстового поиска, переход к секунде</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r h="545902">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Плеер: таймкоды, синхронные субтитры, клик по тексту</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1F1EC"/>
                    </a:solidFill>
                  </a:tcPr>
                </a:tc>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Свой плеер, субтитры WebVTT, бегущая расшифровка</a:t>
                      </a:r>
                      <a:endParaRPr lang="en-US" sz="1200" dirty="0">
                        <a:latin typeface="Golos Text" charset="0"/>
                        <a:ea typeface="Golos Text" charset="0"/>
                        <a:cs typeface="Golos Text" charset="0"/>
                      </a:endParaRPr>
                    </a:p>
                  </a:txBody>
                  <a:tcPr marL="53340" marR="53340" marT="53340" marB="5334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7C7C5"/>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1F1EC"/>
                    </a:solidFill>
                  </a:tcPr>
                </a:tc>
              </a:tr>
              <a:tr h="545902">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Конспект, разделы и подразделы, оглавление</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c>
                  <a:txBody>
                    <a:bodyPr/>
                    <a:lstStyle/>
                    <a:p>
                      <a:pPr indent="0" marL="0">
                        <a:lnSpc>
                          <a:spcPts val="1680"/>
                        </a:lnSpc>
                        <a:buNone/>
                      </a:pPr>
                      <a:r>
                        <a:rPr lang="en-US" sz="1200" dirty="0">
                          <a:solidFill>
                            <a:srgbClr val="0F0F12"/>
                          </a:solidFill>
                          <a:latin typeface="Golos Text" pitchFamily="34" charset="0"/>
                          <a:ea typeface="Golos Text" pitchFamily="34" charset="-122"/>
                          <a:cs typeface="Golos Text" pitchFamily="34" charset="-120"/>
                        </a:rPr>
                        <a:t>LLM по частям лекции, оглавление с таймкодами</a:t>
                      </a:r>
                      <a:endParaRPr lang="en-US" sz="1200" dirty="0">
                        <a:latin typeface="Golos Text" charset="0"/>
                        <a:ea typeface="Golos Text" charset="0"/>
                        <a:cs typeface="Golos Text" charset="0"/>
                      </a:endParaRPr>
                    </a:p>
                  </a:txBody>
                  <a:tcPr marL="53340" marR="53340" marT="53340" marB="53340" anchor="t">
                    <a:lnL w="12700" cap="flat" cmpd="sng" algn="ctr">
                      <a:solidFill>
                        <a:srgbClr val="C7C7C5"/>
                      </a:solidFill>
                      <a:prstDash val="solid"/>
                      <a:round/>
                      <a:headEnd type="none" w="med" len="med"/>
                      <a:tailEnd type="none" w="med" len="med"/>
                    </a:lnL>
                    <a:lnR w="12700" cap="flat" cmpd="sng" algn="ctr">
                      <a:solidFill>
                        <a:srgbClr val="C7C7C5"/>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7C7C5"/>
                      </a:solidFill>
                      <a:prstDash val="solid"/>
                      <a:round/>
                      <a:headEnd type="none" w="med" len="med"/>
                      <a:tailEnd type="none" w="med" len="med"/>
                    </a:lnB>
                  </a:tcPr>
                </a:tc>
              </a:tr>
            </a:tbl>
          </a:graphicData>
        </a:graphic>
      </p:graphicFrame>
      <p:sp>
        <p:nvSpPr>
          <p:cNvPr id="5" name="Text 2"/>
          <p:cNvSpPr/>
          <p:nvPr/>
        </p:nvSpPr>
        <p:spPr>
          <a:xfrm>
            <a:off x="8204200" y="1912541"/>
            <a:ext cx="3270250"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Доп. фишки из ТЗ</a:t>
            </a:r>
            <a:endParaRPr lang="en-US" sz="1800" dirty="0"/>
          </a:p>
        </p:txBody>
      </p:sp>
      <p:sp>
        <p:nvSpPr>
          <p:cNvPr id="6" name="Shape 3"/>
          <p:cNvSpPr/>
          <p:nvPr/>
        </p:nvSpPr>
        <p:spPr>
          <a:xfrm>
            <a:off x="8204200" y="2283321"/>
            <a:ext cx="3175000" cy="0"/>
          </a:xfrm>
          <a:prstGeom prst="line">
            <a:avLst/>
          </a:prstGeom>
          <a:noFill/>
          <a:ln w="12700">
            <a:solidFill>
              <a:srgbClr val="0F0F12"/>
            </a:solidFill>
            <a:prstDash val="solid"/>
          </a:ln>
        </p:spPr>
      </p:sp>
      <p:pic>
        <p:nvPicPr>
          <p:cNvPr id="7" name="Image 0" descr="Check">    </p:cNvPr>
          <p:cNvPicPr>
            <a:picLocks noChangeAspect="1"/>
          </p:cNvPicPr>
          <p:nvPr/>
        </p:nvPicPr>
        <p:blipFill>
          <a:blip r:embed="rId1"/>
          <a:srcRect l="0" r="0" t="0" b="0"/>
          <a:stretch/>
        </p:blipFill>
        <p:spPr>
          <a:xfrm>
            <a:off x="8204200" y="2401391"/>
            <a:ext cx="203200" cy="203200"/>
          </a:xfrm>
          <a:prstGeom prst="rect">
            <a:avLst/>
          </a:prstGeom>
        </p:spPr>
      </p:pic>
      <p:sp>
        <p:nvSpPr>
          <p:cNvPr id="8" name="Text 4"/>
          <p:cNvSpPr/>
          <p:nvPr/>
        </p:nvSpPr>
        <p:spPr>
          <a:xfrm>
            <a:off x="8509000" y="2378571"/>
            <a:ext cx="16269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0F12"/>
                </a:solidFill>
                <a:latin typeface="Golos Text" pitchFamily="34" charset="0"/>
                <a:ea typeface="Golos Text" pitchFamily="34" charset="-122"/>
                <a:cs typeface="Golos Text" pitchFamily="34" charset="-120"/>
              </a:rPr>
              <a:t>Поиск по курсу</a:t>
            </a:r>
            <a:endParaRPr lang="en-US" sz="1400" dirty="0"/>
          </a:p>
        </p:txBody>
      </p:sp>
      <p:sp>
        <p:nvSpPr>
          <p:cNvPr id="9" name="Shape 5"/>
          <p:cNvSpPr/>
          <p:nvPr/>
        </p:nvSpPr>
        <p:spPr>
          <a:xfrm>
            <a:off x="8204200" y="2735362"/>
            <a:ext cx="3175000" cy="0"/>
          </a:xfrm>
          <a:prstGeom prst="line">
            <a:avLst/>
          </a:prstGeom>
          <a:noFill/>
          <a:ln w="12700">
            <a:solidFill>
              <a:srgbClr val="0F0F12"/>
            </a:solidFill>
            <a:prstDash val="solid"/>
          </a:ln>
        </p:spPr>
      </p:sp>
      <p:pic>
        <p:nvPicPr>
          <p:cNvPr id="10" name="Image 1" descr="Check">    </p:cNvPr>
          <p:cNvPicPr>
            <a:picLocks noChangeAspect="1"/>
          </p:cNvPicPr>
          <p:nvPr/>
        </p:nvPicPr>
        <p:blipFill>
          <a:blip r:embed="rId2"/>
          <a:srcRect l="0" r="0" t="0" b="0"/>
          <a:stretch/>
        </p:blipFill>
        <p:spPr>
          <a:xfrm>
            <a:off x="8204200" y="2853432"/>
            <a:ext cx="203200" cy="203200"/>
          </a:xfrm>
          <a:prstGeom prst="rect">
            <a:avLst/>
          </a:prstGeom>
        </p:spPr>
      </p:pic>
      <p:sp>
        <p:nvSpPr>
          <p:cNvPr id="11" name="Text 6"/>
          <p:cNvSpPr/>
          <p:nvPr/>
        </p:nvSpPr>
        <p:spPr>
          <a:xfrm>
            <a:off x="8509000" y="2830612"/>
            <a:ext cx="14925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0F12"/>
                </a:solidFill>
                <a:latin typeface="Golos Text" pitchFamily="34" charset="0"/>
                <a:ea typeface="Golos Text" pitchFamily="34" charset="-122"/>
                <a:cs typeface="Golos Text" pitchFamily="34" charset="-120"/>
              </a:rPr>
              <a:t>Чат по лекции</a:t>
            </a:r>
            <a:endParaRPr lang="en-US" sz="1400" dirty="0"/>
          </a:p>
        </p:txBody>
      </p:sp>
      <p:sp>
        <p:nvSpPr>
          <p:cNvPr id="12" name="Shape 7"/>
          <p:cNvSpPr/>
          <p:nvPr/>
        </p:nvSpPr>
        <p:spPr>
          <a:xfrm>
            <a:off x="8204200" y="3187402"/>
            <a:ext cx="3175000" cy="0"/>
          </a:xfrm>
          <a:prstGeom prst="line">
            <a:avLst/>
          </a:prstGeom>
          <a:noFill/>
          <a:ln w="12700">
            <a:solidFill>
              <a:srgbClr val="0F0F12"/>
            </a:solidFill>
            <a:prstDash val="solid"/>
          </a:ln>
        </p:spPr>
      </p:sp>
      <p:pic>
        <p:nvPicPr>
          <p:cNvPr id="13" name="Image 2" descr="Check">    </p:cNvPr>
          <p:cNvPicPr>
            <a:picLocks noChangeAspect="1"/>
          </p:cNvPicPr>
          <p:nvPr/>
        </p:nvPicPr>
        <p:blipFill>
          <a:blip r:embed="rId3"/>
          <a:srcRect l="0" r="0" t="0" b="0"/>
          <a:stretch/>
        </p:blipFill>
        <p:spPr>
          <a:xfrm>
            <a:off x="8204200" y="3305473"/>
            <a:ext cx="203200" cy="203200"/>
          </a:xfrm>
          <a:prstGeom prst="rect">
            <a:avLst/>
          </a:prstGeom>
        </p:spPr>
      </p:pic>
      <p:sp>
        <p:nvSpPr>
          <p:cNvPr id="14" name="Text 8"/>
          <p:cNvSpPr/>
          <p:nvPr/>
        </p:nvSpPr>
        <p:spPr>
          <a:xfrm>
            <a:off x="8509000" y="3282652"/>
            <a:ext cx="226171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0F12"/>
                </a:solidFill>
                <a:latin typeface="Golos Text" pitchFamily="34" charset="0"/>
                <a:ea typeface="Golos Text" pitchFamily="34" charset="-122"/>
                <a:cs typeface="Golos Text" pitchFamily="34" charset="-120"/>
              </a:rPr>
              <a:t>Термины и глоссарий</a:t>
            </a:r>
            <a:endParaRPr lang="en-US" sz="1400" dirty="0"/>
          </a:p>
        </p:txBody>
      </p:sp>
      <p:sp>
        <p:nvSpPr>
          <p:cNvPr id="15" name="Shape 9"/>
          <p:cNvSpPr/>
          <p:nvPr/>
        </p:nvSpPr>
        <p:spPr>
          <a:xfrm>
            <a:off x="8204200" y="3639443"/>
            <a:ext cx="3175000" cy="0"/>
          </a:xfrm>
          <a:prstGeom prst="line">
            <a:avLst/>
          </a:prstGeom>
          <a:noFill/>
          <a:ln w="12700">
            <a:solidFill>
              <a:srgbClr val="0F0F12"/>
            </a:solidFill>
            <a:prstDash val="solid"/>
          </a:ln>
        </p:spPr>
      </p:sp>
      <p:pic>
        <p:nvPicPr>
          <p:cNvPr id="16" name="Image 3" descr="Check">    </p:cNvPr>
          <p:cNvPicPr>
            <a:picLocks noChangeAspect="1"/>
          </p:cNvPicPr>
          <p:nvPr/>
        </p:nvPicPr>
        <p:blipFill>
          <a:blip r:embed="rId4"/>
          <a:srcRect l="0" r="0" t="0" b="0"/>
          <a:stretch/>
        </p:blipFill>
        <p:spPr>
          <a:xfrm>
            <a:off x="8204200" y="3757513"/>
            <a:ext cx="203200" cy="203200"/>
          </a:xfrm>
          <a:prstGeom prst="rect">
            <a:avLst/>
          </a:prstGeom>
        </p:spPr>
      </p:pic>
      <p:sp>
        <p:nvSpPr>
          <p:cNvPr id="17" name="Text 10"/>
          <p:cNvSpPr/>
          <p:nvPr/>
        </p:nvSpPr>
        <p:spPr>
          <a:xfrm>
            <a:off x="8509000" y="3734693"/>
            <a:ext cx="192345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0F12"/>
                </a:solidFill>
                <a:latin typeface="Golos Text" pitchFamily="34" charset="0"/>
                <a:ea typeface="Golos Text" pitchFamily="34" charset="-122"/>
                <a:cs typeface="Golos Text" pitchFamily="34" charset="-120"/>
              </a:rPr>
              <a:t>Импорт по ссылке</a:t>
            </a:r>
            <a:endParaRPr lang="en-US" sz="1400" dirty="0"/>
          </a:p>
        </p:txBody>
      </p:sp>
      <p:sp>
        <p:nvSpPr>
          <p:cNvPr id="18" name="Shape 11"/>
          <p:cNvSpPr/>
          <p:nvPr/>
        </p:nvSpPr>
        <p:spPr>
          <a:xfrm>
            <a:off x="8204200" y="4091484"/>
            <a:ext cx="3175000" cy="0"/>
          </a:xfrm>
          <a:prstGeom prst="line">
            <a:avLst/>
          </a:prstGeom>
          <a:noFill/>
          <a:ln w="12700">
            <a:solidFill>
              <a:srgbClr val="0F0F12"/>
            </a:solidFill>
            <a:prstDash val="solid"/>
          </a:ln>
        </p:spPr>
      </p:sp>
      <p:pic>
        <p:nvPicPr>
          <p:cNvPr id="19" name="Image 4" descr="Check">    </p:cNvPr>
          <p:cNvPicPr>
            <a:picLocks noChangeAspect="1"/>
          </p:cNvPicPr>
          <p:nvPr/>
        </p:nvPicPr>
        <p:blipFill>
          <a:blip r:embed="rId5"/>
          <a:srcRect l="0" r="0" t="0" b="0"/>
          <a:stretch/>
        </p:blipFill>
        <p:spPr>
          <a:xfrm>
            <a:off x="8204200" y="4209554"/>
            <a:ext cx="203200" cy="203200"/>
          </a:xfrm>
          <a:prstGeom prst="rect">
            <a:avLst/>
          </a:prstGeom>
        </p:spPr>
      </p:pic>
      <p:sp>
        <p:nvSpPr>
          <p:cNvPr id="20" name="Text 12"/>
          <p:cNvSpPr/>
          <p:nvPr/>
        </p:nvSpPr>
        <p:spPr>
          <a:xfrm>
            <a:off x="8509000" y="4186734"/>
            <a:ext cx="172509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0F12"/>
                </a:solidFill>
                <a:latin typeface="Golos Text" pitchFamily="34" charset="0"/>
                <a:ea typeface="Golos Text" pitchFamily="34" charset="-122"/>
                <a:cs typeface="Golos Text" pitchFamily="34" charset="-120"/>
              </a:rPr>
              <a:t>Личный кабинет</a:t>
            </a:r>
            <a:endParaRPr lang="en-US" sz="1400" dirty="0"/>
          </a:p>
        </p:txBody>
      </p:sp>
      <p:sp>
        <p:nvSpPr>
          <p:cNvPr id="21" name="Shape 13"/>
          <p:cNvSpPr/>
          <p:nvPr/>
        </p:nvSpPr>
        <p:spPr>
          <a:xfrm>
            <a:off x="8204200" y="4543524"/>
            <a:ext cx="3175000" cy="0"/>
          </a:xfrm>
          <a:prstGeom prst="line">
            <a:avLst/>
          </a:prstGeom>
          <a:noFill/>
          <a:ln w="12700">
            <a:solidFill>
              <a:srgbClr val="0F0F12"/>
            </a:solidFill>
            <a:prstDash val="solid"/>
          </a:ln>
        </p:spPr>
      </p:sp>
      <p:pic>
        <p:nvPicPr>
          <p:cNvPr id="22" name="Image 5" descr="Check">    </p:cNvPr>
          <p:cNvPicPr>
            <a:picLocks noChangeAspect="1"/>
          </p:cNvPicPr>
          <p:nvPr/>
        </p:nvPicPr>
        <p:blipFill>
          <a:blip r:embed="rId6"/>
          <a:srcRect l="0" r="0" t="0" b="0"/>
          <a:stretch/>
        </p:blipFill>
        <p:spPr>
          <a:xfrm>
            <a:off x="8204200" y="4661595"/>
            <a:ext cx="203200" cy="203200"/>
          </a:xfrm>
          <a:prstGeom prst="rect">
            <a:avLst/>
          </a:prstGeom>
        </p:spPr>
      </p:pic>
      <p:sp>
        <p:nvSpPr>
          <p:cNvPr id="23" name="Text 14"/>
          <p:cNvSpPr/>
          <p:nvPr/>
        </p:nvSpPr>
        <p:spPr>
          <a:xfrm>
            <a:off x="8509000" y="4638774"/>
            <a:ext cx="244304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0F12"/>
                </a:solidFill>
                <a:latin typeface="Golos Text" pitchFamily="34" charset="0"/>
                <a:ea typeface="Golos Text" pitchFamily="34" charset="-122"/>
                <a:cs typeface="Golos Text" pitchFamily="34" charset="-120"/>
              </a:rPr>
              <a:t>Офлайн: без интернета</a:t>
            </a:r>
            <a:endParaRPr lang="en-US" sz="1400" dirty="0"/>
          </a:p>
        </p:txBody>
      </p:sp>
      <p:sp>
        <p:nvSpPr>
          <p:cNvPr id="24" name="Text 15"/>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25" name="Text 16"/>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1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D9DFF"/>
                </a:solidFill>
                <a:latin typeface="JetBrains Mono" pitchFamily="49" charset="0"/>
                <a:ea typeface="JetBrains Mono" pitchFamily="49" charset="-122"/>
                <a:cs typeface="JetBrains Mono" pitchFamily="49" charset="-120"/>
              </a:rPr>
              <a:t>ПРЕИМУЩЕСТВА И ПРАКТИЧЕСКАЯ ЦЕННОСТЬ</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FAFAF7"/>
                </a:solidFill>
                <a:latin typeface="Inter Tight" pitchFamily="34" charset="0"/>
                <a:ea typeface="Inter Tight" pitchFamily="34" charset="-122"/>
                <a:cs typeface="Inter Tight" pitchFamily="34" charset="-120"/>
              </a:rPr>
              <a:t>Чем Lectio отличается от аналогов</a:t>
            </a:r>
            <a:endParaRPr lang="en-US" sz="3600" dirty="0"/>
          </a:p>
        </p:txBody>
      </p:sp>
      <p:sp>
        <p:nvSpPr>
          <p:cNvPr id="4" name="Shape 2"/>
          <p:cNvSpPr/>
          <p:nvPr/>
        </p:nvSpPr>
        <p:spPr>
          <a:xfrm>
            <a:off x="812800" y="1972866"/>
            <a:ext cx="3352800" cy="0"/>
          </a:xfrm>
          <a:prstGeom prst="line">
            <a:avLst/>
          </a:prstGeom>
          <a:noFill/>
          <a:ln w="19050">
            <a:solidFill>
              <a:srgbClr val="FAFAF7"/>
            </a:solidFill>
            <a:prstDash val="solid"/>
          </a:ln>
        </p:spPr>
      </p:sp>
      <p:sp>
        <p:nvSpPr>
          <p:cNvPr id="5" name="Text 3"/>
          <p:cNvSpPr/>
          <p:nvPr/>
        </p:nvSpPr>
        <p:spPr>
          <a:xfrm>
            <a:off x="812800" y="2134791"/>
            <a:ext cx="34533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9DFF"/>
                </a:solidFill>
                <a:latin typeface="JetBrains Mono" pitchFamily="49" charset="0"/>
                <a:ea typeface="JetBrains Mono" pitchFamily="49" charset="-122"/>
                <a:cs typeface="JetBrains Mono" pitchFamily="49" charset="-120"/>
              </a:rPr>
              <a:t>против субтитров YouTube</a:t>
            </a:r>
            <a:endParaRPr lang="en-US" sz="1200" dirty="0"/>
          </a:p>
        </p:txBody>
      </p:sp>
      <p:sp>
        <p:nvSpPr>
          <p:cNvPr id="6" name="Text 4"/>
          <p:cNvSpPr/>
          <p:nvPr/>
        </p:nvSpPr>
        <p:spPr>
          <a:xfrm>
            <a:off x="812800" y="2424311"/>
            <a:ext cx="345338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4EA"/>
                </a:solidFill>
                <a:latin typeface="Golos Text" pitchFamily="34" charset="0"/>
                <a:ea typeface="Golos Text" pitchFamily="34" charset="-122"/>
                <a:cs typeface="Golos Text" pitchFamily="34" charset="-120"/>
              </a:rPr>
              <a:t>Ищем по смыслу и сразу по всем лекциям курса, а не точные слова внутри одного видео.</a:t>
            </a:r>
            <a:endParaRPr lang="en-US" sz="1400" dirty="0"/>
          </a:p>
        </p:txBody>
      </p:sp>
      <p:sp>
        <p:nvSpPr>
          <p:cNvPr id="7" name="Shape 5"/>
          <p:cNvSpPr/>
          <p:nvPr/>
        </p:nvSpPr>
        <p:spPr>
          <a:xfrm>
            <a:off x="4419600" y="1972866"/>
            <a:ext cx="3352800" cy="0"/>
          </a:xfrm>
          <a:prstGeom prst="line">
            <a:avLst/>
          </a:prstGeom>
          <a:noFill/>
          <a:ln w="19050">
            <a:solidFill>
              <a:srgbClr val="FAFAF7"/>
            </a:solidFill>
            <a:prstDash val="solid"/>
          </a:ln>
        </p:spPr>
      </p:sp>
      <p:sp>
        <p:nvSpPr>
          <p:cNvPr id="8" name="Text 6"/>
          <p:cNvSpPr/>
          <p:nvPr/>
        </p:nvSpPr>
        <p:spPr>
          <a:xfrm>
            <a:off x="4419600" y="2134791"/>
            <a:ext cx="34533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9DFF"/>
                </a:solidFill>
                <a:latin typeface="JetBrains Mono" pitchFamily="49" charset="0"/>
                <a:ea typeface="JetBrains Mono" pitchFamily="49" charset="-122"/>
                <a:cs typeface="JetBrains Mono" pitchFamily="49" charset="-120"/>
              </a:rPr>
              <a:t>против облачных AI-сервисов</a:t>
            </a:r>
            <a:endParaRPr lang="en-US" sz="1200" dirty="0"/>
          </a:p>
        </p:txBody>
      </p:sp>
      <p:sp>
        <p:nvSpPr>
          <p:cNvPr id="9" name="Text 7"/>
          <p:cNvSpPr/>
          <p:nvPr/>
        </p:nvSpPr>
        <p:spPr>
          <a:xfrm>
            <a:off x="4419600" y="2424311"/>
            <a:ext cx="345338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4EA"/>
                </a:solidFill>
                <a:latin typeface="Golos Text" pitchFamily="34" charset="0"/>
                <a:ea typeface="Golos Text" pitchFamily="34" charset="-122"/>
                <a:cs typeface="Golos Text" pitchFamily="34" charset="-120"/>
              </a:rPr>
              <a:t>Всё работает у вуза: лекции и вопросы студентов не уходят наружу, нет подписок и лимитов.</a:t>
            </a:r>
            <a:endParaRPr lang="en-US" sz="1400" dirty="0"/>
          </a:p>
        </p:txBody>
      </p:sp>
      <p:sp>
        <p:nvSpPr>
          <p:cNvPr id="10" name="Shape 8"/>
          <p:cNvSpPr/>
          <p:nvPr/>
        </p:nvSpPr>
        <p:spPr>
          <a:xfrm>
            <a:off x="8026400" y="1972866"/>
            <a:ext cx="3352800" cy="0"/>
          </a:xfrm>
          <a:prstGeom prst="line">
            <a:avLst/>
          </a:prstGeom>
          <a:noFill/>
          <a:ln w="19050">
            <a:solidFill>
              <a:srgbClr val="FAFAF7"/>
            </a:solidFill>
            <a:prstDash val="solid"/>
          </a:ln>
        </p:spPr>
      </p:sp>
      <p:sp>
        <p:nvSpPr>
          <p:cNvPr id="11" name="Text 9"/>
          <p:cNvSpPr/>
          <p:nvPr/>
        </p:nvSpPr>
        <p:spPr>
          <a:xfrm>
            <a:off x="8026400" y="2134791"/>
            <a:ext cx="34533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9DFF"/>
                </a:solidFill>
                <a:latin typeface="JetBrains Mono" pitchFamily="49" charset="0"/>
                <a:ea typeface="JetBrains Mono" pitchFamily="49" charset="-122"/>
                <a:cs typeface="JetBrains Mono" pitchFamily="49" charset="-120"/>
              </a:rPr>
              <a:t>против записи в LMS</a:t>
            </a:r>
            <a:endParaRPr lang="en-US" sz="1200" dirty="0"/>
          </a:p>
        </p:txBody>
      </p:sp>
      <p:sp>
        <p:nvSpPr>
          <p:cNvPr id="12" name="Text 10"/>
          <p:cNvSpPr/>
          <p:nvPr/>
        </p:nvSpPr>
        <p:spPr>
          <a:xfrm>
            <a:off x="8026400" y="2424311"/>
            <a:ext cx="345338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4EA"/>
                </a:solidFill>
                <a:latin typeface="Golos Text" pitchFamily="34" charset="0"/>
                <a:ea typeface="Golos Text" pitchFamily="34" charset="-122"/>
                <a:cs typeface="Golos Text" pitchFamily="34" charset="-120"/>
              </a:rPr>
              <a:t>Оглавление, конспект, тест и статистика по группе появляются сами, без работы преподавателя.</a:t>
            </a:r>
            <a:endParaRPr lang="en-US" sz="1400" dirty="0"/>
          </a:p>
        </p:txBody>
      </p:sp>
      <p:sp>
        <p:nvSpPr>
          <p:cNvPr id="13" name="Text 11"/>
          <p:cNvSpPr/>
          <p:nvPr/>
        </p:nvSpPr>
        <p:spPr>
          <a:xfrm>
            <a:off x="812800" y="3475633"/>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spc="-200" kern="0" dirty="0">
                <a:solidFill>
                  <a:srgbClr val="FAFAF7"/>
                </a:solidFill>
                <a:latin typeface="Inter Tight" pitchFamily="34" charset="0"/>
                <a:ea typeface="Inter Tight" pitchFamily="34" charset="-122"/>
                <a:cs typeface="Inter Tight" pitchFamily="34" charset="-120"/>
              </a:rPr>
              <a:t>14 мин</a:t>
            </a:r>
            <a:endParaRPr lang="en-US" sz="4800" dirty="0"/>
          </a:p>
        </p:txBody>
      </p:sp>
      <p:sp>
        <p:nvSpPr>
          <p:cNvPr id="14" name="Text 12"/>
          <p:cNvSpPr/>
          <p:nvPr/>
        </p:nvSpPr>
        <p:spPr>
          <a:xfrm>
            <a:off x="812800" y="4136033"/>
            <a:ext cx="345338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9D1"/>
                </a:solidFill>
                <a:latin typeface="Golos Text" pitchFamily="34" charset="0"/>
                <a:ea typeface="Golos Text" pitchFamily="34" charset="-122"/>
                <a:cs typeface="Golos Text" pitchFamily="34" charset="-120"/>
              </a:rPr>
              <a:t>на лекцию 1 ч 25 мин целиком — GTX 1660 Super, 6 ГБ</a:t>
            </a:r>
            <a:endParaRPr lang="en-US" sz="1300" dirty="0"/>
          </a:p>
        </p:txBody>
      </p:sp>
      <p:sp>
        <p:nvSpPr>
          <p:cNvPr id="15" name="Text 13"/>
          <p:cNvSpPr/>
          <p:nvPr/>
        </p:nvSpPr>
        <p:spPr>
          <a:xfrm>
            <a:off x="4419600" y="3475633"/>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spc="-200" kern="0" dirty="0">
                <a:solidFill>
                  <a:srgbClr val="FAFAF7"/>
                </a:solidFill>
                <a:latin typeface="Inter Tight" pitchFamily="34" charset="0"/>
                <a:ea typeface="Inter Tight" pitchFamily="34" charset="-122"/>
                <a:cs typeface="Inter Tight" pitchFamily="34" charset="-120"/>
              </a:rPr>
              <a:t>17×</a:t>
            </a:r>
            <a:endParaRPr lang="en-US" sz="4800" dirty="0"/>
          </a:p>
        </p:txBody>
      </p:sp>
      <p:sp>
        <p:nvSpPr>
          <p:cNvPr id="16" name="Text 14"/>
          <p:cNvSpPr/>
          <p:nvPr/>
        </p:nvSpPr>
        <p:spPr>
          <a:xfrm>
            <a:off x="4419600" y="4136033"/>
            <a:ext cx="345338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9D1"/>
                </a:solidFill>
                <a:latin typeface="Golos Text" pitchFamily="34" charset="0"/>
                <a:ea typeface="Golos Text" pitchFamily="34" charset="-122"/>
                <a:cs typeface="Golos Text" pitchFamily="34" charset="-120"/>
              </a:rPr>
              <a:t>быстрее реального времени идёт расшифровка</a:t>
            </a:r>
            <a:endParaRPr lang="en-US" sz="1300" dirty="0"/>
          </a:p>
        </p:txBody>
      </p:sp>
      <p:sp>
        <p:nvSpPr>
          <p:cNvPr id="17" name="Text 15"/>
          <p:cNvSpPr/>
          <p:nvPr/>
        </p:nvSpPr>
        <p:spPr>
          <a:xfrm>
            <a:off x="8026400" y="3475633"/>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spc="-200" kern="0" dirty="0">
                <a:solidFill>
                  <a:srgbClr val="FAFAF7"/>
                </a:solidFill>
                <a:latin typeface="Inter Tight" pitchFamily="34" charset="0"/>
                <a:ea typeface="Inter Tight" pitchFamily="34" charset="-122"/>
                <a:cs typeface="Inter Tight" pitchFamily="34" charset="-120"/>
              </a:rPr>
              <a:t>0</a:t>
            </a:r>
            <a:endParaRPr lang="en-US" sz="4800" dirty="0"/>
          </a:p>
        </p:txBody>
      </p:sp>
      <p:sp>
        <p:nvSpPr>
          <p:cNvPr id="18" name="Text 16"/>
          <p:cNvSpPr/>
          <p:nvPr/>
        </p:nvSpPr>
        <p:spPr>
          <a:xfrm>
            <a:off x="8026400" y="4136033"/>
            <a:ext cx="34533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9D1"/>
                </a:solidFill>
                <a:latin typeface="Golos Text" pitchFamily="34" charset="0"/>
                <a:ea typeface="Golos Text" pitchFamily="34" charset="-122"/>
                <a:cs typeface="Golos Text" pitchFamily="34" charset="-120"/>
              </a:rPr>
              <a:t>обращений к облачным AI-сервисам</a:t>
            </a:r>
            <a:endParaRPr lang="en-US" sz="1300" dirty="0"/>
          </a:p>
        </p:txBody>
      </p:sp>
      <p:sp>
        <p:nvSpPr>
          <p:cNvPr id="19" name="Text 17"/>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A9AA3"/>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20" name="Text 18"/>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ПЕРСПЕКТИВЫ И ИТОГ</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Куда развивать Lectio</a:t>
            </a:r>
            <a:endParaRPr lang="en-US" sz="3600" dirty="0"/>
          </a:p>
        </p:txBody>
      </p:sp>
      <p:sp>
        <p:nvSpPr>
          <p:cNvPr id="4" name="Shape 2"/>
          <p:cNvSpPr/>
          <p:nvPr/>
        </p:nvSpPr>
        <p:spPr>
          <a:xfrm>
            <a:off x="812800" y="2023666"/>
            <a:ext cx="3318867" cy="0"/>
          </a:xfrm>
          <a:prstGeom prst="line">
            <a:avLst/>
          </a:prstGeom>
          <a:noFill/>
          <a:ln w="19050">
            <a:solidFill>
              <a:srgbClr val="0F0F12"/>
            </a:solidFill>
            <a:prstDash val="solid"/>
          </a:ln>
        </p:spPr>
      </p:sp>
      <p:sp>
        <p:nvSpPr>
          <p:cNvPr id="5" name="Text 3"/>
          <p:cNvSpPr/>
          <p:nvPr/>
        </p:nvSpPr>
        <p:spPr>
          <a:xfrm>
            <a:off x="812800" y="2185591"/>
            <a:ext cx="341843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0F12"/>
                </a:solidFill>
                <a:latin typeface="Inter Tight" pitchFamily="34" charset="0"/>
                <a:ea typeface="Inter Tight" pitchFamily="34" charset="-122"/>
                <a:cs typeface="Inter Tight" pitchFamily="34" charset="-120"/>
              </a:rPr>
              <a:t>Интеграция с LMS</a:t>
            </a:r>
            <a:endParaRPr lang="en-US" sz="2000" dirty="0"/>
          </a:p>
        </p:txBody>
      </p:sp>
      <p:sp>
        <p:nvSpPr>
          <p:cNvPr id="6" name="Text 4"/>
          <p:cNvSpPr/>
          <p:nvPr/>
        </p:nvSpPr>
        <p:spPr>
          <a:xfrm>
            <a:off x="812800" y="2553891"/>
            <a:ext cx="34184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Golos Text" pitchFamily="34" charset="0"/>
                <a:ea typeface="Golos Text" pitchFamily="34" charset="-122"/>
                <a:cs typeface="Golos Text" pitchFamily="34" charset="-120"/>
              </a:rPr>
              <a:t>Moodle и вузовские системы: лекции курса и оценки за тесты.</a:t>
            </a:r>
            <a:endParaRPr lang="en-US" sz="1400" dirty="0"/>
          </a:p>
        </p:txBody>
      </p:sp>
      <p:sp>
        <p:nvSpPr>
          <p:cNvPr id="7" name="Shape 5"/>
          <p:cNvSpPr/>
          <p:nvPr/>
        </p:nvSpPr>
        <p:spPr>
          <a:xfrm>
            <a:off x="4436467" y="2023666"/>
            <a:ext cx="3318966" cy="0"/>
          </a:xfrm>
          <a:prstGeom prst="line">
            <a:avLst/>
          </a:prstGeom>
          <a:noFill/>
          <a:ln w="19050">
            <a:solidFill>
              <a:srgbClr val="0F0F12"/>
            </a:solidFill>
            <a:prstDash val="solid"/>
          </a:ln>
        </p:spPr>
      </p:sp>
      <p:sp>
        <p:nvSpPr>
          <p:cNvPr id="8" name="Text 6"/>
          <p:cNvSpPr/>
          <p:nvPr/>
        </p:nvSpPr>
        <p:spPr>
          <a:xfrm>
            <a:off x="4436467" y="2185591"/>
            <a:ext cx="3418535"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0F12"/>
                </a:solidFill>
                <a:latin typeface="Inter Tight" pitchFamily="34" charset="0"/>
                <a:ea typeface="Inter Tight" pitchFamily="34" charset="-122"/>
                <a:cs typeface="Inter Tight" pitchFamily="34" charset="-120"/>
              </a:rPr>
              <a:t>Сервер без GPU</a:t>
            </a:r>
            <a:endParaRPr lang="en-US" sz="2000" dirty="0"/>
          </a:p>
        </p:txBody>
      </p:sp>
      <p:sp>
        <p:nvSpPr>
          <p:cNvPr id="9" name="Text 7"/>
          <p:cNvSpPr/>
          <p:nvPr/>
        </p:nvSpPr>
        <p:spPr>
          <a:xfrm>
            <a:off x="4436467" y="2553891"/>
            <a:ext cx="341853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Golos Text" pitchFamily="34" charset="0"/>
                <a:ea typeface="Golos Text" pitchFamily="34" charset="-122"/>
                <a:cs typeface="Golos Text" pitchFamily="34" charset="-120"/>
              </a:rPr>
              <a:t>Облачная расшифровка и модель посильнее — для вузов без видеокарт.</a:t>
            </a:r>
            <a:endParaRPr lang="en-US" sz="1400" dirty="0"/>
          </a:p>
        </p:txBody>
      </p:sp>
      <p:sp>
        <p:nvSpPr>
          <p:cNvPr id="10" name="Shape 8"/>
          <p:cNvSpPr/>
          <p:nvPr/>
        </p:nvSpPr>
        <p:spPr>
          <a:xfrm>
            <a:off x="8060234" y="2023666"/>
            <a:ext cx="3318966" cy="0"/>
          </a:xfrm>
          <a:prstGeom prst="line">
            <a:avLst/>
          </a:prstGeom>
          <a:noFill/>
          <a:ln w="19050">
            <a:solidFill>
              <a:srgbClr val="0F0F12"/>
            </a:solidFill>
            <a:prstDash val="solid"/>
          </a:ln>
        </p:spPr>
      </p:sp>
      <p:sp>
        <p:nvSpPr>
          <p:cNvPr id="11" name="Text 9"/>
          <p:cNvSpPr/>
          <p:nvPr/>
        </p:nvSpPr>
        <p:spPr>
          <a:xfrm>
            <a:off x="8060234" y="2185591"/>
            <a:ext cx="3418535"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0F12"/>
                </a:solidFill>
                <a:latin typeface="Inter Tight" pitchFamily="34" charset="0"/>
                <a:ea typeface="Inter Tight" pitchFamily="34" charset="-122"/>
                <a:cs typeface="Inter Tight" pitchFamily="34" charset="-120"/>
              </a:rPr>
              <a:t>Целые курсы</a:t>
            </a:r>
            <a:endParaRPr lang="en-US" sz="2000" dirty="0"/>
          </a:p>
        </p:txBody>
      </p:sp>
      <p:sp>
        <p:nvSpPr>
          <p:cNvPr id="12" name="Text 10"/>
          <p:cNvSpPr/>
          <p:nvPr/>
        </p:nvSpPr>
        <p:spPr>
          <a:xfrm>
            <a:off x="8060234" y="2553891"/>
            <a:ext cx="34185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Golos Text" pitchFamily="34" charset="0"/>
                <a:ea typeface="Golos Text" pitchFamily="34" charset="-122"/>
                <a:cs typeface="Golos Text" pitchFamily="34" charset="-120"/>
              </a:rPr>
              <a:t>Импорт плейлиста или канала одной ссылкой.</a:t>
            </a:r>
            <a:endParaRPr lang="en-US" sz="1400" dirty="0"/>
          </a:p>
        </p:txBody>
      </p:sp>
      <p:sp>
        <p:nvSpPr>
          <p:cNvPr id="13" name="Shape 11"/>
          <p:cNvSpPr/>
          <p:nvPr/>
        </p:nvSpPr>
        <p:spPr>
          <a:xfrm>
            <a:off x="812800" y="3563938"/>
            <a:ext cx="3318867" cy="0"/>
          </a:xfrm>
          <a:prstGeom prst="line">
            <a:avLst/>
          </a:prstGeom>
          <a:noFill/>
          <a:ln w="19050">
            <a:solidFill>
              <a:srgbClr val="0F0F12"/>
            </a:solidFill>
            <a:prstDash val="solid"/>
          </a:ln>
        </p:spPr>
      </p:sp>
      <p:sp>
        <p:nvSpPr>
          <p:cNvPr id="14" name="Text 12"/>
          <p:cNvSpPr/>
          <p:nvPr/>
        </p:nvSpPr>
        <p:spPr>
          <a:xfrm>
            <a:off x="812800" y="3725863"/>
            <a:ext cx="3418433"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0F12"/>
                </a:solidFill>
                <a:latin typeface="Inter Tight" pitchFamily="34" charset="0"/>
                <a:ea typeface="Inter Tight" pitchFamily="34" charset="-122"/>
                <a:cs typeface="Inter Tight" pitchFamily="34" charset="-120"/>
              </a:rPr>
              <a:t>Повторения</a:t>
            </a:r>
            <a:endParaRPr lang="en-US" sz="2000" dirty="0"/>
          </a:p>
        </p:txBody>
      </p:sp>
      <p:sp>
        <p:nvSpPr>
          <p:cNvPr id="15" name="Text 13"/>
          <p:cNvSpPr/>
          <p:nvPr/>
        </p:nvSpPr>
        <p:spPr>
          <a:xfrm>
            <a:off x="812800" y="4094163"/>
            <a:ext cx="34184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Golos Text" pitchFamily="34" charset="0"/>
                <a:ea typeface="Golos Text" pitchFamily="34" charset="-122"/>
                <a:cs typeface="Golos Text" pitchFamily="34" charset="-120"/>
              </a:rPr>
              <a:t>Интервальные повторения по вопросам, где студент ошибся.</a:t>
            </a:r>
            <a:endParaRPr lang="en-US" sz="1400" dirty="0"/>
          </a:p>
        </p:txBody>
      </p:sp>
      <p:sp>
        <p:nvSpPr>
          <p:cNvPr id="16" name="Shape 14"/>
          <p:cNvSpPr/>
          <p:nvPr/>
        </p:nvSpPr>
        <p:spPr>
          <a:xfrm>
            <a:off x="4436467" y="3563938"/>
            <a:ext cx="3318966" cy="0"/>
          </a:xfrm>
          <a:prstGeom prst="line">
            <a:avLst/>
          </a:prstGeom>
          <a:noFill/>
          <a:ln w="19050">
            <a:solidFill>
              <a:srgbClr val="0F0F12"/>
            </a:solidFill>
            <a:prstDash val="solid"/>
          </a:ln>
        </p:spPr>
      </p:sp>
      <p:sp>
        <p:nvSpPr>
          <p:cNvPr id="17" name="Text 15"/>
          <p:cNvSpPr/>
          <p:nvPr/>
        </p:nvSpPr>
        <p:spPr>
          <a:xfrm>
            <a:off x="4436467" y="3725863"/>
            <a:ext cx="3418535"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0F12"/>
                </a:solidFill>
                <a:latin typeface="Inter Tight" pitchFamily="34" charset="0"/>
                <a:ea typeface="Inter Tight" pitchFamily="34" charset="-122"/>
                <a:cs typeface="Inter Tight" pitchFamily="34" charset="-120"/>
              </a:rPr>
              <a:t>Доска в кадре</a:t>
            </a:r>
            <a:endParaRPr lang="en-US" sz="2000" dirty="0"/>
          </a:p>
        </p:txBody>
      </p:sp>
      <p:sp>
        <p:nvSpPr>
          <p:cNvPr id="18" name="Text 16"/>
          <p:cNvSpPr/>
          <p:nvPr/>
        </p:nvSpPr>
        <p:spPr>
          <a:xfrm>
            <a:off x="4436467" y="4094163"/>
            <a:ext cx="34185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Golos Text" pitchFamily="34" charset="0"/>
                <a:ea typeface="Golos Text" pitchFamily="34" charset="-122"/>
                <a:cs typeface="Golos Text" pitchFamily="34" charset="-120"/>
              </a:rPr>
              <a:t>Распознавание формул и схем с доски — в поиск и конспект.</a:t>
            </a:r>
            <a:endParaRPr lang="en-US" sz="1400" dirty="0"/>
          </a:p>
        </p:txBody>
      </p:sp>
      <p:sp>
        <p:nvSpPr>
          <p:cNvPr id="19" name="Shape 17"/>
          <p:cNvSpPr/>
          <p:nvPr/>
        </p:nvSpPr>
        <p:spPr>
          <a:xfrm>
            <a:off x="8060234" y="3563938"/>
            <a:ext cx="3318966" cy="0"/>
          </a:xfrm>
          <a:prstGeom prst="line">
            <a:avLst/>
          </a:prstGeom>
          <a:noFill/>
          <a:ln w="19050">
            <a:solidFill>
              <a:srgbClr val="0F0F12"/>
            </a:solidFill>
            <a:prstDash val="solid"/>
          </a:ln>
        </p:spPr>
      </p:sp>
      <p:sp>
        <p:nvSpPr>
          <p:cNvPr id="20" name="Text 18"/>
          <p:cNvSpPr/>
          <p:nvPr/>
        </p:nvSpPr>
        <p:spPr>
          <a:xfrm>
            <a:off x="8060234" y="3725863"/>
            <a:ext cx="3418535"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F0F12"/>
                </a:solidFill>
                <a:latin typeface="Inter Tight" pitchFamily="34" charset="0"/>
                <a:ea typeface="Inter Tight" pitchFamily="34" charset="-122"/>
                <a:cs typeface="Inter Tight" pitchFamily="34" charset="-120"/>
              </a:rPr>
              <a:t>Экспорт</a:t>
            </a:r>
            <a:endParaRPr lang="en-US" sz="2000" dirty="0"/>
          </a:p>
        </p:txBody>
      </p:sp>
      <p:sp>
        <p:nvSpPr>
          <p:cNvPr id="21" name="Text 19"/>
          <p:cNvSpPr/>
          <p:nvPr/>
        </p:nvSpPr>
        <p:spPr>
          <a:xfrm>
            <a:off x="8060234" y="4094163"/>
            <a:ext cx="34185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A50"/>
                </a:solidFill>
                <a:latin typeface="Golos Text" pitchFamily="34" charset="0"/>
                <a:ea typeface="Golos Text" pitchFamily="34" charset="-122"/>
                <a:cs typeface="Golos Text" pitchFamily="34" charset="-120"/>
              </a:rPr>
              <a:t>Конспект в Markdown и Obsidian одной кнопкой.</a:t>
            </a:r>
            <a:endParaRPr lang="en-US" sz="1400" dirty="0"/>
          </a:p>
        </p:txBody>
      </p:sp>
      <p:sp>
        <p:nvSpPr>
          <p:cNvPr id="22" name="Shape 20"/>
          <p:cNvSpPr/>
          <p:nvPr/>
        </p:nvSpPr>
        <p:spPr>
          <a:xfrm>
            <a:off x="812800" y="4947444"/>
            <a:ext cx="10566400" cy="612775"/>
          </a:xfrm>
          <a:prstGeom prst="rect">
            <a:avLst/>
          </a:prstGeom>
          <a:solidFill>
            <a:srgbClr val="0F0F12"/>
          </a:solidFill>
          <a:ln/>
        </p:spPr>
      </p:sp>
      <p:sp>
        <p:nvSpPr>
          <p:cNvPr id="23" name="Text 21"/>
          <p:cNvSpPr/>
          <p:nvPr/>
        </p:nvSpPr>
        <p:spPr>
          <a:xfrm>
            <a:off x="1066800" y="5147171"/>
            <a:ext cx="492820" cy="238720"/>
          </a:xfrm>
          <a:prstGeom prst="rect">
            <a:avLst/>
          </a:prstGeom>
          <a:noFill/>
          <a:ln/>
        </p:spPr>
        <p:txBody>
          <a:bodyPr wrap="none" lIns="0" tIns="0" rIns="0" bIns="0" rtlCol="0" anchor="t">
            <a:normAutofit/>
          </a:bodyPr>
          <a:lstStyle/>
          <a:p>
            <a:pPr algn="l" indent="0" marL="0">
              <a:lnSpc>
                <a:spcPts val="1680"/>
              </a:lnSpc>
              <a:buNone/>
            </a:pPr>
            <a:r>
              <a:rPr lang="en-US" sz="1200" spc="150" kern="0" dirty="0">
                <a:solidFill>
                  <a:srgbClr val="9D9DFF"/>
                </a:solidFill>
                <a:latin typeface="JetBrains Mono" pitchFamily="49" charset="0"/>
                <a:ea typeface="JetBrains Mono" pitchFamily="49" charset="-122"/>
                <a:cs typeface="JetBrains Mono" pitchFamily="49" charset="-120"/>
              </a:rPr>
              <a:t>ИТОГ</a:t>
            </a:r>
            <a:endParaRPr lang="en-US" sz="1200" dirty="0"/>
          </a:p>
        </p:txBody>
      </p:sp>
      <p:sp>
        <p:nvSpPr>
          <p:cNvPr id="24" name="Text 22"/>
          <p:cNvSpPr/>
          <p:nvPr/>
        </p:nvSpPr>
        <p:spPr>
          <a:xfrm>
            <a:off x="1712020" y="5125244"/>
            <a:ext cx="884574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AFAF7"/>
                </a:solidFill>
                <a:latin typeface="Golos Text" pitchFamily="34" charset="0"/>
                <a:ea typeface="Golos Text" pitchFamily="34" charset="-122"/>
                <a:cs typeface="Golos Text" pitchFamily="34" charset="-120"/>
              </a:rPr>
              <a:t>Рабочий прототип: все пункты ТЗ, поиск по смыслу, локально на обычном ПК.</a:t>
            </a:r>
            <a:endParaRPr lang="en-US" sz="1500" dirty="0"/>
          </a:p>
        </p:txBody>
      </p:sp>
      <p:sp>
        <p:nvSpPr>
          <p:cNvPr id="25" name="Text 23"/>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26" name="Text 24"/>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B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AFAF7"/>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3" name="Text 1"/>
          <p:cNvSpPr/>
          <p:nvPr>
            <p:ph type="title"/>
          </p:nvPr>
        </p:nvSpPr>
        <p:spPr>
          <a:xfrm>
            <a:off x="812800" y="2120999"/>
            <a:ext cx="10883392" cy="1231900"/>
          </a:xfrm>
          <a:prstGeom prst="rect">
            <a:avLst/>
          </a:prstGeom>
          <a:noFill/>
          <a:ln/>
        </p:spPr>
        <p:txBody>
          <a:bodyPr wrap="square" lIns="0" tIns="0" rIns="0" bIns="0" rtlCol="0" anchor="t">
            <a:normAutofit/>
          </a:bodyPr>
          <a:lstStyle/>
          <a:p>
            <a:pPr algn="l" indent="0" marL="0">
              <a:lnSpc>
                <a:spcPts val="9500"/>
              </a:lnSpc>
              <a:buNone/>
            </a:pPr>
            <a:r>
              <a:rPr lang="en-US" sz="10000" b="1" i="0" spc="-400" kern="0" dirty="0">
                <a:solidFill>
                  <a:srgbClr val="FAFAF7"/>
                </a:solidFill>
                <a:latin typeface="Inter Tight" pitchFamily="34" charset="0"/>
                <a:ea typeface="Inter Tight" pitchFamily="34" charset="-122"/>
                <a:cs typeface="Inter Tight" pitchFamily="34" charset="-120"/>
              </a:rPr>
              <a:t>Спасибо!</a:t>
            </a:r>
            <a:endParaRPr lang="en-US" sz="10000" dirty="0"/>
          </a:p>
        </p:txBody>
      </p:sp>
      <p:sp>
        <p:nvSpPr>
          <p:cNvPr id="4" name="Text 2"/>
          <p:cNvSpPr/>
          <p:nvPr/>
        </p:nvSpPr>
        <p:spPr>
          <a:xfrm>
            <a:off x="812800" y="3530699"/>
            <a:ext cx="8502650"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FAFAF7"/>
                </a:solidFill>
                <a:latin typeface="Golos Text" pitchFamily="34" charset="0"/>
                <a:ea typeface="Golos Text" pitchFamily="34" charset="-122"/>
                <a:cs typeface="Golos Text" pitchFamily="34" charset="-120"/>
              </a:rPr>
              <a:t>Готовы ответить на вопросы.</a:t>
            </a:r>
            <a:endParaRPr lang="en-US" sz="2400" dirty="0"/>
          </a:p>
        </p:txBody>
      </p:sp>
      <p:sp>
        <p:nvSpPr>
          <p:cNvPr id="5" name="Shape 3"/>
          <p:cNvSpPr/>
          <p:nvPr/>
        </p:nvSpPr>
        <p:spPr>
          <a:xfrm>
            <a:off x="812800" y="5012829"/>
            <a:ext cx="10566400" cy="0"/>
          </a:xfrm>
          <a:prstGeom prst="line">
            <a:avLst/>
          </a:prstGeom>
          <a:noFill/>
          <a:ln w="12700">
            <a:solidFill>
              <a:srgbClr val="FAFAF7"/>
            </a:solidFill>
            <a:prstDash val="solid"/>
          </a:ln>
        </p:spPr>
      </p:sp>
      <p:sp>
        <p:nvSpPr>
          <p:cNvPr id="6" name="Text 4"/>
          <p:cNvSpPr/>
          <p:nvPr/>
        </p:nvSpPr>
        <p:spPr>
          <a:xfrm>
            <a:off x="812800" y="5222379"/>
            <a:ext cx="2976949"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AFAF7"/>
                </a:solidFill>
                <a:latin typeface="Inter Tight" pitchFamily="34" charset="0"/>
                <a:ea typeface="Inter Tight" pitchFamily="34" charset="-122"/>
                <a:cs typeface="Inter Tight" pitchFamily="34" charset="-120"/>
              </a:rPr>
              <a:t>Команда «ветмо»</a:t>
            </a:r>
            <a:endParaRPr lang="en-US" sz="1800" dirty="0"/>
          </a:p>
        </p:txBody>
      </p:sp>
      <p:sp>
        <p:nvSpPr>
          <p:cNvPr id="7" name="Text 5"/>
          <p:cNvSpPr/>
          <p:nvPr/>
        </p:nvSpPr>
        <p:spPr>
          <a:xfrm>
            <a:off x="812800" y="5593159"/>
            <a:ext cx="34682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AF7"/>
                </a:solidFill>
                <a:latin typeface="Golos Text" pitchFamily="34" charset="0"/>
                <a:ea typeface="Golos Text" pitchFamily="34" charset="-122"/>
                <a:cs typeface="Golos Text" pitchFamily="34" charset="-120"/>
              </a:rPr>
              <a:t>Юзьков Алексей · Буданов Антон</a:t>
            </a:r>
            <a:endParaRPr lang="en-US" sz="1400" dirty="0"/>
          </a:p>
        </p:txBody>
      </p:sp>
      <p:sp>
        <p:nvSpPr>
          <p:cNvPr id="8" name="Text 6"/>
          <p:cNvSpPr/>
          <p:nvPr/>
        </p:nvSpPr>
        <p:spPr>
          <a:xfrm>
            <a:off x="7721481" y="5557540"/>
            <a:ext cx="3657719" cy="309860"/>
          </a:xfrm>
          <a:prstGeom prst="rect">
            <a:avLst/>
          </a:prstGeom>
          <a:noFill/>
          <a:ln/>
        </p:spPr>
        <p:txBody>
          <a:bodyPr wrap="square" lIns="0" tIns="0" rIns="0" bIns="0" rtlCol="0" anchor="t">
            <a:normAutofit/>
          </a:bodyPr>
          <a:lstStyle/>
          <a:p>
            <a:pPr algn="r" indent="0" marL="0">
              <a:lnSpc>
                <a:spcPts val="2240"/>
              </a:lnSpc>
              <a:buNone/>
            </a:pPr>
            <a:r>
              <a:rPr lang="en-US" sz="1600" u="sng" dirty="0">
                <a:solidFill>
                  <a:srgbClr val="FAFAF7"/>
                </a:solidFill>
                <a:latin typeface="JetBrains Mono" pitchFamily="49" charset="0"/>
                <a:ea typeface="JetBrains Mono" pitchFamily="49" charset="-122"/>
                <a:cs typeface="JetBrains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github.com/anxi0uz/lectio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1EC"/>
        </a:solidFill>
      </p:bgPr>
    </p:bg>
    <p:spTree>
      <p:nvGrpSpPr>
        <p:cNvPr id="1" name=""/>
        <p:cNvGrpSpPr/>
        <p:nvPr/>
      </p:nvGrpSpPr>
      <p:grpSpPr>
        <a:xfrm>
          <a:off x="0" y="0"/>
          <a:ext cx="0" cy="0"/>
          <a:chOff x="0" y="0"/>
          <a:chExt cx="0" cy="0"/>
        </a:xfrm>
      </p:grpSpPr>
      <p:sp>
        <p:nvSpPr>
          <p:cNvPr id="2" name="Text 0"/>
          <p:cNvSpPr/>
          <p:nvPr/>
        </p:nvSpPr>
        <p:spPr>
          <a:xfrm>
            <a:off x="812800" y="23279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ПРИЛОЖЕНИЕ</a:t>
            </a:r>
            <a:endParaRPr lang="en-US" sz="1200" dirty="0"/>
          </a:p>
        </p:txBody>
      </p:sp>
      <p:sp>
        <p:nvSpPr>
          <p:cNvPr id="3" name="Text 1"/>
          <p:cNvSpPr/>
          <p:nvPr>
            <p:ph type="title"/>
          </p:nvPr>
        </p:nvSpPr>
        <p:spPr>
          <a:xfrm>
            <a:off x="812800" y="274449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spc="-250" kern="0" dirty="0">
                <a:solidFill>
                  <a:srgbClr val="0F0F12"/>
                </a:solidFill>
                <a:latin typeface="Inter Tight" pitchFamily="34" charset="0"/>
                <a:ea typeface="Inter Tight" pitchFamily="34" charset="-122"/>
                <a:cs typeface="Inter Tight" pitchFamily="34" charset="-120"/>
              </a:rPr>
              <a:t>Скриншоты продукта</a:t>
            </a:r>
            <a:endParaRPr lang="en-US" sz="6000" dirty="0"/>
          </a:p>
        </p:txBody>
      </p:sp>
      <p:sp>
        <p:nvSpPr>
          <p:cNvPr id="4" name="Text 2"/>
          <p:cNvSpPr/>
          <p:nvPr/>
        </p:nvSpPr>
        <p:spPr>
          <a:xfrm>
            <a:off x="812800" y="3709690"/>
            <a:ext cx="78486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4A4A50"/>
                </a:solidFill>
                <a:latin typeface="Golos Text" pitchFamily="34" charset="0"/>
                <a:ea typeface="Golos Text" pitchFamily="34" charset="-122"/>
                <a:cs typeface="Golos Text" pitchFamily="34" charset="-120"/>
              </a:rPr>
              <a:t>Поиск, плеер, конспект, чат, тест со статистикой и личный кабинет — для вопросов жюри.</a:t>
            </a:r>
            <a:endParaRPr lang="en-US" sz="1800" dirty="0"/>
          </a:p>
        </p:txBody>
      </p:sp>
      <p:sp>
        <p:nvSpPr>
          <p:cNvPr id="5" name="Text 3"/>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6" name="Text 4"/>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ПРИЛОЖЕНИЕ · СМЫСЛОВОЙ ПОИСК</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Ищет по смыслу, а не по словам</a:t>
            </a:r>
            <a:endParaRPr lang="en-US" sz="3600" dirty="0"/>
          </a:p>
        </p:txBody>
      </p:sp>
      <p:pic>
        <p:nvPicPr>
          <p:cNvPr id="4" name="Image 0" descr="Поиск Lectio: русский запрос «как учиться с помощью нейросетей» первым находит английскую лекцию How I Use AI to Learn Things на 8:05">    </p:cNvPr>
          <p:cNvPicPr>
            <a:picLocks noChangeAspect="1"/>
          </p:cNvPicPr>
          <p:nvPr/>
        </p:nvPicPr>
        <p:blipFill>
          <a:blip r:embed="rId1"/>
          <a:srcRect l="0" r="0" t="168" b="168"/>
          <a:stretch/>
        </p:blipFill>
        <p:spPr>
          <a:xfrm>
            <a:off x="825500" y="1976041"/>
            <a:ext cx="6451600" cy="3619500"/>
          </a:xfrm>
          <a:prstGeom prst="rect">
            <a:avLst/>
          </a:prstGeom>
        </p:spPr>
      </p:pic>
      <p:sp>
        <p:nvSpPr>
          <p:cNvPr id="5" name="Shape 2"/>
          <p:cNvSpPr/>
          <p:nvPr/>
        </p:nvSpPr>
        <p:spPr>
          <a:xfrm>
            <a:off x="819150" y="1969691"/>
            <a:ext cx="6464300" cy="3632200"/>
          </a:xfrm>
          <a:prstGeom prst="rect">
            <a:avLst/>
          </a:prstGeom>
          <a:noFill/>
          <a:ln w="12700">
            <a:solidFill>
              <a:srgbClr val="0F0F12"/>
            </a:solidFill>
            <a:prstDash val="solid"/>
          </a:ln>
        </p:spPr>
      </p:sp>
      <p:sp>
        <p:nvSpPr>
          <p:cNvPr id="6" name="Shape 3"/>
          <p:cNvSpPr/>
          <p:nvPr/>
        </p:nvSpPr>
        <p:spPr>
          <a:xfrm>
            <a:off x="7645400" y="1969691"/>
            <a:ext cx="3733800" cy="0"/>
          </a:xfrm>
          <a:prstGeom prst="line">
            <a:avLst/>
          </a:prstGeom>
          <a:noFill/>
          <a:ln w="12700">
            <a:solidFill>
              <a:srgbClr val="0F0F12"/>
            </a:solidFill>
            <a:prstDash val="solid"/>
          </a:ln>
        </p:spPr>
      </p:sp>
      <p:sp>
        <p:nvSpPr>
          <p:cNvPr id="7" name="Text 4"/>
          <p:cNvSpPr/>
          <p:nvPr/>
        </p:nvSpPr>
        <p:spPr>
          <a:xfrm>
            <a:off x="7645400" y="2103041"/>
            <a:ext cx="384581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Гибрид двух поисков</a:t>
            </a:r>
            <a:endParaRPr lang="en-US" sz="1800" dirty="0"/>
          </a:p>
        </p:txBody>
      </p:sp>
      <p:sp>
        <p:nvSpPr>
          <p:cNvPr id="8" name="Text 5"/>
          <p:cNvSpPr/>
          <p:nvPr/>
        </p:nvSpPr>
        <p:spPr>
          <a:xfrm>
            <a:off x="7645400" y="2416671"/>
            <a:ext cx="384581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A50"/>
                </a:solidFill>
                <a:latin typeface="Golos Text" pitchFamily="34" charset="0"/>
                <a:ea typeface="Golos Text" pitchFamily="34" charset="-122"/>
                <a:cs typeface="Golos Text" pitchFamily="34" charset="-120"/>
              </a:rPr>
              <a:t>Векторы ловят перефразировки, полнотекст — точные термины. Результаты сливаются через RRF.</a:t>
            </a:r>
            <a:endParaRPr lang="en-US" sz="1300" dirty="0"/>
          </a:p>
        </p:txBody>
      </p:sp>
      <p:sp>
        <p:nvSpPr>
          <p:cNvPr id="9" name="Shape 6"/>
          <p:cNvSpPr/>
          <p:nvPr/>
        </p:nvSpPr>
        <p:spPr>
          <a:xfrm>
            <a:off x="7645400" y="3294063"/>
            <a:ext cx="3733800" cy="0"/>
          </a:xfrm>
          <a:prstGeom prst="line">
            <a:avLst/>
          </a:prstGeom>
          <a:noFill/>
          <a:ln w="12700">
            <a:solidFill>
              <a:srgbClr val="0F0F12"/>
            </a:solidFill>
            <a:prstDash val="solid"/>
          </a:ln>
        </p:spPr>
      </p:sp>
      <p:sp>
        <p:nvSpPr>
          <p:cNvPr id="10" name="Text 7"/>
          <p:cNvSpPr/>
          <p:nvPr/>
        </p:nvSpPr>
        <p:spPr>
          <a:xfrm>
            <a:off x="7645400" y="3427413"/>
            <a:ext cx="384581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Между языками</a:t>
            </a:r>
            <a:endParaRPr lang="en-US" sz="1800" dirty="0"/>
          </a:p>
        </p:txBody>
      </p:sp>
      <p:sp>
        <p:nvSpPr>
          <p:cNvPr id="11" name="Text 8"/>
          <p:cNvSpPr/>
          <p:nvPr/>
        </p:nvSpPr>
        <p:spPr>
          <a:xfrm>
            <a:off x="7645400" y="3741043"/>
            <a:ext cx="384581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A50"/>
                </a:solidFill>
                <a:latin typeface="Golos Text" pitchFamily="34" charset="0"/>
                <a:ea typeface="Golos Text" pitchFamily="34" charset="-122"/>
                <a:cs typeface="Golos Text" pitchFamily="34" charset="-120"/>
              </a:rPr>
              <a:t>Запрос по-русски первым нашёл английскую лекцию — на скриншоте.</a:t>
            </a:r>
            <a:endParaRPr lang="en-US" sz="1300" dirty="0"/>
          </a:p>
        </p:txBody>
      </p:sp>
      <p:sp>
        <p:nvSpPr>
          <p:cNvPr id="12" name="Shape 9"/>
          <p:cNvSpPr/>
          <p:nvPr/>
        </p:nvSpPr>
        <p:spPr>
          <a:xfrm>
            <a:off x="7645400" y="4387354"/>
            <a:ext cx="3733800" cy="0"/>
          </a:xfrm>
          <a:prstGeom prst="line">
            <a:avLst/>
          </a:prstGeom>
          <a:noFill/>
          <a:ln w="12700">
            <a:solidFill>
              <a:srgbClr val="0F0F12"/>
            </a:solidFill>
            <a:prstDash val="solid"/>
          </a:ln>
        </p:spPr>
      </p:sp>
      <p:sp>
        <p:nvSpPr>
          <p:cNvPr id="13" name="Text 10"/>
          <p:cNvSpPr/>
          <p:nvPr/>
        </p:nvSpPr>
        <p:spPr>
          <a:xfrm>
            <a:off x="7645400" y="4520704"/>
            <a:ext cx="3845814"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Сразу к секунде</a:t>
            </a:r>
            <a:endParaRPr lang="en-US" sz="1800" dirty="0"/>
          </a:p>
        </p:txBody>
      </p:sp>
      <p:sp>
        <p:nvSpPr>
          <p:cNvPr id="14" name="Text 11"/>
          <p:cNvSpPr/>
          <p:nvPr/>
        </p:nvSpPr>
        <p:spPr>
          <a:xfrm>
            <a:off x="7645400" y="4834334"/>
            <a:ext cx="384581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A50"/>
                </a:solidFill>
                <a:latin typeface="Golos Text" pitchFamily="34" charset="0"/>
                <a:ea typeface="Golos Text" pitchFamily="34" charset="-122"/>
                <a:cs typeface="Golos Text" pitchFamily="34" charset="-120"/>
              </a:rPr>
              <a:t>Таймкод и переход в плеер. Везде, по курсу или внутри лекции.</a:t>
            </a:r>
            <a:endParaRPr lang="en-US" sz="1300" dirty="0"/>
          </a:p>
        </p:txBody>
      </p:sp>
      <p:sp>
        <p:nvSpPr>
          <p:cNvPr id="15" name="Text 12"/>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6" name="Text 1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ПРИЛОЖЕНИЕ · ПЛЕЕР</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Видео, синхронное с текстом</a:t>
            </a:r>
            <a:endParaRPr lang="en-US" sz="3600" dirty="0"/>
          </a:p>
        </p:txBody>
      </p:sp>
      <p:pic>
        <p:nvPicPr>
          <p:cNvPr id="4" name="Image 0" descr="Страница лекции: плеер с субтитрами, блок «Сейчас говорит» с бегущей расшифровкой и чат «Спросите лекцию»">    </p:cNvPr>
          <p:cNvPicPr>
            <a:picLocks noChangeAspect="1"/>
          </p:cNvPicPr>
          <p:nvPr/>
        </p:nvPicPr>
        <p:blipFill>
          <a:blip r:embed="rId1"/>
          <a:srcRect l="0" r="0" t="130" b="130"/>
          <a:stretch/>
        </p:blipFill>
        <p:spPr>
          <a:xfrm>
            <a:off x="825500" y="1925241"/>
            <a:ext cx="8229600" cy="3898900"/>
          </a:xfrm>
          <a:prstGeom prst="rect">
            <a:avLst/>
          </a:prstGeom>
        </p:spPr>
      </p:pic>
      <p:sp>
        <p:nvSpPr>
          <p:cNvPr id="5" name="Shape 2"/>
          <p:cNvSpPr/>
          <p:nvPr/>
        </p:nvSpPr>
        <p:spPr>
          <a:xfrm>
            <a:off x="819150" y="1918891"/>
            <a:ext cx="8242300" cy="3911600"/>
          </a:xfrm>
          <a:prstGeom prst="rect">
            <a:avLst/>
          </a:prstGeom>
          <a:noFill/>
          <a:ln w="12700">
            <a:solidFill>
              <a:srgbClr val="0F0F12"/>
            </a:solidFill>
            <a:prstDash val="solid"/>
          </a:ln>
        </p:spPr>
      </p:sp>
      <p:sp>
        <p:nvSpPr>
          <p:cNvPr id="6" name="Shape 3"/>
          <p:cNvSpPr/>
          <p:nvPr/>
        </p:nvSpPr>
        <p:spPr>
          <a:xfrm>
            <a:off x="9372600" y="1918891"/>
            <a:ext cx="2006600" cy="0"/>
          </a:xfrm>
          <a:prstGeom prst="line">
            <a:avLst/>
          </a:prstGeom>
          <a:noFill/>
          <a:ln w="12700">
            <a:solidFill>
              <a:srgbClr val="0F0F12"/>
            </a:solidFill>
            <a:prstDash val="solid"/>
          </a:ln>
        </p:spPr>
      </p:sp>
      <p:sp>
        <p:nvSpPr>
          <p:cNvPr id="7" name="Text 4"/>
          <p:cNvSpPr/>
          <p:nvPr/>
        </p:nvSpPr>
        <p:spPr>
          <a:xfrm>
            <a:off x="9372600" y="2026841"/>
            <a:ext cx="206679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Субтитры</a:t>
            </a:r>
            <a:r>
              <a:rPr lang="en-US" sz="1400" dirty="0">
                <a:solidFill>
                  <a:srgbClr val="0F0F12"/>
                </a:solidFill>
                <a:latin typeface="Golos Text" pitchFamily="34" charset="0"/>
                <a:ea typeface="Golos Text" pitchFamily="34" charset="-122"/>
                <a:cs typeface="Golos Text" pitchFamily="34" charset="-120"/>
              </a:rPr>
              <a:t> поверх видео</a:t>
            </a:r>
            <a:endParaRPr lang="en-US" sz="1400" dirty="0"/>
          </a:p>
        </p:txBody>
      </p:sp>
      <p:sp>
        <p:nvSpPr>
          <p:cNvPr id="8" name="Shape 5"/>
          <p:cNvSpPr/>
          <p:nvPr/>
        </p:nvSpPr>
        <p:spPr>
          <a:xfrm>
            <a:off x="9372600" y="2665611"/>
            <a:ext cx="2006600" cy="0"/>
          </a:xfrm>
          <a:prstGeom prst="line">
            <a:avLst/>
          </a:prstGeom>
          <a:noFill/>
          <a:ln w="12700">
            <a:solidFill>
              <a:srgbClr val="0F0F12"/>
            </a:solidFill>
            <a:prstDash val="solid"/>
          </a:ln>
        </p:spPr>
      </p:sp>
      <p:sp>
        <p:nvSpPr>
          <p:cNvPr id="9" name="Text 6"/>
          <p:cNvSpPr/>
          <p:nvPr/>
        </p:nvSpPr>
        <p:spPr>
          <a:xfrm>
            <a:off x="9372600" y="2773561"/>
            <a:ext cx="206679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Клик по реплике</a:t>
            </a:r>
            <a:r>
              <a:rPr lang="en-US" sz="1400" dirty="0">
                <a:solidFill>
                  <a:srgbClr val="0F0F12"/>
                </a:solidFill>
                <a:latin typeface="Golos Text" pitchFamily="34" charset="0"/>
                <a:ea typeface="Golos Text" pitchFamily="34" charset="-122"/>
                <a:cs typeface="Golos Text" pitchFamily="34" charset="-120"/>
              </a:rPr>
              <a:t> — перемотка</a:t>
            </a:r>
            <a:endParaRPr lang="en-US" sz="1400" dirty="0"/>
          </a:p>
        </p:txBody>
      </p:sp>
      <p:sp>
        <p:nvSpPr>
          <p:cNvPr id="10" name="Shape 7"/>
          <p:cNvSpPr/>
          <p:nvPr/>
        </p:nvSpPr>
        <p:spPr>
          <a:xfrm>
            <a:off x="9372600" y="3412331"/>
            <a:ext cx="2006600" cy="0"/>
          </a:xfrm>
          <a:prstGeom prst="line">
            <a:avLst/>
          </a:prstGeom>
          <a:noFill/>
          <a:ln w="12700">
            <a:solidFill>
              <a:srgbClr val="0F0F12"/>
            </a:solidFill>
            <a:prstDash val="solid"/>
          </a:ln>
        </p:spPr>
      </p:sp>
      <p:sp>
        <p:nvSpPr>
          <p:cNvPr id="11" name="Text 8"/>
          <p:cNvSpPr/>
          <p:nvPr/>
        </p:nvSpPr>
        <p:spPr>
          <a:xfrm>
            <a:off x="9372600" y="3520281"/>
            <a:ext cx="206679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Главы и закладки</a:t>
            </a:r>
            <a:r>
              <a:rPr lang="en-US" sz="1400" dirty="0">
                <a:solidFill>
                  <a:srgbClr val="0F0F12"/>
                </a:solidFill>
                <a:latin typeface="Golos Text" pitchFamily="34" charset="0"/>
                <a:ea typeface="Golos Text" pitchFamily="34" charset="-122"/>
                <a:cs typeface="Golos Text" pitchFamily="34" charset="-120"/>
              </a:rPr>
              <a:t> на шкале</a:t>
            </a:r>
            <a:endParaRPr lang="en-US" sz="1400" dirty="0"/>
          </a:p>
        </p:txBody>
      </p:sp>
      <p:sp>
        <p:nvSpPr>
          <p:cNvPr id="12" name="Shape 9"/>
          <p:cNvSpPr/>
          <p:nvPr/>
        </p:nvSpPr>
        <p:spPr>
          <a:xfrm>
            <a:off x="9372600" y="4159052"/>
            <a:ext cx="2006600" cy="0"/>
          </a:xfrm>
          <a:prstGeom prst="line">
            <a:avLst/>
          </a:prstGeom>
          <a:noFill/>
          <a:ln w="12700">
            <a:solidFill>
              <a:srgbClr val="0F0F12"/>
            </a:solidFill>
            <a:prstDash val="solid"/>
          </a:ln>
        </p:spPr>
      </p:sp>
      <p:sp>
        <p:nvSpPr>
          <p:cNvPr id="13" name="Text 10"/>
          <p:cNvSpPr/>
          <p:nvPr/>
        </p:nvSpPr>
        <p:spPr>
          <a:xfrm>
            <a:off x="9372600" y="4267002"/>
            <a:ext cx="2066798"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Ссылка</a:t>
            </a:r>
            <a:r>
              <a:rPr lang="en-US" sz="1400" dirty="0">
                <a:solidFill>
                  <a:srgbClr val="0F0F12"/>
                </a:solidFill>
                <a:latin typeface="Golos Text" pitchFamily="34" charset="0"/>
                <a:ea typeface="Golos Text" pitchFamily="34" charset="-122"/>
                <a:cs typeface="Golos Text" pitchFamily="34" charset="-120"/>
              </a:rPr>
              <a:t> на момент видео</a:t>
            </a:r>
            <a:endParaRPr lang="en-US" sz="1400" dirty="0"/>
          </a:p>
        </p:txBody>
      </p:sp>
      <p:sp>
        <p:nvSpPr>
          <p:cNvPr id="14" name="Text 11"/>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5" name="Text 12"/>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ПРИЛОЖЕНИЕ · КОНСПЕКТ</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Лекция с оглавлением, как у книги</a:t>
            </a:r>
            <a:endParaRPr lang="en-US" sz="3600" dirty="0"/>
          </a:p>
        </p:txBody>
      </p:sp>
      <p:sp>
        <p:nvSpPr>
          <p:cNvPr id="4" name="Text 2"/>
          <p:cNvSpPr/>
          <p:nvPr/>
        </p:nvSpPr>
        <p:spPr>
          <a:xfrm>
            <a:off x="812800" y="191254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JetBrains Mono" pitchFamily="49" charset="0"/>
                <a:ea typeface="JetBrains Mono" pitchFamily="49" charset="-122"/>
                <a:cs typeface="JetBrains Mono" pitchFamily="49" charset="-120"/>
              </a:rPr>
              <a:t>Разделы и подразделы</a:t>
            </a:r>
            <a:endParaRPr lang="en-US" sz="1200" dirty="0"/>
          </a:p>
        </p:txBody>
      </p:sp>
      <p:pic>
        <p:nvPicPr>
          <p:cNvPr id="5" name="Image 0" descr="Оглавление лекции: два раздела с подразделами и таймкодами, текущий раздел выделен синим">    </p:cNvPr>
          <p:cNvPicPr>
            <a:picLocks noChangeAspect="1"/>
          </p:cNvPicPr>
          <p:nvPr/>
        </p:nvPicPr>
        <p:blipFill>
          <a:blip r:embed="rId1"/>
          <a:srcRect l="0" r="0" t="77" b="77"/>
          <a:stretch/>
        </p:blipFill>
        <p:spPr>
          <a:xfrm>
            <a:off x="825500" y="2214761"/>
            <a:ext cx="4419600" cy="3454400"/>
          </a:xfrm>
          <a:prstGeom prst="rect">
            <a:avLst/>
          </a:prstGeom>
        </p:spPr>
      </p:pic>
      <p:sp>
        <p:nvSpPr>
          <p:cNvPr id="6" name="Shape 3"/>
          <p:cNvSpPr/>
          <p:nvPr/>
        </p:nvSpPr>
        <p:spPr>
          <a:xfrm>
            <a:off x="819150" y="2208411"/>
            <a:ext cx="4432300" cy="3467100"/>
          </a:xfrm>
          <a:prstGeom prst="rect">
            <a:avLst/>
          </a:prstGeom>
          <a:noFill/>
          <a:ln w="12700">
            <a:solidFill>
              <a:srgbClr val="0F0F12"/>
            </a:solidFill>
            <a:prstDash val="solid"/>
          </a:ln>
        </p:spPr>
      </p:sp>
      <p:sp>
        <p:nvSpPr>
          <p:cNvPr id="7" name="Text 4"/>
          <p:cNvSpPr/>
          <p:nvPr/>
        </p:nvSpPr>
        <p:spPr>
          <a:xfrm>
            <a:off x="5511800" y="1912541"/>
            <a:ext cx="37804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JetBrains Mono" pitchFamily="49" charset="0"/>
                <a:ea typeface="JetBrains Mono" pitchFamily="49" charset="-122"/>
                <a:cs typeface="JetBrains Mono" pitchFamily="49" charset="-120"/>
              </a:rPr>
              <a:t>Конспект с формулами</a:t>
            </a:r>
            <a:endParaRPr lang="en-US" sz="1200" dirty="0"/>
          </a:p>
        </p:txBody>
      </p:sp>
      <p:pic>
        <p:nvPicPr>
          <p:cNvPr id="8" name="Image 1" descr="Конспект лекции: о чём лекция, главное, формула теоремы Пифагора">    </p:cNvPr>
          <p:cNvPicPr>
            <a:picLocks noChangeAspect="1"/>
          </p:cNvPicPr>
          <p:nvPr/>
        </p:nvPicPr>
        <p:blipFill>
          <a:blip r:embed="rId2"/>
          <a:srcRect l="45" r="45" t="0" b="0"/>
          <a:stretch/>
        </p:blipFill>
        <p:spPr>
          <a:xfrm>
            <a:off x="5524500" y="2214761"/>
            <a:ext cx="3644900" cy="3454400"/>
          </a:xfrm>
          <a:prstGeom prst="rect">
            <a:avLst/>
          </a:prstGeom>
        </p:spPr>
      </p:pic>
      <p:sp>
        <p:nvSpPr>
          <p:cNvPr id="9" name="Shape 5"/>
          <p:cNvSpPr/>
          <p:nvPr/>
        </p:nvSpPr>
        <p:spPr>
          <a:xfrm>
            <a:off x="5518150" y="2208411"/>
            <a:ext cx="3657600" cy="3467100"/>
          </a:xfrm>
          <a:prstGeom prst="rect">
            <a:avLst/>
          </a:prstGeom>
          <a:noFill/>
          <a:ln w="12700">
            <a:solidFill>
              <a:srgbClr val="0F0F12"/>
            </a:solidFill>
            <a:prstDash val="solid"/>
          </a:ln>
        </p:spPr>
      </p:sp>
      <p:sp>
        <p:nvSpPr>
          <p:cNvPr id="10" name="Shape 6"/>
          <p:cNvSpPr/>
          <p:nvPr/>
        </p:nvSpPr>
        <p:spPr>
          <a:xfrm>
            <a:off x="9436100" y="2223691"/>
            <a:ext cx="1943100" cy="0"/>
          </a:xfrm>
          <a:prstGeom prst="line">
            <a:avLst/>
          </a:prstGeom>
          <a:noFill/>
          <a:ln w="12700">
            <a:solidFill>
              <a:srgbClr val="0F0F12"/>
            </a:solidFill>
            <a:prstDash val="solid"/>
          </a:ln>
        </p:spPr>
      </p:sp>
      <p:sp>
        <p:nvSpPr>
          <p:cNvPr id="11" name="Text 7"/>
          <p:cNvSpPr/>
          <p:nvPr/>
        </p:nvSpPr>
        <p:spPr>
          <a:xfrm>
            <a:off x="9436100" y="2331641"/>
            <a:ext cx="20013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0F12"/>
                </a:solidFill>
                <a:latin typeface="Golos Text" pitchFamily="34" charset="0"/>
                <a:ea typeface="Golos Text" pitchFamily="34" charset="-122"/>
                <a:cs typeface="Golos Text" pitchFamily="34" charset="-120"/>
              </a:rPr>
              <a:t>Клик по разделу — переход в видео</a:t>
            </a:r>
            <a:endParaRPr lang="en-US" sz="1300" dirty="0"/>
          </a:p>
        </p:txBody>
      </p:sp>
      <p:sp>
        <p:nvSpPr>
          <p:cNvPr id="12" name="Shape 8"/>
          <p:cNvSpPr/>
          <p:nvPr/>
        </p:nvSpPr>
        <p:spPr>
          <a:xfrm>
            <a:off x="9436100" y="2952552"/>
            <a:ext cx="1943100" cy="0"/>
          </a:xfrm>
          <a:prstGeom prst="line">
            <a:avLst/>
          </a:prstGeom>
          <a:noFill/>
          <a:ln w="12700">
            <a:solidFill>
              <a:srgbClr val="0F0F12"/>
            </a:solidFill>
            <a:prstDash val="solid"/>
          </a:ln>
        </p:spPr>
      </p:sp>
      <p:sp>
        <p:nvSpPr>
          <p:cNvPr id="13" name="Text 9"/>
          <p:cNvSpPr/>
          <p:nvPr/>
        </p:nvSpPr>
        <p:spPr>
          <a:xfrm>
            <a:off x="9436100" y="3060502"/>
            <a:ext cx="20013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0F12"/>
                </a:solidFill>
                <a:latin typeface="Golos Text" pitchFamily="34" charset="0"/>
                <a:ea typeface="Golos Text" pitchFamily="34" charset="-122"/>
                <a:cs typeface="Golos Text" pitchFamily="34" charset="-120"/>
              </a:rPr>
              <a:t>Термины с моментом, где их объяснили</a:t>
            </a:r>
            <a:endParaRPr lang="en-US" sz="1300" dirty="0"/>
          </a:p>
        </p:txBody>
      </p:sp>
      <p:sp>
        <p:nvSpPr>
          <p:cNvPr id="14" name="Shape 10"/>
          <p:cNvSpPr/>
          <p:nvPr/>
        </p:nvSpPr>
        <p:spPr>
          <a:xfrm>
            <a:off x="9436100" y="3681413"/>
            <a:ext cx="1943100" cy="0"/>
          </a:xfrm>
          <a:prstGeom prst="line">
            <a:avLst/>
          </a:prstGeom>
          <a:noFill/>
          <a:ln w="12700">
            <a:solidFill>
              <a:srgbClr val="0F0F12"/>
            </a:solidFill>
            <a:prstDash val="solid"/>
          </a:ln>
        </p:spPr>
      </p:sp>
      <p:sp>
        <p:nvSpPr>
          <p:cNvPr id="15" name="Text 11"/>
          <p:cNvSpPr/>
          <p:nvPr/>
        </p:nvSpPr>
        <p:spPr>
          <a:xfrm>
            <a:off x="9436100" y="3789363"/>
            <a:ext cx="20013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0F12"/>
                </a:solidFill>
                <a:latin typeface="Golos Text" pitchFamily="34" charset="0"/>
                <a:ea typeface="Golos Text" pitchFamily="34" charset="-122"/>
                <a:cs typeface="Golos Text" pitchFamily="34" charset="-120"/>
              </a:rPr>
              <a:t>Глоссарий по всем лекциям</a:t>
            </a:r>
            <a:endParaRPr lang="en-US" sz="1300" dirty="0"/>
          </a:p>
        </p:txBody>
      </p:sp>
      <p:sp>
        <p:nvSpPr>
          <p:cNvPr id="16" name="Text 12"/>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7" name="Text 1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ПРИЛОЖЕНИЕ · ЧАТ</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Спросите лекцию — ответ со ссылкой</a:t>
            </a:r>
            <a:endParaRPr lang="en-US" sz="3600" dirty="0"/>
          </a:p>
        </p:txBody>
      </p:sp>
      <p:sp>
        <p:nvSpPr>
          <p:cNvPr id="4" name="Shape 2"/>
          <p:cNvSpPr/>
          <p:nvPr/>
        </p:nvSpPr>
        <p:spPr>
          <a:xfrm>
            <a:off x="812800" y="1918891"/>
            <a:ext cx="3829050" cy="0"/>
          </a:xfrm>
          <a:prstGeom prst="line">
            <a:avLst/>
          </a:prstGeom>
          <a:noFill/>
          <a:ln w="12700">
            <a:solidFill>
              <a:srgbClr val="0F0F12"/>
            </a:solidFill>
            <a:prstDash val="solid"/>
          </a:ln>
        </p:spPr>
      </p:sp>
      <p:sp>
        <p:nvSpPr>
          <p:cNvPr id="5" name="Text 3"/>
          <p:cNvSpPr/>
          <p:nvPr/>
        </p:nvSpPr>
        <p:spPr>
          <a:xfrm>
            <a:off x="812800" y="2052241"/>
            <a:ext cx="3943922"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Только по лекции</a:t>
            </a:r>
            <a:endParaRPr lang="en-US" sz="1800" dirty="0"/>
          </a:p>
        </p:txBody>
      </p:sp>
      <p:sp>
        <p:nvSpPr>
          <p:cNvPr id="6" name="Text 4"/>
          <p:cNvSpPr/>
          <p:nvPr/>
        </p:nvSpPr>
        <p:spPr>
          <a:xfrm>
            <a:off x="812800" y="2365871"/>
            <a:ext cx="394392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A50"/>
                </a:solidFill>
                <a:latin typeface="Golos Text" pitchFamily="34" charset="0"/>
                <a:ea typeface="Golos Text" pitchFamily="34" charset="-122"/>
                <a:cs typeface="Golos Text" pitchFamily="34" charset="-120"/>
              </a:rPr>
              <a:t>Сначала поиск, потом 6 найденных фрагментов идут модели. Ответ не берётся из воздуха.</a:t>
            </a:r>
            <a:endParaRPr lang="en-US" sz="1300" dirty="0"/>
          </a:p>
        </p:txBody>
      </p:sp>
      <p:sp>
        <p:nvSpPr>
          <p:cNvPr id="7" name="Shape 5"/>
          <p:cNvSpPr/>
          <p:nvPr/>
        </p:nvSpPr>
        <p:spPr>
          <a:xfrm>
            <a:off x="4946650" y="1918891"/>
            <a:ext cx="3829050" cy="0"/>
          </a:xfrm>
          <a:prstGeom prst="line">
            <a:avLst/>
          </a:prstGeom>
          <a:noFill/>
          <a:ln w="12700">
            <a:solidFill>
              <a:srgbClr val="0F0F12"/>
            </a:solidFill>
            <a:prstDash val="solid"/>
          </a:ln>
        </p:spPr>
      </p:sp>
      <p:sp>
        <p:nvSpPr>
          <p:cNvPr id="8" name="Text 6"/>
          <p:cNvSpPr/>
          <p:nvPr/>
        </p:nvSpPr>
        <p:spPr>
          <a:xfrm>
            <a:off x="4946650" y="2052241"/>
            <a:ext cx="3943922"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Источники</a:t>
            </a:r>
            <a:endParaRPr lang="en-US" sz="1800" dirty="0"/>
          </a:p>
        </p:txBody>
      </p:sp>
      <p:sp>
        <p:nvSpPr>
          <p:cNvPr id="9" name="Text 7"/>
          <p:cNvSpPr/>
          <p:nvPr/>
        </p:nvSpPr>
        <p:spPr>
          <a:xfrm>
            <a:off x="4946650" y="2365871"/>
            <a:ext cx="39439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A50"/>
                </a:solidFill>
                <a:latin typeface="Golos Text" pitchFamily="34" charset="0"/>
                <a:ea typeface="Golos Text" pitchFamily="34" charset="-122"/>
                <a:cs typeface="Golos Text" pitchFamily="34" charset="-120"/>
              </a:rPr>
              <a:t>Каждое утверждение со ссылкой [n]: таймкод, раздел, цитата. Клик — перемотка.</a:t>
            </a:r>
            <a:endParaRPr lang="en-US" sz="1300" dirty="0"/>
          </a:p>
        </p:txBody>
      </p:sp>
      <p:sp>
        <p:nvSpPr>
          <p:cNvPr id="10" name="Shape 8"/>
          <p:cNvSpPr/>
          <p:nvPr/>
        </p:nvSpPr>
        <p:spPr>
          <a:xfrm>
            <a:off x="812800" y="3268663"/>
            <a:ext cx="3829050" cy="0"/>
          </a:xfrm>
          <a:prstGeom prst="line">
            <a:avLst/>
          </a:prstGeom>
          <a:noFill/>
          <a:ln w="12700">
            <a:solidFill>
              <a:srgbClr val="0F0F12"/>
            </a:solidFill>
            <a:prstDash val="solid"/>
          </a:ln>
        </p:spPr>
      </p:sp>
      <p:sp>
        <p:nvSpPr>
          <p:cNvPr id="11" name="Text 9"/>
          <p:cNvSpPr/>
          <p:nvPr/>
        </p:nvSpPr>
        <p:spPr>
          <a:xfrm>
            <a:off x="812800" y="3402013"/>
            <a:ext cx="3943922"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Печатается сразу</a:t>
            </a:r>
            <a:endParaRPr lang="en-US" sz="1800" dirty="0"/>
          </a:p>
        </p:txBody>
      </p:sp>
      <p:sp>
        <p:nvSpPr>
          <p:cNvPr id="12" name="Text 10"/>
          <p:cNvSpPr/>
          <p:nvPr/>
        </p:nvSpPr>
        <p:spPr>
          <a:xfrm>
            <a:off x="812800" y="3715643"/>
            <a:ext cx="39439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A50"/>
                </a:solidFill>
                <a:latin typeface="Golos Text" pitchFamily="34" charset="0"/>
                <a:ea typeface="Golos Text" pitchFamily="34" charset="-122"/>
                <a:cs typeface="Golos Text" pitchFamily="34" charset="-120"/>
              </a:rPr>
              <a:t>Ответ приходит потоком, слово за словом, а не после паузы.</a:t>
            </a:r>
            <a:endParaRPr lang="en-US" sz="1300" dirty="0"/>
          </a:p>
        </p:txBody>
      </p:sp>
      <p:sp>
        <p:nvSpPr>
          <p:cNvPr id="13" name="Shape 11"/>
          <p:cNvSpPr/>
          <p:nvPr/>
        </p:nvSpPr>
        <p:spPr>
          <a:xfrm>
            <a:off x="4946650" y="3268663"/>
            <a:ext cx="3829050" cy="0"/>
          </a:xfrm>
          <a:prstGeom prst="line">
            <a:avLst/>
          </a:prstGeom>
          <a:noFill/>
          <a:ln w="12700">
            <a:solidFill>
              <a:srgbClr val="0F0F12"/>
            </a:solidFill>
            <a:prstDash val="solid"/>
          </a:ln>
        </p:spPr>
      </p:sp>
      <p:sp>
        <p:nvSpPr>
          <p:cNvPr id="14" name="Text 12"/>
          <p:cNvSpPr/>
          <p:nvPr/>
        </p:nvSpPr>
        <p:spPr>
          <a:xfrm>
            <a:off x="4946650" y="3402013"/>
            <a:ext cx="3943922"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F0F12"/>
                </a:solidFill>
                <a:latin typeface="Inter Tight" pitchFamily="34" charset="0"/>
                <a:ea typeface="Inter Tight" pitchFamily="34" charset="-122"/>
                <a:cs typeface="Inter Tight" pitchFamily="34" charset="-120"/>
              </a:rPr>
              <a:t>Свои подсказки</a:t>
            </a:r>
            <a:endParaRPr lang="en-US" sz="1800" dirty="0"/>
          </a:p>
        </p:txBody>
      </p:sp>
      <p:sp>
        <p:nvSpPr>
          <p:cNvPr id="15" name="Text 13"/>
          <p:cNvSpPr/>
          <p:nvPr/>
        </p:nvSpPr>
        <p:spPr>
          <a:xfrm>
            <a:off x="4946650" y="3715643"/>
            <a:ext cx="394392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A50"/>
                </a:solidFill>
                <a:latin typeface="Golos Text" pitchFamily="34" charset="0"/>
                <a:ea typeface="Golos Text" pitchFamily="34" charset="-122"/>
                <a:cs typeface="Golos Text" pitchFamily="34" charset="-120"/>
              </a:rPr>
              <a:t>У каждой лекции — свои вопросы-подсказки, составленные по её конспекту.</a:t>
            </a:r>
            <a:endParaRPr lang="en-US" sz="1300" dirty="0"/>
          </a:p>
        </p:txBody>
      </p:sp>
      <p:pic>
        <p:nvPicPr>
          <p:cNvPr id="16" name="Image 0" descr="Чат «Спросите лекцию»: вопрос, ответ модели со ссылкой [2] и источник на 4:22 с цитатой">    </p:cNvPr>
          <p:cNvPicPr>
            <a:picLocks noChangeAspect="1"/>
          </p:cNvPicPr>
          <p:nvPr/>
        </p:nvPicPr>
        <p:blipFill>
          <a:blip r:embed="rId1"/>
          <a:srcRect l="238" r="238" t="0" b="0"/>
          <a:stretch/>
        </p:blipFill>
        <p:spPr>
          <a:xfrm>
            <a:off x="9296400" y="1925241"/>
            <a:ext cx="2070100" cy="3784600"/>
          </a:xfrm>
          <a:prstGeom prst="rect">
            <a:avLst/>
          </a:prstGeom>
        </p:spPr>
      </p:pic>
      <p:sp>
        <p:nvSpPr>
          <p:cNvPr id="17" name="Shape 14"/>
          <p:cNvSpPr/>
          <p:nvPr/>
        </p:nvSpPr>
        <p:spPr>
          <a:xfrm>
            <a:off x="9290050" y="1918891"/>
            <a:ext cx="2082800" cy="3797300"/>
          </a:xfrm>
          <a:prstGeom prst="rect">
            <a:avLst/>
          </a:prstGeom>
          <a:noFill/>
          <a:ln w="12700">
            <a:solidFill>
              <a:srgbClr val="0F0F12"/>
            </a:solidFill>
            <a:prstDash val="solid"/>
          </a:ln>
        </p:spPr>
      </p:sp>
      <p:sp>
        <p:nvSpPr>
          <p:cNvPr id="18" name="Text 15"/>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9" name="Text 16"/>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ПРИЛОЖЕНИЕ · ТЕСТ</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Тест: проверить себя и найти пробелы</a:t>
            </a:r>
            <a:endParaRPr lang="en-US" sz="3600" dirty="0"/>
          </a:p>
        </p:txBody>
      </p:sp>
      <p:sp>
        <p:nvSpPr>
          <p:cNvPr id="4" name="Text 2"/>
          <p:cNvSpPr/>
          <p:nvPr/>
        </p:nvSpPr>
        <p:spPr>
          <a:xfrm>
            <a:off x="812800" y="1912541"/>
            <a:ext cx="3374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JetBrains Mono" pitchFamily="49" charset="0"/>
                <a:ea typeface="JetBrains Mono" pitchFamily="49" charset="-122"/>
                <a:cs typeface="JetBrains Mono" pitchFamily="49" charset="-120"/>
              </a:rPr>
              <a:t>Студент</a:t>
            </a:r>
            <a:endParaRPr lang="en-US" sz="1200" dirty="0"/>
          </a:p>
        </p:txBody>
      </p:sp>
      <p:pic>
        <p:nvPicPr>
          <p:cNvPr id="5" name="Image 0" descr="Тест глазами студента: результат 4 из 6, верные ответы отмечены, пояснение и ссылка «ответ на 0:36»">    </p:cNvPr>
          <p:cNvPicPr>
            <a:picLocks noChangeAspect="1"/>
          </p:cNvPicPr>
          <p:nvPr/>
        </p:nvPicPr>
        <p:blipFill>
          <a:blip r:embed="rId1"/>
          <a:srcRect l="18" r="18" t="0" b="0"/>
          <a:stretch/>
        </p:blipFill>
        <p:spPr>
          <a:xfrm>
            <a:off x="825500" y="2214761"/>
            <a:ext cx="3251200" cy="3460750"/>
          </a:xfrm>
          <a:prstGeom prst="rect">
            <a:avLst/>
          </a:prstGeom>
        </p:spPr>
      </p:pic>
      <p:sp>
        <p:nvSpPr>
          <p:cNvPr id="6" name="Shape 3"/>
          <p:cNvSpPr/>
          <p:nvPr/>
        </p:nvSpPr>
        <p:spPr>
          <a:xfrm>
            <a:off x="819150" y="2208411"/>
            <a:ext cx="3263900" cy="3473450"/>
          </a:xfrm>
          <a:prstGeom prst="rect">
            <a:avLst/>
          </a:prstGeom>
          <a:noFill/>
          <a:ln w="12700">
            <a:solidFill>
              <a:srgbClr val="0F0F12"/>
            </a:solidFill>
            <a:prstDash val="solid"/>
          </a:ln>
        </p:spPr>
      </p:sp>
      <p:sp>
        <p:nvSpPr>
          <p:cNvPr id="7" name="Text 4"/>
          <p:cNvSpPr/>
          <p:nvPr/>
        </p:nvSpPr>
        <p:spPr>
          <a:xfrm>
            <a:off x="4343400" y="1912541"/>
            <a:ext cx="31132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A50"/>
                </a:solidFill>
                <a:latin typeface="JetBrains Mono" pitchFamily="49" charset="0"/>
                <a:ea typeface="JetBrains Mono" pitchFamily="49" charset="-122"/>
                <a:cs typeface="JetBrains Mono" pitchFamily="49" charset="-120"/>
              </a:rPr>
              <a:t>Преподаватель</a:t>
            </a:r>
            <a:endParaRPr lang="en-US" sz="1200" dirty="0"/>
          </a:p>
        </p:txBody>
      </p:sp>
      <p:pic>
        <p:nvPicPr>
          <p:cNvPr id="8" name="Image 1" descr="Статистика преподавателя: просмотры, лайки, процент верных ответов и распределение ответов по каждому вопросу">    </p:cNvPr>
          <p:cNvPicPr>
            <a:picLocks noChangeAspect="1"/>
          </p:cNvPicPr>
          <p:nvPr/>
        </p:nvPicPr>
        <p:blipFill>
          <a:blip r:embed="rId2"/>
          <a:srcRect l="100" r="100" t="0" b="0"/>
          <a:stretch/>
        </p:blipFill>
        <p:spPr>
          <a:xfrm>
            <a:off x="4356100" y="2214761"/>
            <a:ext cx="2997200" cy="3460750"/>
          </a:xfrm>
          <a:prstGeom prst="rect">
            <a:avLst/>
          </a:prstGeom>
        </p:spPr>
      </p:pic>
      <p:sp>
        <p:nvSpPr>
          <p:cNvPr id="9" name="Shape 5"/>
          <p:cNvSpPr/>
          <p:nvPr/>
        </p:nvSpPr>
        <p:spPr>
          <a:xfrm>
            <a:off x="4349750" y="2208411"/>
            <a:ext cx="3009900" cy="3473450"/>
          </a:xfrm>
          <a:prstGeom prst="rect">
            <a:avLst/>
          </a:prstGeom>
          <a:noFill/>
          <a:ln w="12700">
            <a:solidFill>
              <a:srgbClr val="0F0F12"/>
            </a:solidFill>
            <a:prstDash val="solid"/>
          </a:ln>
        </p:spPr>
      </p:sp>
      <p:sp>
        <p:nvSpPr>
          <p:cNvPr id="10" name="Shape 6"/>
          <p:cNvSpPr/>
          <p:nvPr/>
        </p:nvSpPr>
        <p:spPr>
          <a:xfrm>
            <a:off x="7620000" y="2223691"/>
            <a:ext cx="3759200" cy="0"/>
          </a:xfrm>
          <a:prstGeom prst="line">
            <a:avLst/>
          </a:prstGeom>
          <a:noFill/>
          <a:ln w="12700">
            <a:solidFill>
              <a:srgbClr val="0F0F12"/>
            </a:solidFill>
            <a:prstDash val="solid"/>
          </a:ln>
        </p:spPr>
      </p:sp>
      <p:sp>
        <p:nvSpPr>
          <p:cNvPr id="11" name="Text 7"/>
          <p:cNvSpPr/>
          <p:nvPr/>
        </p:nvSpPr>
        <p:spPr>
          <a:xfrm>
            <a:off x="7620000" y="2331641"/>
            <a:ext cx="3871976"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0F12"/>
                </a:solidFill>
                <a:latin typeface="Golos Text" pitchFamily="34" charset="0"/>
                <a:ea typeface="Golos Text" pitchFamily="34" charset="-122"/>
                <a:cs typeface="Golos Text" pitchFamily="34" charset="-120"/>
              </a:rPr>
              <a:t>Модель составляет 6 вопросов по расшифровке; преподаватель запускает один раз — тест общий для всех</a:t>
            </a:r>
            <a:endParaRPr lang="en-US" sz="1300" dirty="0"/>
          </a:p>
        </p:txBody>
      </p:sp>
      <p:sp>
        <p:nvSpPr>
          <p:cNvPr id="12" name="Shape 8"/>
          <p:cNvSpPr/>
          <p:nvPr/>
        </p:nvSpPr>
        <p:spPr>
          <a:xfrm>
            <a:off x="7620000" y="3183632"/>
            <a:ext cx="3759200" cy="0"/>
          </a:xfrm>
          <a:prstGeom prst="line">
            <a:avLst/>
          </a:prstGeom>
          <a:noFill/>
          <a:ln w="12700">
            <a:solidFill>
              <a:srgbClr val="0F0F12"/>
            </a:solidFill>
            <a:prstDash val="solid"/>
          </a:ln>
        </p:spPr>
      </p:sp>
      <p:sp>
        <p:nvSpPr>
          <p:cNvPr id="13" name="Text 9"/>
          <p:cNvSpPr/>
          <p:nvPr/>
        </p:nvSpPr>
        <p:spPr>
          <a:xfrm>
            <a:off x="7620000" y="3291582"/>
            <a:ext cx="38719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0F12"/>
                </a:solidFill>
                <a:latin typeface="Golos Text" pitchFamily="34" charset="0"/>
                <a:ea typeface="Golos Text" pitchFamily="34" charset="-122"/>
                <a:cs typeface="Golos Text" pitchFamily="34" charset="-120"/>
              </a:rPr>
              <a:t>После ответа — пояснение и «ответ на 1:10» в видео</a:t>
            </a:r>
            <a:endParaRPr lang="en-US" sz="1300" dirty="0"/>
          </a:p>
        </p:txBody>
      </p:sp>
      <p:sp>
        <p:nvSpPr>
          <p:cNvPr id="14" name="Shape 10"/>
          <p:cNvSpPr/>
          <p:nvPr/>
        </p:nvSpPr>
        <p:spPr>
          <a:xfrm>
            <a:off x="7620000" y="3912493"/>
            <a:ext cx="3759200" cy="0"/>
          </a:xfrm>
          <a:prstGeom prst="line">
            <a:avLst/>
          </a:prstGeom>
          <a:noFill/>
          <a:ln w="12700">
            <a:solidFill>
              <a:srgbClr val="0F0F12"/>
            </a:solidFill>
            <a:prstDash val="solid"/>
          </a:ln>
        </p:spPr>
      </p:sp>
      <p:sp>
        <p:nvSpPr>
          <p:cNvPr id="15" name="Text 11"/>
          <p:cNvSpPr/>
          <p:nvPr/>
        </p:nvSpPr>
        <p:spPr>
          <a:xfrm>
            <a:off x="7620000" y="4020443"/>
            <a:ext cx="38719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0F12"/>
                </a:solidFill>
                <a:latin typeface="Golos Text" pitchFamily="34" charset="0"/>
                <a:ea typeface="Golos Text" pitchFamily="34" charset="-122"/>
                <a:cs typeface="Golos Text" pitchFamily="34" charset="-120"/>
              </a:rPr>
              <a:t>Преподаватель видит, какой вариант выбрали в каждом вопросе</a:t>
            </a:r>
            <a:endParaRPr lang="en-US" sz="1300" dirty="0"/>
          </a:p>
        </p:txBody>
      </p:sp>
      <p:sp>
        <p:nvSpPr>
          <p:cNvPr id="16" name="Text 12"/>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7" name="Text 1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1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2B2BFF"/>
                </a:solidFill>
                <a:latin typeface="JetBrains Mono" pitchFamily="49" charset="0"/>
                <a:ea typeface="JetBrains Mono" pitchFamily="49" charset="-122"/>
                <a:cs typeface="JetBrains Mono" pitchFamily="49" charset="-120"/>
              </a:rPr>
              <a:t>ПРИЛОЖЕНИЕ · ЛИЧНЫЙ КАБИНЕТ</a:t>
            </a:r>
            <a:endParaRPr lang="en-US" sz="1200" dirty="0"/>
          </a:p>
        </p:txBody>
      </p:sp>
      <p:sp>
        <p:nvSpPr>
          <p:cNvPr id="3" name="Text 1"/>
          <p:cNvSpPr/>
          <p:nvPr>
            <p:ph type="title"/>
          </p:nvPr>
        </p:nvSpPr>
        <p:spPr>
          <a:xfrm>
            <a:off x="812800" y="1178520"/>
            <a:ext cx="10883392" cy="505420"/>
          </a:xfrm>
          <a:prstGeom prst="rect">
            <a:avLst/>
          </a:prstGeom>
          <a:noFill/>
          <a:ln/>
        </p:spPr>
        <p:txBody>
          <a:bodyPr wrap="square" lIns="0" tIns="0" rIns="0" bIns="0" rtlCol="0" anchor="t">
            <a:normAutofit/>
          </a:bodyPr>
          <a:lstStyle/>
          <a:p>
            <a:pPr algn="l" indent="0" marL="0">
              <a:lnSpc>
                <a:spcPts val="3780"/>
              </a:lnSpc>
              <a:buNone/>
            </a:pPr>
            <a:r>
              <a:rPr lang="en-US" sz="3600" b="1" i="0" spc="-150" kern="0" dirty="0">
                <a:solidFill>
                  <a:srgbClr val="0F0F12"/>
                </a:solidFill>
                <a:latin typeface="Inter Tight" pitchFamily="34" charset="0"/>
                <a:ea typeface="Inter Tight" pitchFamily="34" charset="-122"/>
                <a:cs typeface="Inter Tight" pitchFamily="34" charset="-120"/>
              </a:rPr>
              <a:t>Учёба, которая помнит прогресс</a:t>
            </a:r>
            <a:endParaRPr lang="en-US" sz="3600" dirty="0"/>
          </a:p>
        </p:txBody>
      </p:sp>
      <p:pic>
        <p:nvPicPr>
          <p:cNvPr id="4" name="Image 0" descr="Страница «Рейтинг»: уровень и очки студента, полученные и закрытые достижения с прогрессом">    </p:cNvPr>
          <p:cNvPicPr>
            <a:picLocks noChangeAspect="1"/>
          </p:cNvPicPr>
          <p:nvPr/>
        </p:nvPicPr>
        <p:blipFill>
          <a:blip r:embed="rId1"/>
          <a:srcRect l="0" r="0" t="126" b="126"/>
          <a:stretch/>
        </p:blipFill>
        <p:spPr>
          <a:xfrm>
            <a:off x="825500" y="1925241"/>
            <a:ext cx="6070600" cy="3784600"/>
          </a:xfrm>
          <a:prstGeom prst="rect">
            <a:avLst/>
          </a:prstGeom>
        </p:spPr>
      </p:pic>
      <p:sp>
        <p:nvSpPr>
          <p:cNvPr id="5" name="Shape 2"/>
          <p:cNvSpPr/>
          <p:nvPr/>
        </p:nvSpPr>
        <p:spPr>
          <a:xfrm>
            <a:off x="819150" y="1918891"/>
            <a:ext cx="6083300" cy="3797300"/>
          </a:xfrm>
          <a:prstGeom prst="rect">
            <a:avLst/>
          </a:prstGeom>
          <a:noFill/>
          <a:ln w="12700">
            <a:solidFill>
              <a:srgbClr val="0F0F12"/>
            </a:solidFill>
            <a:prstDash val="solid"/>
          </a:ln>
        </p:spPr>
      </p:sp>
      <p:sp>
        <p:nvSpPr>
          <p:cNvPr id="6" name="Shape 3"/>
          <p:cNvSpPr/>
          <p:nvPr/>
        </p:nvSpPr>
        <p:spPr>
          <a:xfrm>
            <a:off x="7264400" y="1918891"/>
            <a:ext cx="4114800" cy="0"/>
          </a:xfrm>
          <a:prstGeom prst="line">
            <a:avLst/>
          </a:prstGeom>
          <a:noFill/>
          <a:ln w="12700">
            <a:solidFill>
              <a:srgbClr val="0F0F12"/>
            </a:solidFill>
            <a:prstDash val="solid"/>
          </a:ln>
        </p:spPr>
      </p:sp>
      <p:sp>
        <p:nvSpPr>
          <p:cNvPr id="7" name="Text 4"/>
          <p:cNvSpPr/>
          <p:nvPr/>
        </p:nvSpPr>
        <p:spPr>
          <a:xfrm>
            <a:off x="7264400" y="2014141"/>
            <a:ext cx="423824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Роли</a:t>
            </a:r>
            <a:r>
              <a:rPr lang="en-US" sz="1400" dirty="0">
                <a:solidFill>
                  <a:srgbClr val="0F0F12"/>
                </a:solidFill>
                <a:latin typeface="Golos Text" pitchFamily="34" charset="0"/>
                <a:ea typeface="Golos Text" pitchFamily="34" charset="-122"/>
                <a:cs typeface="Golos Text" pitchFamily="34" charset="-120"/>
              </a:rPr>
              <a:t> — студент и преподаватель</a:t>
            </a:r>
            <a:endParaRPr lang="en-US" sz="1400" dirty="0"/>
          </a:p>
        </p:txBody>
      </p:sp>
      <p:sp>
        <p:nvSpPr>
          <p:cNvPr id="8" name="Shape 5"/>
          <p:cNvSpPr/>
          <p:nvPr/>
        </p:nvSpPr>
        <p:spPr>
          <a:xfrm>
            <a:off x="7264400" y="2349401"/>
            <a:ext cx="4114800" cy="0"/>
          </a:xfrm>
          <a:prstGeom prst="line">
            <a:avLst/>
          </a:prstGeom>
          <a:noFill/>
          <a:ln w="12700">
            <a:solidFill>
              <a:srgbClr val="0F0F12"/>
            </a:solidFill>
            <a:prstDash val="solid"/>
          </a:ln>
        </p:spPr>
      </p:sp>
      <p:sp>
        <p:nvSpPr>
          <p:cNvPr id="9" name="Text 6"/>
          <p:cNvSpPr/>
          <p:nvPr/>
        </p:nvSpPr>
        <p:spPr>
          <a:xfrm>
            <a:off x="7264400" y="2444651"/>
            <a:ext cx="423824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Курсы</a:t>
            </a:r>
            <a:r>
              <a:rPr lang="en-US" sz="1400" dirty="0">
                <a:solidFill>
                  <a:srgbClr val="0F0F12"/>
                </a:solidFill>
                <a:latin typeface="Golos Text" pitchFamily="34" charset="0"/>
                <a:ea typeface="Golos Text" pitchFamily="34" charset="-122"/>
                <a:cs typeface="Golos Text" pitchFamily="34" charset="-120"/>
              </a:rPr>
              <a:t>, запись, «продолжить просмотр»</a:t>
            </a:r>
            <a:endParaRPr lang="en-US" sz="1400" dirty="0"/>
          </a:p>
        </p:txBody>
      </p:sp>
      <p:sp>
        <p:nvSpPr>
          <p:cNvPr id="10" name="Shape 7"/>
          <p:cNvSpPr/>
          <p:nvPr/>
        </p:nvSpPr>
        <p:spPr>
          <a:xfrm>
            <a:off x="7264400" y="2779911"/>
            <a:ext cx="4114800" cy="0"/>
          </a:xfrm>
          <a:prstGeom prst="line">
            <a:avLst/>
          </a:prstGeom>
          <a:noFill/>
          <a:ln w="12700">
            <a:solidFill>
              <a:srgbClr val="0F0F12"/>
            </a:solidFill>
            <a:prstDash val="solid"/>
          </a:ln>
        </p:spPr>
      </p:sp>
      <p:sp>
        <p:nvSpPr>
          <p:cNvPr id="11" name="Text 8"/>
          <p:cNvSpPr/>
          <p:nvPr/>
        </p:nvSpPr>
        <p:spPr>
          <a:xfrm>
            <a:off x="7264400" y="2875161"/>
            <a:ext cx="423824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Заметки</a:t>
            </a:r>
            <a:r>
              <a:rPr lang="en-US" sz="1400" dirty="0">
                <a:solidFill>
                  <a:srgbClr val="0F0F12"/>
                </a:solidFill>
                <a:latin typeface="Golos Text" pitchFamily="34" charset="0"/>
                <a:ea typeface="Golos Text" pitchFamily="34" charset="-122"/>
                <a:cs typeface="Golos Text" pitchFamily="34" charset="-120"/>
              </a:rPr>
              <a:t> на таймкодах и избранное</a:t>
            </a:r>
            <a:endParaRPr lang="en-US" sz="1400" dirty="0"/>
          </a:p>
        </p:txBody>
      </p:sp>
      <p:sp>
        <p:nvSpPr>
          <p:cNvPr id="12" name="Shape 9"/>
          <p:cNvSpPr/>
          <p:nvPr/>
        </p:nvSpPr>
        <p:spPr>
          <a:xfrm>
            <a:off x="7264400" y="3210421"/>
            <a:ext cx="4114800" cy="0"/>
          </a:xfrm>
          <a:prstGeom prst="line">
            <a:avLst/>
          </a:prstGeom>
          <a:noFill/>
          <a:ln w="12700">
            <a:solidFill>
              <a:srgbClr val="0F0F12"/>
            </a:solidFill>
            <a:prstDash val="solid"/>
          </a:ln>
        </p:spPr>
      </p:sp>
      <p:sp>
        <p:nvSpPr>
          <p:cNvPr id="13" name="Text 10"/>
          <p:cNvSpPr/>
          <p:nvPr/>
        </p:nvSpPr>
        <p:spPr>
          <a:xfrm>
            <a:off x="7264400" y="3305671"/>
            <a:ext cx="423824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Обсуждение</a:t>
            </a:r>
            <a:r>
              <a:rPr lang="en-US" sz="1400" dirty="0">
                <a:solidFill>
                  <a:srgbClr val="0F0F12"/>
                </a:solidFill>
                <a:latin typeface="Golos Text" pitchFamily="34" charset="0"/>
                <a:ea typeface="Golos Text" pitchFamily="34" charset="-122"/>
                <a:cs typeface="Golos Text" pitchFamily="34" charset="-120"/>
              </a:rPr>
              <a:t> с привязкой к моменту</a:t>
            </a:r>
            <a:endParaRPr lang="en-US" sz="1400" dirty="0"/>
          </a:p>
        </p:txBody>
      </p:sp>
      <p:sp>
        <p:nvSpPr>
          <p:cNvPr id="14" name="Shape 11"/>
          <p:cNvSpPr/>
          <p:nvPr/>
        </p:nvSpPr>
        <p:spPr>
          <a:xfrm>
            <a:off x="7264400" y="3640931"/>
            <a:ext cx="4114800" cy="0"/>
          </a:xfrm>
          <a:prstGeom prst="line">
            <a:avLst/>
          </a:prstGeom>
          <a:noFill/>
          <a:ln w="12700">
            <a:solidFill>
              <a:srgbClr val="0F0F12"/>
            </a:solidFill>
            <a:prstDash val="solid"/>
          </a:ln>
        </p:spPr>
      </p:sp>
      <p:sp>
        <p:nvSpPr>
          <p:cNvPr id="15" name="Text 12"/>
          <p:cNvSpPr/>
          <p:nvPr/>
        </p:nvSpPr>
        <p:spPr>
          <a:xfrm>
            <a:off x="7264400" y="3736181"/>
            <a:ext cx="423824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0F12"/>
                </a:solidFill>
                <a:latin typeface="Golos Text" pitchFamily="34" charset="0"/>
                <a:ea typeface="Golos Text" pitchFamily="34" charset="-122"/>
                <a:cs typeface="Golos Text" pitchFamily="34" charset="-120"/>
              </a:rPr>
              <a:t>Уровни, 11 достижений</a:t>
            </a:r>
            <a:r>
              <a:rPr lang="en-US" sz="1400" dirty="0">
                <a:solidFill>
                  <a:srgbClr val="0F0F12"/>
                </a:solidFill>
                <a:latin typeface="Golos Text" pitchFamily="34" charset="0"/>
                <a:ea typeface="Golos Text" pitchFamily="34" charset="-122"/>
                <a:cs typeface="Golos Text" pitchFamily="34" charset="-120"/>
              </a:rPr>
              <a:t> и рейтинг</a:t>
            </a:r>
            <a:endParaRPr lang="en-US" sz="1400" dirty="0"/>
          </a:p>
        </p:txBody>
      </p:sp>
      <p:sp>
        <p:nvSpPr>
          <p:cNvPr id="16" name="Text 13"/>
          <p:cNvSpPr/>
          <p:nvPr/>
        </p:nvSpPr>
        <p:spPr>
          <a:xfrm>
            <a:off x="812800" y="6238280"/>
            <a:ext cx="299930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70"/>
                </a:solidFill>
                <a:latin typeface="JetBrains Mono" pitchFamily="49" charset="0"/>
                <a:ea typeface="JetBrains Mono" pitchFamily="49" charset="-122"/>
                <a:cs typeface="JetBrains Mono" pitchFamily="49" charset="-120"/>
              </a:rPr>
              <a:t>LECTIO · КИБЕРРЫВОК 2026</a:t>
            </a:r>
            <a:endParaRPr lang="en-US" sz="1200" dirty="0"/>
          </a:p>
        </p:txBody>
      </p:sp>
      <p:sp>
        <p:nvSpPr>
          <p:cNvPr id="17" name="Text 14"/>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70"/>
                </a:solidFill>
                <a:latin typeface="JetBrains Mono" pitchFamily="49" charset="0"/>
                <a:ea typeface="JetBrains Mono" pitchFamily="49" charset="-122"/>
                <a:cs typeface="JetBrains Mono" pitchFamily="49" charset="-120"/>
              </a:rPr>
              <a:t>17</a:t>
            </a:r>
            <a:endParaRPr lang="en-US" sz="1200" dirty="0"/>
          </a:p>
        </p:txBody>
      </p:sp>
    </p:spTree>
  </p:cSld>
  <p:clrMapOvr>
    <a:masterClrMapping/>
  </p:clrMapOvr>
</p:sld>
</file>

<file path=ppt/theme/theme1.xml><?xml version="1.0" encoding="utf-8"?>
<a:theme xmlns:a="http://schemas.openxmlformats.org/drawingml/2006/main" name="Lectio — смысловой поиск по видеолекциям">
  <a:themeElements>
    <a:clrScheme name="Lectio — смысловой поиск по видеолекциям">
      <a:dk1>
        <a:srgbClr val="0F0F12"/>
      </a:dk1>
      <a:lt1>
        <a:srgbClr val="FAFAF7"/>
      </a:lt1>
      <a:dk2>
        <a:srgbClr val="4A4A4B"/>
      </a:dk2>
      <a:lt2>
        <a:srgbClr val="E3E3E0"/>
      </a:lt2>
      <a:accent1>
        <a:srgbClr val="2B2BFF"/>
      </a:accent1>
      <a:accent2>
        <a:srgbClr val="9D9DFF"/>
      </a:accent2>
      <a:accent3>
        <a:srgbClr val="4A4A50"/>
      </a:accent3>
      <a:accent4>
        <a:srgbClr val="6B6B70"/>
      </a:accent4>
      <a:accent5>
        <a:srgbClr val="C9C9D1"/>
      </a:accent5>
      <a:accent6>
        <a:srgbClr val="9A9AA3"/>
      </a:accent6>
      <a:hlink>
        <a:srgbClr val="0563C1"/>
      </a:hlink>
      <a:folHlink>
        <a:srgbClr val="954F72"/>
      </a:folHlink>
    </a:clrScheme>
    <a:fontScheme name="Lectio — смысловой поиск по видеолекциям">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olos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Lectio — смысловой поиск по видеолекциям</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Golos Text
Copyright 2019 The Golos Text Project Authors (https://github.com/googlefonts/golos-text)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Inter Tight
Copyright 2022 The Inter Project Authors (https://github.com/rsms/inter-tight)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2026-10-28T09:29:29Z</dcterms:created>
  <dcterms:modified xsi:type="dcterms:W3CDTF">2026-10-28T09:29:29Z</dcterms:modified>
</cp:coreProperties>
</file>